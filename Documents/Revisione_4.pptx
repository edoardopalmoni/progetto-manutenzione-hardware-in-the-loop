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320" r:id="rId4"/>
    <p:sldId id="323" r:id="rId5"/>
    <p:sldId id="324" r:id="rId6"/>
    <p:sldId id="326" r:id="rId7"/>
    <p:sldId id="330" r:id="rId8"/>
    <p:sldId id="327" r:id="rId9"/>
    <p:sldId id="334" r:id="rId10"/>
    <p:sldId id="328" r:id="rId11"/>
    <p:sldId id="317" r:id="rId12"/>
    <p:sldId id="265" r:id="rId13"/>
    <p:sldId id="268" r:id="rId14"/>
    <p:sldId id="269" r:id="rId15"/>
    <p:sldId id="271" r:id="rId16"/>
    <p:sldId id="272" r:id="rId17"/>
    <p:sldId id="331" r:id="rId18"/>
    <p:sldId id="335" r:id="rId19"/>
    <p:sldId id="337" r:id="rId20"/>
    <p:sldId id="336" r:id="rId21"/>
    <p:sldId id="332" r:id="rId22"/>
    <p:sldId id="338" r:id="rId23"/>
    <p:sldId id="339" r:id="rId24"/>
    <p:sldId id="345" r:id="rId25"/>
    <p:sldId id="346" r:id="rId26"/>
    <p:sldId id="347" r:id="rId27"/>
    <p:sldId id="348" r:id="rId28"/>
    <p:sldId id="333" r:id="rId29"/>
    <p:sldId id="340" r:id="rId30"/>
    <p:sldId id="342" r:id="rId31"/>
    <p:sldId id="343" r:id="rId32"/>
    <p:sldId id="341" r:id="rId33"/>
    <p:sldId id="344" r:id="rId34"/>
  </p:sldIdLst>
  <p:sldSz cx="24384000" cy="13716000"/>
  <p:notesSz cx="6858000" cy="9144000"/>
  <p:defaultTextStyle>
    <a:defPPr>
      <a:defRPr lang="it-IT"/>
    </a:defPPr>
    <a:lvl1pPr algn="l" defTabSz="2438400" rtl="0" eaLnBrk="0" fontAlgn="base" hangingPunct="0">
      <a:spcBef>
        <a:spcPct val="0"/>
      </a:spcBef>
      <a:spcAft>
        <a:spcPct val="0"/>
      </a:spcAft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1pPr>
    <a:lvl2pPr indent="457200" algn="l" defTabSz="2438400" rtl="0" eaLnBrk="0" fontAlgn="base" hangingPunct="0">
      <a:spcBef>
        <a:spcPct val="0"/>
      </a:spcBef>
      <a:spcAft>
        <a:spcPct val="0"/>
      </a:spcAft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2pPr>
    <a:lvl3pPr indent="914400" algn="l" defTabSz="2438400" rtl="0" eaLnBrk="0" fontAlgn="base" hangingPunct="0">
      <a:spcBef>
        <a:spcPct val="0"/>
      </a:spcBef>
      <a:spcAft>
        <a:spcPct val="0"/>
      </a:spcAft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3pPr>
    <a:lvl4pPr indent="1371600" algn="l" defTabSz="2438400" rtl="0" eaLnBrk="0" fontAlgn="base" hangingPunct="0">
      <a:spcBef>
        <a:spcPct val="0"/>
      </a:spcBef>
      <a:spcAft>
        <a:spcPct val="0"/>
      </a:spcAft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4pPr>
    <a:lvl5pPr indent="1828800" algn="l" defTabSz="2438400" rtl="0" eaLnBrk="0" fontAlgn="base" hangingPunct="0">
      <a:spcBef>
        <a:spcPct val="0"/>
      </a:spcBef>
      <a:spcAft>
        <a:spcPct val="0"/>
      </a:spcAft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5pPr>
    <a:lvl6pPr marL="2286000" algn="l" defTabSz="914400" rtl="0" eaLnBrk="1" latinLnBrk="0" hangingPunct="1"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6pPr>
    <a:lvl7pPr marL="2743200" algn="l" defTabSz="914400" rtl="0" eaLnBrk="1" latinLnBrk="0" hangingPunct="1"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7pPr>
    <a:lvl8pPr marL="3200400" algn="l" defTabSz="914400" rtl="0" eaLnBrk="1" latinLnBrk="0" hangingPunct="1"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8pPr>
    <a:lvl9pPr marL="3657600" algn="l" defTabSz="914400" rtl="0" eaLnBrk="1" latinLnBrk="0" hangingPunct="1"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87CCB8-B39B-EF21-2A44-033B73314D84}" v="229" dt="2026-07-01T14:56:10.104"/>
    <p1510:client id="{8FD1B0E1-C9DE-44BE-9193-2279872D0216}" v="985" dt="2026-07-01T15:48:05.256"/>
    <p1510:client id="{9D607AAE-8F9F-ADF3-934A-2EC2034AAA9D}" v="947" dt="2026-07-01T15:35:30.83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00A1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A9A9A9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13B100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52055"/>
              <a:lumOff val="-12548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A9A9A9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646464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88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hape 168">
            <a:extLst>
              <a:ext uri="{FF2B5EF4-FFF2-40B4-BE49-F238E27FC236}">
                <a16:creationId xmlns:a16="http://schemas.microsoft.com/office/drawing/2014/main" id="{68633659-EF4B-C6ED-76C7-650CCF25688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099" name="Shape 169">
            <a:extLst>
              <a:ext uri="{FF2B5EF4-FFF2-40B4-BE49-F238E27FC236}">
                <a16:creationId xmlns:a16="http://schemas.microsoft.com/office/drawing/2014/main" id="{D272A0BB-0CFB-1043-6B7F-EBCC24E74D66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it-IT" altLang="it-IT">
              <a:sym typeface="Helvetica Neue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Helvetica Neue"/>
        <a:ea typeface="Helvetica Neue"/>
        <a:cs typeface="Helvetica Neue"/>
        <a:sym typeface="Helvetica Neue"/>
      </a:defRPr>
    </a:lvl1pPr>
    <a:lvl2pPr marL="742950" indent="-285750"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Helvetica Neue"/>
        <a:ea typeface="Helvetica Neue"/>
        <a:cs typeface="Helvetica Neue"/>
        <a:sym typeface="Helvetica Neue"/>
      </a:defRPr>
    </a:lvl2pPr>
    <a:lvl3pPr marL="1143000" indent="-228600"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Helvetica Neue"/>
        <a:ea typeface="Helvetica Neue"/>
        <a:cs typeface="Helvetica Neue"/>
        <a:sym typeface="Helvetica Neue"/>
      </a:defRPr>
    </a:lvl3pPr>
    <a:lvl4pPr marL="1600200" indent="-228600"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Helvetica Neue"/>
        <a:ea typeface="Helvetica Neue"/>
        <a:cs typeface="Helvetica Neue"/>
        <a:sym typeface="Helvetica Neue"/>
      </a:defRPr>
    </a:lvl4pPr>
    <a:lvl5pPr marL="2057400" indent="-228600"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olo presentazione"/>
          <p:cNvSpPr txBox="1">
            <a:spLocks noGrp="1"/>
          </p:cNvSpPr>
          <p:nvPr>
            <p:ph type="title"/>
          </p:nvPr>
        </p:nvSpPr>
        <p:spPr>
          <a:xfrm>
            <a:off x="1270000" y="3289300"/>
            <a:ext cx="21844000" cy="3879454"/>
          </a:xfrm>
          <a:prstGeom prst="rect">
            <a:avLst/>
          </a:prstGeom>
        </p:spPr>
        <p:txBody>
          <a:bodyPr/>
          <a:lstStyle>
            <a:lvl1pPr defTabSz="2438338">
              <a:lnSpc>
                <a:spcPct val="90000"/>
              </a:lnSpc>
              <a:defRPr sz="11600" spc="-348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Autore e data"/>
          <p:cNvSpPr txBox="1">
            <a:spLocks noGrp="1"/>
          </p:cNvSpPr>
          <p:nvPr>
            <p:ph type="body" sz="quarter" idx="21"/>
          </p:nvPr>
        </p:nvSpPr>
        <p:spPr>
          <a:xfrm>
            <a:off x="1270000" y="12160429"/>
            <a:ext cx="21844000" cy="694056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343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6985000"/>
            <a:ext cx="21844000" cy="2512352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CFC5A911-AC6A-3A26-B8D9-7B2D7BA00CA4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CD96BA-1FE5-4502-8379-811A4F948027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811857892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ue meduse che si toccano su sfondo di colore blu scuro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Graphik"/>
            </a:endParaRPr>
          </a:p>
        </p:txBody>
      </p:sp>
      <p:sp>
        <p:nvSpPr>
          <p:cNvPr id="22" name="Autore e data"/>
          <p:cNvSpPr txBox="1">
            <a:spLocks noGrp="1"/>
          </p:cNvSpPr>
          <p:nvPr>
            <p:ph type="body" sz="quarter" idx="22"/>
          </p:nvPr>
        </p:nvSpPr>
        <p:spPr>
          <a:xfrm>
            <a:off x="1270000" y="12166600"/>
            <a:ext cx="21844000" cy="694055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343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itolo presentazione"/>
          <p:cNvSpPr txBox="1">
            <a:spLocks noGrp="1"/>
          </p:cNvSpPr>
          <p:nvPr>
            <p:ph type="title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 defTabSz="2438400">
              <a:lnSpc>
                <a:spcPct val="90000"/>
              </a:lnSpc>
              <a:defRPr sz="11600" spc="-348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6985000"/>
            <a:ext cx="21844000" cy="25146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B42B5EAA-82DD-9219-9506-126A6A683B9C}"/>
              </a:ext>
            </a:extLst>
          </p:cNvPr>
          <p:cNvSpPr txBox="1">
            <a:spLocks noGrp="1" noChangeArrowheads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269B02C-B6F4-41EA-BA63-98BF035CD5C1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5948375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Due meduse su sfondo di colore blu"/>
          <p:cNvSpPr>
            <a:spLocks noGrp="1"/>
          </p:cNvSpPr>
          <p:nvPr>
            <p:ph type="pic" idx="21"/>
          </p:nvPr>
        </p:nvSpPr>
        <p:spPr>
          <a:xfrm>
            <a:off x="7962900" y="-25400"/>
            <a:ext cx="20650200" cy="13766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Graphik"/>
            </a:endParaRPr>
          </a:p>
        </p:txBody>
      </p:sp>
      <p:sp>
        <p:nvSpPr>
          <p:cNvPr id="33" name="Titolo"/>
          <p:cNvSpPr txBox="1">
            <a:spLocks noGrp="1"/>
          </p:cNvSpPr>
          <p:nvPr>
            <p:ph type="title"/>
          </p:nvPr>
        </p:nvSpPr>
        <p:spPr>
          <a:xfrm>
            <a:off x="1270000" y="3885108"/>
            <a:ext cx="9652000" cy="3200203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6845300"/>
            <a:ext cx="9652000" cy="56642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4572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9144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13716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18288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E50F6BC-E47A-9ACC-DC45-D2157D75074B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4BADC7-9F01-4213-AF30-A0AC35667C78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71479225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d 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o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" name="Sottotitolo diapositiva"/>
          <p:cNvSpPr txBox="1">
            <a:spLocks noGrp="1"/>
          </p:cNvSpPr>
          <p:nvPr>
            <p:ph type="body" sz="quarter" idx="2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08F2E921-5F4D-FBF0-AD69-4CC87378C33D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415FBE-2E0D-4148-9799-767C746224C7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963549192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/>
          </p:nvPr>
        </p:nvSpPr>
        <p:spPr>
          <a:xfrm>
            <a:off x="1270000" y="4269316"/>
            <a:ext cx="21844000" cy="8432801"/>
          </a:xfrm>
          <a:prstGeom prst="rect">
            <a:avLst/>
          </a:prstGeom>
        </p:spPr>
        <p:txBody>
          <a:bodyPr numCol="2" spcCol="1092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CD7853AF-6EC9-3870-2C80-393E2E468CD9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412492-B887-4D14-81F2-A84995AB7832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139805900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, elenc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Due meduse su sfondo di colore rosa"/>
          <p:cNvSpPr>
            <a:spLocks noGrp="1"/>
          </p:cNvSpPr>
          <p:nvPr>
            <p:ph type="pic" idx="21"/>
          </p:nvPr>
        </p:nvSpPr>
        <p:spPr>
          <a:xfrm>
            <a:off x="10185400" y="0"/>
            <a:ext cx="18161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Graphik"/>
            </a:endParaRPr>
          </a:p>
        </p:txBody>
      </p:sp>
      <p:sp>
        <p:nvSpPr>
          <p:cNvPr id="61" name="Titolo"/>
          <p:cNvSpPr txBox="1">
            <a:spLocks noGrp="1"/>
          </p:cNvSpPr>
          <p:nvPr>
            <p:ph type="title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3" name="Sottotitolo diapositiva"/>
          <p:cNvSpPr txBox="1">
            <a:spLocks noGrp="1"/>
          </p:cNvSpPr>
          <p:nvPr>
            <p:ph type="body" sz="quarter" idx="22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2E5001EF-956C-7260-6332-97AD65EEC514}"/>
              </a:ext>
            </a:extLst>
          </p:cNvPr>
          <p:cNvSpPr txBox="1">
            <a:spLocks noGrp="1" noChangeArrowheads="1"/>
          </p:cNvSpPr>
          <p:nvPr>
            <p:ph type="sldNum" sz="quarter" idx="2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EDEAE5-6B57-4318-B5D4-6C16A361EF0B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727238333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, elenco e diretta picco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olo"/>
          <p:cNvSpPr txBox="1">
            <a:spLocks noGrp="1"/>
          </p:cNvSpPr>
          <p:nvPr>
            <p:ph type="title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3" name="Sottotitolo diapositiva"/>
          <p:cNvSpPr txBox="1">
            <a:spLocks noGrp="1"/>
          </p:cNvSpPr>
          <p:nvPr>
            <p:ph type="body" sz="quarter" idx="2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271C0F5-DE39-CE49-39CB-A96D18180ADF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D02939-CD00-469C-B43C-B97042CF42C8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51411529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, elenco e diretta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olo"/>
          <p:cNvSpPr txBox="1">
            <a:spLocks noGrp="1"/>
          </p:cNvSpPr>
          <p:nvPr>
            <p:ph type="title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3" name="Sottotitolo diapositiva"/>
          <p:cNvSpPr txBox="1">
            <a:spLocks noGrp="1"/>
          </p:cNvSpPr>
          <p:nvPr>
            <p:ph type="body" sz="quarter" idx="2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FBB220C0-2F75-0D9F-9DEB-2089F1401406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4E2F41-25A6-4782-886C-2841853BB31C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9896152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olo sezione"/>
          <p:cNvSpPr txBox="1">
            <a:spLocks noGrp="1"/>
          </p:cNvSpPr>
          <p:nvPr>
            <p:ph type="title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1600" spc="-348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212EAC6A-BD11-5967-2CE2-5DDBFB0FC4D4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40F0C2-C010-47AD-93B3-3D81EED6D637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9358884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o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" name="Sottotitolo diapositiva"/>
          <p:cNvSpPr txBox="1">
            <a:spLocks noGrp="1"/>
          </p:cNvSpPr>
          <p:nvPr>
            <p:ph type="body" sz="quarter" idx="2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E918917-9DF2-00CD-F6D9-647B4E4C1831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CD091B-1F25-4F2B-86B0-23EE4826A221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2577149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rogram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olo programma"/>
          <p:cNvSpPr txBox="1">
            <a:spLocks noGrp="1"/>
          </p:cNvSpPr>
          <p:nvPr>
            <p:ph type="title"/>
          </p:nvPr>
        </p:nvSpPr>
        <p:spPr>
          <a:xfrm>
            <a:off x="1270000" y="812800"/>
            <a:ext cx="21844000" cy="15621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9" name="Sottotitolo programma"/>
          <p:cNvSpPr txBox="1">
            <a:spLocks noGrp="1"/>
          </p:cNvSpPr>
          <p:nvPr>
            <p:ph type="body" sz="quarter" idx="2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buClrTx/>
              <a:buSzTx/>
              <a:buNone/>
              <a:defRPr sz="5500" spc="-55"/>
            </a:lvl1pPr>
            <a:lvl2pPr marL="0" indent="457200" defTabSz="825500">
              <a:buClrTx/>
              <a:buSzTx/>
              <a:buNone/>
              <a:defRPr sz="5500" spc="-55"/>
            </a:lvl2pPr>
            <a:lvl3pPr marL="0" indent="914400" defTabSz="825500">
              <a:buClrTx/>
              <a:buSzTx/>
              <a:buNone/>
              <a:defRPr sz="5500" spc="-55"/>
            </a:lvl3pPr>
            <a:lvl4pPr marL="0" indent="1371600" defTabSz="825500">
              <a:buClrTx/>
              <a:buSzTx/>
              <a:buNone/>
              <a:defRPr sz="5500" spc="-55"/>
            </a:lvl4pPr>
            <a:lvl5pPr marL="0" indent="1828800" defTabSz="825500">
              <a:buClrTx/>
              <a:buSzTx/>
              <a:buNone/>
              <a:defRPr sz="5500" spc="-5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79BB9A00-9742-026B-5072-8DFB201217DC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1E4D11-A098-49D4-816A-6ECC76CCFDA8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64193986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chiar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70000" y="4927600"/>
            <a:ext cx="21844000" cy="3902869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ClrTx/>
              <a:buSzTx/>
              <a:buNone/>
              <a:defRPr sz="8400" spc="-252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457200" algn="ctr">
              <a:spcBef>
                <a:spcPts val="0"/>
              </a:spcBef>
              <a:buClrTx/>
              <a:buSzTx/>
              <a:buNone/>
              <a:defRPr sz="8400" spc="-252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914400" algn="ctr">
              <a:spcBef>
                <a:spcPts val="0"/>
              </a:spcBef>
              <a:buClrTx/>
              <a:buSzTx/>
              <a:buNone/>
              <a:defRPr sz="8400" spc="-252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1371600" algn="ctr">
              <a:spcBef>
                <a:spcPts val="0"/>
              </a:spcBef>
              <a:buClrTx/>
              <a:buSzTx/>
              <a:buNone/>
              <a:defRPr sz="8400" spc="-252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1828800" algn="ctr">
              <a:spcBef>
                <a:spcPts val="0"/>
              </a:spcBef>
              <a:buClrTx/>
              <a:buSzTx/>
              <a:buNone/>
              <a:defRPr sz="8400" spc="-252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E47B8D7-6F9F-26DD-B85F-A8740B21AB06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7504A6-7A22-4BF4-B6FA-3AC7584E2992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3758212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nformazione import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70000" y="3906096"/>
            <a:ext cx="21844000" cy="4488604"/>
          </a:xfrm>
          <a:prstGeom prst="rect">
            <a:avLst/>
          </a:prstGeom>
        </p:spPr>
        <p:txBody>
          <a:bodyPr anchor="b"/>
          <a:lstStyle>
            <a:lvl1pPr marL="0" indent="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22400" spc="-448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  <a:lvl2pPr marL="0" indent="4572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22400" spc="-448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2pPr>
            <a:lvl3pPr marL="0" indent="9144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22400" spc="-448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3pPr>
            <a:lvl4pPr marL="0" indent="13716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22400" spc="-448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4pPr>
            <a:lvl5pPr marL="0" indent="18288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22400" spc="-448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27" name="Dettagli informazione"/>
          <p:cNvSpPr txBox="1">
            <a:spLocks noGrp="1"/>
          </p:cNvSpPr>
          <p:nvPr>
            <p:ph type="body" sz="quarter" idx="21"/>
          </p:nvPr>
        </p:nvSpPr>
        <p:spPr>
          <a:xfrm>
            <a:off x="1270000" y="85217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0B8BA8B3-4CD6-9692-88D3-696D56125261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3CB2B4-61FD-44EF-A733-63CCE3BC3933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05051642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zione"/>
          <p:cNvSpPr txBox="1">
            <a:spLocks noGrp="1"/>
          </p:cNvSpPr>
          <p:nvPr>
            <p:ph type="body" sz="quarter" idx="21"/>
          </p:nvPr>
        </p:nvSpPr>
        <p:spPr>
          <a:xfrm>
            <a:off x="1270000" y="11155086"/>
            <a:ext cx="21844000" cy="832613"/>
          </a:xfrm>
          <a:prstGeom prst="rect">
            <a:avLst/>
          </a:prstGeom>
        </p:spPr>
        <p:txBody>
          <a:bodyPr anchor="ctr"/>
          <a:lstStyle>
            <a:lvl1pPr marL="0" indent="0" algn="ctr" defTabSz="792479">
              <a:spcBef>
                <a:spcPts val="0"/>
              </a:spcBef>
              <a:buClrTx/>
              <a:buSzTx/>
              <a:buNone/>
              <a:defRPr sz="4224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70000" y="5141969"/>
            <a:ext cx="21844000" cy="343019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400" spc="-168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400" spc="-168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400" spc="-168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400" spc="-168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400" spc="-168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5241EB26-8566-5F1B-53A5-7D8A891A1091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CA1EE-EDC4-410B-AF63-3DF225E3A855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03199350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3 per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Due meduse su sfondo di colore rosa"/>
          <p:cNvSpPr>
            <a:spLocks noGrp="1"/>
          </p:cNvSpPr>
          <p:nvPr>
            <p:ph type="pic" sz="half" idx="21"/>
          </p:nvPr>
        </p:nvSpPr>
        <p:spPr>
          <a:xfrm>
            <a:off x="12192000" y="4813300"/>
            <a:ext cx="12192000" cy="920794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Graphik"/>
            </a:endParaRPr>
          </a:p>
        </p:txBody>
      </p:sp>
      <p:sp>
        <p:nvSpPr>
          <p:cNvPr id="145" name="Due meduse che si toccano su sfondo di colore blu scuro"/>
          <p:cNvSpPr>
            <a:spLocks noGrp="1"/>
          </p:cNvSpPr>
          <p:nvPr>
            <p:ph type="pic" sz="half" idx="22"/>
          </p:nvPr>
        </p:nvSpPr>
        <p:spPr>
          <a:xfrm>
            <a:off x="12192000" y="-628650"/>
            <a:ext cx="12192000" cy="812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Graphik"/>
            </a:endParaRPr>
          </a:p>
        </p:txBody>
      </p:sp>
      <p:sp>
        <p:nvSpPr>
          <p:cNvPr id="146" name="Due meduse su sfondo di colore blu"/>
          <p:cNvSpPr>
            <a:spLocks noGrp="1"/>
          </p:cNvSpPr>
          <p:nvPr>
            <p:ph type="pic" idx="23"/>
          </p:nvPr>
        </p:nvSpPr>
        <p:spPr>
          <a:xfrm>
            <a:off x="-4203700" y="0"/>
            <a:ext cx="20574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Graphik"/>
            </a:endParaRP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A725A1EC-5AE9-3CD4-FDCD-3673D91DE441}"/>
              </a:ext>
            </a:extLst>
          </p:cNvPr>
          <p:cNvSpPr txBox="1">
            <a:spLocks noGrp="1" noChangeArrowheads="1"/>
          </p:cNvSpPr>
          <p:nvPr>
            <p:ph type="sldNum" sz="quarter" idx="2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DD7BC1-8143-4FA8-8B1B-E6B8ECB12A8E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472663852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Due meduse che si toccano su sfondo di colore blu scuro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Graphik"/>
            </a:endParaRP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A8556D0E-605B-4889-58A4-DDF57131F2A8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0FA11F6-ABEA-4792-8531-FF288ADC28AE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41570838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E1D9F5D0-FA00-8AB0-79BA-ADF3AA5D4A18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6E8B52-5765-4A24-ABAE-BD5E256F2300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38059793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">
            <a:extLst>
              <a:ext uri="{FF2B5EF4-FFF2-40B4-BE49-F238E27FC236}">
                <a16:creationId xmlns:a16="http://schemas.microsoft.com/office/drawing/2014/main" id="{42D55B1E-F8FF-E787-8D9B-9A4A0675F4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70000" y="812800"/>
            <a:ext cx="21844000" cy="155733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>
            <a:normAutofit/>
          </a:bodyPr>
          <a:lstStyle/>
          <a:p>
            <a:r>
              <a:t>Titolo</a:t>
            </a:r>
          </a:p>
        </p:txBody>
      </p:sp>
      <p:sp>
        <p:nvSpPr>
          <p:cNvPr id="1027" name="Body Level One…">
            <a:extLst>
              <a:ext uri="{FF2B5EF4-FFF2-40B4-BE49-F238E27FC236}">
                <a16:creationId xmlns:a16="http://schemas.microsoft.com/office/drawing/2014/main" id="{02039F74-6E9E-0A45-DE51-04CA37B0473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270000" y="4267200"/>
            <a:ext cx="21844000" cy="843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>
                <a:sym typeface="Graphik"/>
              </a:rPr>
              <a:t>Testo elenco puntato diapositiva</a:t>
            </a:r>
          </a:p>
          <a:p>
            <a:pPr lvl="1"/>
            <a:endParaRPr lang="it-IT" altLang="it-IT">
              <a:sym typeface="Graphik"/>
            </a:endParaRPr>
          </a:p>
          <a:p>
            <a:pPr lvl="2"/>
            <a:endParaRPr lang="it-IT" altLang="it-IT">
              <a:sym typeface="Graphik"/>
            </a:endParaRPr>
          </a:p>
          <a:p>
            <a:pPr lvl="3"/>
            <a:endParaRPr lang="it-IT" altLang="it-IT">
              <a:sym typeface="Graphik"/>
            </a:endParaRPr>
          </a:p>
          <a:p>
            <a:pPr lvl="4"/>
            <a:endParaRPr lang="it-IT" altLang="it-IT">
              <a:sym typeface="Graphik"/>
            </a:endParaRPr>
          </a:p>
        </p:txBody>
      </p:sp>
      <p:sp>
        <p:nvSpPr>
          <p:cNvPr id="1028" name="Slide Number">
            <a:extLst>
              <a:ext uri="{FF2B5EF4-FFF2-40B4-BE49-F238E27FC236}">
                <a16:creationId xmlns:a16="http://schemas.microsoft.com/office/drawing/2014/main" id="{89685303-F28B-5607-C188-C68E308BBC11}"/>
              </a:ext>
            </a:extLst>
          </p:cNvPr>
          <p:cNvSpPr txBox="1">
            <a:spLocks noGrp="1" noChangeArrowheads="1"/>
          </p:cNvSpPr>
          <p:nvPr>
            <p:ph type="sldNum" sz="quarter" idx="2"/>
          </p:nvPr>
        </p:nvSpPr>
        <p:spPr bwMode="auto">
          <a:xfrm>
            <a:off x="11966575" y="13065125"/>
            <a:ext cx="43815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  <a:spAutoFit/>
          </a:bodyPr>
          <a:lstStyle>
            <a:lvl1pPr algn="ctr" defTabSz="825500" eaLnBrk="1">
              <a:defRPr sz="2200"/>
            </a:lvl1pPr>
          </a:lstStyle>
          <a:p>
            <a:fld id="{DF0FD401-EBBA-4666-B49A-08E9FDF772F8}" type="slidenum">
              <a:rPr lang="it-IT" altLang="it-IT"/>
              <a:pPr/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83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4" r:id="rId16"/>
    <p:sldLayoutId id="2147483682" r:id="rId17"/>
  </p:sldLayoutIdLst>
  <p:transition spd="med"/>
  <p:txStyles>
    <p:titleStyle>
      <a:lvl1pPr algn="ctr" defTabSz="82550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8400" spc="-252">
          <a:solidFill>
            <a:srgbClr val="000000"/>
          </a:solidFill>
          <a:latin typeface="+mn-lt"/>
          <a:ea typeface="+mn-ea"/>
          <a:cs typeface="+mn-cs"/>
          <a:sym typeface="Graphik Semibold"/>
        </a:defRPr>
      </a:lvl1pPr>
      <a:lvl2pPr algn="ctr" defTabSz="82550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8400" spc="-252">
          <a:solidFill>
            <a:srgbClr val="000000"/>
          </a:solidFill>
          <a:latin typeface="+mn-lt"/>
          <a:ea typeface="+mn-ea"/>
          <a:cs typeface="+mn-cs"/>
          <a:sym typeface="Graphik Semibold"/>
        </a:defRPr>
      </a:lvl2pPr>
      <a:lvl3pPr algn="ctr" defTabSz="82550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8400" spc="-252">
          <a:solidFill>
            <a:srgbClr val="000000"/>
          </a:solidFill>
          <a:latin typeface="+mn-lt"/>
          <a:ea typeface="+mn-ea"/>
          <a:cs typeface="+mn-cs"/>
          <a:sym typeface="Graphik Semibold"/>
        </a:defRPr>
      </a:lvl3pPr>
      <a:lvl4pPr algn="ctr" defTabSz="82550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8400" spc="-252">
          <a:solidFill>
            <a:srgbClr val="000000"/>
          </a:solidFill>
          <a:latin typeface="+mn-lt"/>
          <a:ea typeface="+mn-ea"/>
          <a:cs typeface="+mn-cs"/>
          <a:sym typeface="Graphik Semibold"/>
        </a:defRPr>
      </a:lvl4pPr>
      <a:lvl5pPr algn="ctr" defTabSz="82550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8400" spc="-252">
          <a:solidFill>
            <a:srgbClr val="000000"/>
          </a:solidFill>
          <a:latin typeface="+mn-lt"/>
          <a:ea typeface="+mn-ea"/>
          <a:cs typeface="+mn-cs"/>
          <a:sym typeface="Graphik Semibold"/>
        </a:defRPr>
      </a:lvl5pPr>
      <a:lvl6pPr marL="0" marR="0" indent="22860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252" baseline="0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6pPr>
      <a:lvl7pPr marL="0" marR="0" indent="27432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252" baseline="0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7pPr>
      <a:lvl8pPr marL="0" marR="0" indent="32004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252" baseline="0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8pPr>
      <a:lvl9pPr marL="0" marR="0" indent="36576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252" baseline="0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9pPr>
    </p:titleStyle>
    <p:bodyStyle>
      <a:lvl1pPr marL="558800" indent="-558800" algn="l" defTabSz="2438400" rtl="0" eaLnBrk="0" fontAlgn="base" hangingPunct="0">
        <a:spcBef>
          <a:spcPts val="2400"/>
        </a:spcBef>
        <a:spcAft>
          <a:spcPct val="0"/>
        </a:spcAft>
        <a:buClr>
          <a:srgbClr val="000000"/>
        </a:buClr>
        <a:buSzPct val="100000"/>
        <a:buChar char="•"/>
        <a:defRPr sz="4800">
          <a:solidFill>
            <a:srgbClr val="000000"/>
          </a:solidFill>
          <a:latin typeface="Graphik"/>
          <a:ea typeface="Graphik"/>
          <a:cs typeface="Graphik"/>
          <a:sym typeface="Graphik"/>
        </a:defRPr>
      </a:lvl1pPr>
      <a:lvl2pPr marL="1117600" indent="-558800" algn="l" defTabSz="2438400" rtl="0" eaLnBrk="0" fontAlgn="base" hangingPunct="0">
        <a:spcBef>
          <a:spcPts val="2400"/>
        </a:spcBef>
        <a:spcAft>
          <a:spcPct val="0"/>
        </a:spcAft>
        <a:buClr>
          <a:srgbClr val="000000"/>
        </a:buClr>
        <a:buSzPct val="100000"/>
        <a:buChar char="•"/>
        <a:defRPr sz="4800">
          <a:solidFill>
            <a:srgbClr val="000000"/>
          </a:solidFill>
          <a:latin typeface="Graphik"/>
          <a:ea typeface="Graphik"/>
          <a:cs typeface="Graphik"/>
          <a:sym typeface="Graphik"/>
        </a:defRPr>
      </a:lvl2pPr>
      <a:lvl3pPr marL="1676400" indent="-558800" algn="l" defTabSz="2438400" rtl="0" eaLnBrk="0" fontAlgn="base" hangingPunct="0">
        <a:spcBef>
          <a:spcPts val="2400"/>
        </a:spcBef>
        <a:spcAft>
          <a:spcPct val="0"/>
        </a:spcAft>
        <a:buClr>
          <a:srgbClr val="000000"/>
        </a:buClr>
        <a:buSzPct val="100000"/>
        <a:buChar char="•"/>
        <a:defRPr sz="4800">
          <a:solidFill>
            <a:srgbClr val="000000"/>
          </a:solidFill>
          <a:latin typeface="Graphik"/>
          <a:ea typeface="Graphik"/>
          <a:cs typeface="Graphik"/>
          <a:sym typeface="Graphik"/>
        </a:defRPr>
      </a:lvl3pPr>
      <a:lvl4pPr marL="2235200" indent="-558800" algn="l" defTabSz="2438400" rtl="0" eaLnBrk="0" fontAlgn="base" hangingPunct="0">
        <a:spcBef>
          <a:spcPts val="2400"/>
        </a:spcBef>
        <a:spcAft>
          <a:spcPct val="0"/>
        </a:spcAft>
        <a:buClr>
          <a:srgbClr val="000000"/>
        </a:buClr>
        <a:buSzPct val="100000"/>
        <a:buChar char="•"/>
        <a:defRPr sz="4800">
          <a:solidFill>
            <a:srgbClr val="000000"/>
          </a:solidFill>
          <a:latin typeface="Graphik"/>
          <a:ea typeface="Graphik"/>
          <a:cs typeface="Graphik"/>
          <a:sym typeface="Graphik"/>
        </a:defRPr>
      </a:lvl4pPr>
      <a:lvl5pPr marL="2794000" indent="-558800" algn="l" defTabSz="2438400" rtl="0" eaLnBrk="0" fontAlgn="base" hangingPunct="0">
        <a:spcBef>
          <a:spcPts val="2400"/>
        </a:spcBef>
        <a:spcAft>
          <a:spcPct val="0"/>
        </a:spcAft>
        <a:buClr>
          <a:srgbClr val="000000"/>
        </a:buClr>
        <a:buSzPct val="100000"/>
        <a:buChar char="•"/>
        <a:defRPr sz="4800">
          <a:solidFill>
            <a:srgbClr val="000000"/>
          </a:solidFill>
          <a:latin typeface="Graphik"/>
          <a:ea typeface="Graphik"/>
          <a:cs typeface="Graphik"/>
          <a:sym typeface="Graphik"/>
        </a:defRPr>
      </a:lvl5pPr>
      <a:lvl6pPr marL="33528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6pPr>
      <a:lvl7pPr marL="39116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7pPr>
      <a:lvl8pPr marL="44704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8pPr>
      <a:lvl9pPr marL="50292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rogettazione e Implementazione di un Modulo di Fault Detection per drone in Modalità HITL">
            <a:extLst>
              <a:ext uri="{FF2B5EF4-FFF2-40B4-BE49-F238E27FC236}">
                <a16:creationId xmlns:a16="http://schemas.microsoft.com/office/drawing/2014/main" id="{44781555-4B6E-81CD-98E4-9988E0FC167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47975" y="3345226"/>
            <a:ext cx="22626972" cy="3823528"/>
          </a:xfrm>
        </p:spPr>
        <p:txBody>
          <a:bodyPr/>
          <a:lstStyle>
            <a:lvl1pPr defTabSz="1731220">
              <a:defRPr sz="8236" spc="-247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8200" b="1" err="1">
                <a:gradFill flip="none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rPr>
              <a:t>Progettazione</a:t>
            </a:r>
            <a:r>
              <a:rPr sz="8200" b="1">
                <a:gradFill flip="none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rPr>
              <a:t> e </a:t>
            </a:r>
            <a:r>
              <a:rPr lang="it-IT" sz="8200" b="1">
                <a:gradFill flip="none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rPr>
              <a:t>Implementazione</a:t>
            </a:r>
            <a:r>
              <a:rPr sz="8200" b="1">
                <a:gradFill flip="none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rPr>
              <a:t> di un Modulo di Fault Detection per drone in </a:t>
            </a:r>
            <a:r>
              <a:rPr sz="8200" b="1" err="1">
                <a:gradFill flip="none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rPr>
              <a:t>Modalità</a:t>
            </a:r>
            <a:r>
              <a:rPr sz="8200" b="1">
                <a:gradFill flip="none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rPr>
              <a:t> HITL</a:t>
            </a:r>
            <a:endParaRPr lang="it-IT" sz="8200" b="1">
              <a:gradFill flip="none">
                <a:gsLst>
                  <a:gs pos="0">
                    <a:srgbClr val="1E98FD"/>
                  </a:gs>
                  <a:gs pos="100000">
                    <a:srgbClr val="FF00F7"/>
                  </a:gs>
                </a:gsLst>
                <a:lin ang="3960000" scaled="0"/>
              </a:gradFill>
            </a:endParaRPr>
          </a:p>
        </p:txBody>
      </p:sp>
      <p:sp>
        <p:nvSpPr>
          <p:cNvPr id="5123" name="Roberto Dimitri, Edoardo Palmoni, Jacopo Tarulli">
            <a:extLst>
              <a:ext uri="{FF2B5EF4-FFF2-40B4-BE49-F238E27FC236}">
                <a16:creationId xmlns:a16="http://schemas.microsoft.com/office/drawing/2014/main" id="{66C8ADE2-E0CF-E49D-A904-311F328C7E74}"/>
              </a:ext>
            </a:extLst>
          </p:cNvPr>
          <p:cNvSpPr txBox="1">
            <a:spLocks noGrp="1" noChangeArrowheads="1"/>
          </p:cNvSpPr>
          <p:nvPr>
            <p:ph type="body" idx="21"/>
          </p:nvPr>
        </p:nvSpPr>
        <p:spPr>
          <a:xfrm>
            <a:off x="1270000" y="12511088"/>
            <a:ext cx="21844000" cy="693737"/>
          </a:xfrm>
        </p:spPr>
        <p:txBody>
          <a:bodyPr/>
          <a:lstStyle/>
          <a:p>
            <a:pPr defTabSz="825500" eaLnBrk="1" hangingPunct="1">
              <a:spcBef>
                <a:spcPct val="0"/>
              </a:spcBef>
            </a:pPr>
            <a:r>
              <a:rPr lang="it-IT" altLang="it-IT" sz="2400"/>
              <a:t>Roberto Dimitri, Edoardo Palmoni, Jacopo Tarulli</a:t>
            </a:r>
          </a:p>
        </p:txBody>
      </p:sp>
      <p:sp>
        <p:nvSpPr>
          <p:cNvPr id="5124" name="Analisi di robustezza e rilevamento di guasti agli attuatori su piattaforma embedded STM32">
            <a:extLst>
              <a:ext uri="{FF2B5EF4-FFF2-40B4-BE49-F238E27FC236}">
                <a16:creationId xmlns:a16="http://schemas.microsoft.com/office/drawing/2014/main" id="{F46818F1-212F-4BA4-1EE3-DE16F019C395}"/>
              </a:ext>
            </a:extLst>
          </p:cNvPr>
          <p:cNvSpPr txBox="1">
            <a:spLocks noGrp="1" noChangeArrowheads="1"/>
          </p:cNvSpPr>
          <p:nvPr>
            <p:ph type="subTitle" sz="quarter" idx="1"/>
          </p:nvPr>
        </p:nvSpPr>
        <p:spPr>
          <a:xfrm>
            <a:off x="1270000" y="7394575"/>
            <a:ext cx="21844000" cy="224155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it-IT" altLang="it-IT" sz="3900"/>
              <a:t>Fault Detection con architettura a tre moduli</a:t>
            </a:r>
          </a:p>
        </p:txBody>
      </p:sp>
      <p:sp>
        <p:nvSpPr>
          <p:cNvPr id="5125" name="1° revisione">
            <a:extLst>
              <a:ext uri="{FF2B5EF4-FFF2-40B4-BE49-F238E27FC236}">
                <a16:creationId xmlns:a16="http://schemas.microsoft.com/office/drawing/2014/main" id="{C77E876D-43B0-1778-6C1B-BFD24299C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1384" y="584325"/>
            <a:ext cx="21844000" cy="1211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t"/>
          <a:lstStyle>
            <a:lvl1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1pPr>
            <a:lvl2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2pPr>
            <a:lvl3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3pPr>
            <a:lvl4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4pPr>
            <a:lvl5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5pPr>
            <a:lvl6pPr marL="4572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6pPr>
            <a:lvl7pPr marL="9144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7pPr>
            <a:lvl8pPr marL="13716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8pPr>
            <a:lvl9pPr marL="18288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9pPr>
          </a:lstStyle>
          <a:p>
            <a:pPr algn="ctr" eaLnBrk="1">
              <a:spcBef>
                <a:spcPct val="0"/>
              </a:spcBef>
            </a:pPr>
            <a:r>
              <a:rPr lang="it-IT" altLang="it-IT" sz="3600">
                <a:latin typeface="Graphik Medium"/>
                <a:ea typeface="Graphik Medium"/>
                <a:cs typeface="Graphik Medium"/>
                <a:sym typeface="Graphik Medium"/>
              </a:rPr>
              <a:t>3/07/2026 - 4° revisione</a:t>
            </a:r>
            <a:endParaRPr lang="it-IT"/>
          </a:p>
          <a:p>
            <a:pPr algn="ctr">
              <a:spcBef>
                <a:spcPct val="0"/>
              </a:spcBef>
            </a:pPr>
            <a:endParaRPr lang="it-IT" altLang="it-IT" sz="3600">
              <a:latin typeface="Graphik Medium"/>
              <a:ea typeface="Graphik Medium"/>
              <a:cs typeface="Graphik Medium"/>
            </a:endParaRPr>
          </a:p>
        </p:txBody>
      </p:sp>
      <p:sp>
        <p:nvSpPr>
          <p:cNvPr id="5126" name="Progetto di Manutenzione Preventiva per la Robotica e Automazione Intelligente">
            <a:extLst>
              <a:ext uri="{FF2B5EF4-FFF2-40B4-BE49-F238E27FC236}">
                <a16:creationId xmlns:a16="http://schemas.microsoft.com/office/drawing/2014/main" id="{4AD18FF1-E3AE-2845-243E-BC315D2C4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000" y="11899900"/>
            <a:ext cx="21844000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/>
          <a:lstStyle>
            <a:lvl1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1pPr>
            <a:lvl2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2pPr>
            <a:lvl3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3pPr>
            <a:lvl4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4pPr>
            <a:lvl5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5pPr>
            <a:lvl6pPr marL="4572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6pPr>
            <a:lvl7pPr marL="9144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7pPr>
            <a:lvl8pPr marL="13716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8pPr>
            <a:lvl9pPr marL="18288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9pPr>
          </a:lstStyle>
          <a:p>
            <a:pPr algn="ctr" eaLnBrk="1">
              <a:spcBef>
                <a:spcPct val="0"/>
              </a:spcBef>
            </a:pPr>
            <a:r>
              <a:rPr lang="it-IT" altLang="it-IT" sz="2400" i="1">
                <a:latin typeface="Avenir Next Regular"/>
                <a:ea typeface="Avenir Next Regular"/>
                <a:cs typeface="Avenir Next Regular"/>
                <a:sym typeface="Avenir Next Regular"/>
              </a:rPr>
              <a:t>Progetto di Manutenzione Preventiva per la Robotica e Automazione Intelligente</a:t>
            </a:r>
          </a:p>
        </p:txBody>
      </p:sp>
      <p:sp>
        <p:nvSpPr>
          <p:cNvPr id="5127" name="A.A. 2025/2026">
            <a:extLst>
              <a:ext uri="{FF2B5EF4-FFF2-40B4-BE49-F238E27FC236}">
                <a16:creationId xmlns:a16="http://schemas.microsoft.com/office/drawing/2014/main" id="{3EC82291-37E1-24E9-106F-1FA13286C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000" y="11491913"/>
            <a:ext cx="21844000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/>
          <a:lstStyle>
            <a:lvl1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1pPr>
            <a:lvl2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2pPr>
            <a:lvl3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3pPr>
            <a:lvl4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4pPr>
            <a:lvl5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5pPr>
            <a:lvl6pPr marL="4572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6pPr>
            <a:lvl7pPr marL="9144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7pPr>
            <a:lvl8pPr marL="13716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8pPr>
            <a:lvl9pPr marL="18288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9pPr>
          </a:lstStyle>
          <a:p>
            <a:pPr algn="ctr" eaLnBrk="1">
              <a:spcBef>
                <a:spcPct val="0"/>
              </a:spcBef>
            </a:pPr>
            <a:r>
              <a:rPr lang="it-IT" altLang="it-IT" sz="2400" i="1">
                <a:latin typeface="Avenir Next Regular"/>
                <a:ea typeface="Avenir Next Regular"/>
                <a:cs typeface="Avenir Next Regular"/>
                <a:sym typeface="Avenir Next Regular"/>
              </a:rPr>
              <a:t>A.A. 2025/2026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Modello e Obiettivi">
            <a:extLst>
              <a:ext uri="{FF2B5EF4-FFF2-40B4-BE49-F238E27FC236}">
                <a16:creationId xmlns:a16="http://schemas.microsoft.com/office/drawing/2014/main" id="{7DDFBD2A-1309-124E-8511-4AA2E1D90F7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/>
              <a:t>Riepilogo</a:t>
            </a:r>
            <a:endParaRPr lang="it-IT"/>
          </a:p>
        </p:txBody>
      </p:sp>
      <p:sp>
        <p:nvSpPr>
          <p:cNvPr id="6147" name="Target Hardware: STM32 Nucleo-H723ZG…">
            <a:extLst>
              <a:ext uri="{FF2B5EF4-FFF2-40B4-BE49-F238E27FC236}">
                <a16:creationId xmlns:a16="http://schemas.microsoft.com/office/drawing/2014/main" id="{E51C1644-0648-F244-6A38-7A3688C0E66A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994629" y="4629770"/>
            <a:ext cx="21793263" cy="7518569"/>
          </a:xfrm>
        </p:spPr>
        <p:txBody>
          <a:bodyPr/>
          <a:lstStyle/>
          <a:p>
            <a:r>
              <a:rPr lang="it-IT" altLang="it-IT" sz="4000" i="1">
                <a:latin typeface="Avenir Next Regular"/>
                <a:sym typeface="Avenir Next Regular"/>
              </a:rPr>
              <a:t>Architettura a 3 Moduli : FD1, FD2, FD3</a:t>
            </a:r>
          </a:p>
          <a:p>
            <a:r>
              <a:rPr lang="it-IT" altLang="it-IT" sz="4000" i="1">
                <a:latin typeface="Avenir Next Regular"/>
                <a:cs typeface="Helvetica"/>
              </a:rPr>
              <a:t>Blocco Fault-</a:t>
            </a:r>
            <a:r>
              <a:rPr lang="it-IT" altLang="it-IT" sz="4000" i="1" err="1">
                <a:latin typeface="Avenir Next Regular"/>
                <a:cs typeface="Helvetica"/>
              </a:rPr>
              <a:t>Detection</a:t>
            </a:r>
            <a:endParaRPr lang="it-IT" altLang="it-IT" sz="4000" i="1">
              <a:latin typeface="Avenir Next Regular"/>
              <a:cs typeface="Helvetica"/>
            </a:endParaRPr>
          </a:p>
          <a:p>
            <a:r>
              <a:rPr lang="it-IT" altLang="it-IT" sz="4000" i="1">
                <a:latin typeface="Avenir Next Regular"/>
                <a:cs typeface="Helvetica"/>
              </a:rPr>
              <a:t>Plots Modulo FD1: Free-Fault, Fault Roll, </a:t>
            </a:r>
            <a:r>
              <a:rPr lang="it-IT" altLang="it-IT" sz="4000" i="1" err="1">
                <a:latin typeface="Avenir Next Regular"/>
                <a:cs typeface="Helvetica"/>
              </a:rPr>
              <a:t>Pitch,Yaw</a:t>
            </a:r>
          </a:p>
          <a:p>
            <a:r>
              <a:rPr lang="it-IT" altLang="it-IT" sz="4000" i="1">
                <a:latin typeface="Avenir Next Regular"/>
                <a:cs typeface="Helvetica"/>
              </a:rPr>
              <a:t>Plots Modulo FD2: Fault f1, f2, f3, f4, f5, f6</a:t>
            </a:r>
          </a:p>
          <a:p>
            <a:r>
              <a:rPr lang="it-IT" altLang="it-IT" sz="4000" i="1">
                <a:latin typeface="Avenir Next Regular"/>
                <a:cs typeface="Helvetica"/>
              </a:rPr>
              <a:t>Blocco </a:t>
            </a:r>
            <a:r>
              <a:rPr lang="it-IT" altLang="it-IT" sz="4000" i="1" err="1">
                <a:latin typeface="Avenir Next Regular"/>
                <a:cs typeface="Helvetica"/>
              </a:rPr>
              <a:t>Evaluator</a:t>
            </a:r>
            <a:endParaRPr lang="it-IT" altLang="it-IT" sz="4000" i="1">
              <a:latin typeface="Avenir Next Regular"/>
              <a:cs typeface="Helvetica"/>
            </a:endParaRPr>
          </a:p>
          <a:p>
            <a:r>
              <a:rPr lang="it-IT" altLang="it-IT" sz="4000" i="1">
                <a:latin typeface="Avenir Next Regular"/>
                <a:cs typeface="Helvetica"/>
              </a:rPr>
              <a:t>Plots </a:t>
            </a:r>
            <a:r>
              <a:rPr lang="it-IT" altLang="it-IT" sz="4000" i="1" err="1">
                <a:latin typeface="Avenir Next Regular"/>
                <a:cs typeface="Helvetica"/>
              </a:rPr>
              <a:t>Evaluator</a:t>
            </a:r>
            <a:r>
              <a:rPr lang="it-IT" altLang="it-IT" sz="4000" i="1">
                <a:latin typeface="Avenir Next Regular"/>
                <a:cs typeface="Helvetica"/>
              </a:rPr>
              <a:t>: Fault Giroscopio, Fault attuatori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7C1211-9491-76C5-5883-75DD0F277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/>
              <a:t>Struttura Faul </a:t>
            </a:r>
            <a:r>
              <a:rPr lang="it-IT" b="1" err="1"/>
              <a:t>Detection</a:t>
            </a:r>
            <a:endParaRPr lang="it-IT" b="1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172EFA2-053B-37F6-E62F-324C23797B3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70000" y="2620080"/>
            <a:ext cx="21844000" cy="1016000"/>
          </a:xfrm>
        </p:spPr>
        <p:txBody>
          <a:bodyPr/>
          <a:lstStyle/>
          <a:p>
            <a:pPr algn="l"/>
            <a:r>
              <a:rPr lang="it-IT" sz="5250"/>
              <a:t>Si è implementato un modulo per ogni guasto iniettato</a:t>
            </a:r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3FBC1E2-5EC4-6D5A-CB5D-F4D45568B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/>
              <a:t>Modulo FD1</a:t>
            </a:r>
            <a:r>
              <a:rPr lang="it-IT"/>
              <a:t> -&gt; Fault Detection Giroscopio</a:t>
            </a:r>
            <a:br>
              <a:rPr lang="it-IT"/>
            </a:br>
            <a:r>
              <a:rPr lang="it-IT"/>
              <a:t>Guasto: Additivo -&gt; Osservatore di Luenberger</a:t>
            </a:r>
          </a:p>
          <a:p>
            <a:r>
              <a:rPr lang="it-IT" b="1"/>
              <a:t>Modulo FD2</a:t>
            </a:r>
            <a:r>
              <a:rPr lang="it-IT"/>
              <a:t> -&gt; Fault Detection Attuatori</a:t>
            </a:r>
            <a:br>
              <a:rPr lang="it-IT"/>
            </a:br>
            <a:r>
              <a:rPr lang="it-IT"/>
              <a:t>Guasto: Moltiplicativo -&gt; Equazioni di Parità</a:t>
            </a:r>
          </a:p>
          <a:p>
            <a:r>
              <a:rPr lang="it-IT" b="1"/>
              <a:t>Modulo FD3</a:t>
            </a:r>
            <a:r>
              <a:rPr lang="it-IT"/>
              <a:t> –&gt; Fault Detection GPS</a:t>
            </a:r>
            <a:br>
              <a:rPr lang="it-IT"/>
            </a:br>
            <a:r>
              <a:rPr lang="it-IT"/>
              <a:t>Guasto: Additivo –&gt; Osservatore con filtro complementare</a:t>
            </a:r>
          </a:p>
        </p:txBody>
      </p:sp>
    </p:spTree>
    <p:extLst>
      <p:ext uri="{BB962C8B-B14F-4D97-AF65-F5344CB8AC3E}">
        <p14:creationId xmlns:p14="http://schemas.microsoft.com/office/powerpoint/2010/main" val="198741054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6F0574-3B0C-5F1F-971A-31CD187ED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0001" y="783911"/>
            <a:ext cx="21582743" cy="1441224"/>
          </a:xfrm>
        </p:spPr>
        <p:txBody>
          <a:bodyPr>
            <a:normAutofit/>
          </a:bodyPr>
          <a:lstStyle/>
          <a:p>
            <a:r>
              <a:rPr lang="it-IT" sz="6600" b="1">
                <a:ea typeface="+mn-lt"/>
                <a:cs typeface="+mn-lt"/>
              </a:rPr>
              <a:t>Progettazione modulo di Fault Detection (Model Based)</a:t>
            </a:r>
            <a:endParaRPr lang="it-IT" sz="6600">
              <a:ea typeface="+mn-lt"/>
              <a:cs typeface="+mn-lt"/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840FD2F-34CA-3A19-73A4-57951530489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70000" y="2913603"/>
            <a:ext cx="21844000" cy="1016000"/>
          </a:xfrm>
        </p:spPr>
        <p:txBody>
          <a:bodyPr/>
          <a:lstStyle/>
          <a:p>
            <a:r>
              <a:rPr lang="it-IT" sz="4800"/>
              <a:t>Modello matematico del Drone </a:t>
            </a:r>
            <a:r>
              <a:rPr lang="it-IT" sz="4800" err="1"/>
              <a:t>esacottero</a:t>
            </a:r>
            <a:endParaRPr lang="it-IT" err="1"/>
          </a:p>
          <a:p>
            <a:endParaRPr lang="it-IT" sz="5250"/>
          </a:p>
        </p:txBody>
      </p:sp>
      <p:pic>
        <p:nvPicPr>
          <p:cNvPr id="6" name="Immagine 5" descr="Immagine che contiene testo, calligrafia, Carattere, bianco&#10;&#10;Il contenuto generato dall&amp;#39;IA potrebbe non essere corretto.">
            <a:extLst>
              <a:ext uri="{FF2B5EF4-FFF2-40B4-BE49-F238E27FC236}">
                <a16:creationId xmlns:a16="http://schemas.microsoft.com/office/drawing/2014/main" id="{41E8A829-733A-A3A4-86E0-AE6A74AD4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413" y="4674001"/>
            <a:ext cx="12014200" cy="645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66960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6B2ACB-77D5-B4BE-2417-FF495EB01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ea typeface="+mn-lt"/>
                <a:cs typeface="+mn-lt"/>
              </a:rPr>
              <a:t>Linearizzazione all’Hovering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EFF49FB-4A00-EF1B-5895-DAFBE574E53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algn="l"/>
            <a:r>
              <a:rPr lang="it-IT" sz="4800"/>
              <a:t>Se φ e θ sono vicini a zero -&gt; il drone vola quasi in piano, senza inclinarsi molto</a:t>
            </a:r>
          </a:p>
          <a:p>
            <a:endParaRPr lang="it-IT" sz="525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43542C8-EF30-9122-4D54-7A9CD7B82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70000" y="7733881"/>
            <a:ext cx="21844000" cy="1074058"/>
          </a:xfrm>
        </p:spPr>
        <p:txBody>
          <a:bodyPr/>
          <a:lstStyle/>
          <a:p>
            <a:pPr marL="0" indent="0">
              <a:buNone/>
            </a:pPr>
            <a:r>
              <a:rPr lang="it-IT" sz="4000"/>
              <a:t>All'hovering ω ≈ 0 -&gt; il termine non lineare -ω × </a:t>
            </a:r>
            <a:r>
              <a:rPr lang="it-IT" sz="4000" err="1"/>
              <a:t>Jω</a:t>
            </a:r>
            <a:r>
              <a:rPr lang="it-IT" sz="4000"/>
              <a:t> ≈ 0 è trascurabile</a:t>
            </a:r>
            <a:endParaRPr lang="it-IT"/>
          </a:p>
          <a:p>
            <a:endParaRPr lang="it-IT"/>
          </a:p>
        </p:txBody>
      </p:sp>
      <p:pic>
        <p:nvPicPr>
          <p:cNvPr id="5" name="Immagine 4" descr="Immagine che contiene Carattere, testo, calligrafia, bianco&#10;&#10;Il contenuto generato dall&amp;#39;IA potrebbe non essere corretto.">
            <a:extLst>
              <a:ext uri="{FF2B5EF4-FFF2-40B4-BE49-F238E27FC236}">
                <a16:creationId xmlns:a16="http://schemas.microsoft.com/office/drawing/2014/main" id="{AFC1D344-6DE7-129F-29D9-24CC9E0FE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78" y="3386904"/>
            <a:ext cx="11449050" cy="1277712"/>
          </a:xfrm>
          <a:prstGeom prst="rect">
            <a:avLst/>
          </a:prstGeom>
        </p:spPr>
      </p:pic>
      <p:pic>
        <p:nvPicPr>
          <p:cNvPr id="6" name="Immagine 5" descr="Immagine che contiene Carattere, testo, diagramma, tipografia&#10;&#10;Il contenuto generato dall&amp;#39;IA potrebbe non essere corretto.">
            <a:extLst>
              <a:ext uri="{FF2B5EF4-FFF2-40B4-BE49-F238E27FC236}">
                <a16:creationId xmlns:a16="http://schemas.microsoft.com/office/drawing/2014/main" id="{E1BE8460-357C-52A5-A02F-665187BE4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409" y="4906526"/>
            <a:ext cx="9417051" cy="2483758"/>
          </a:xfrm>
          <a:prstGeom prst="rect">
            <a:avLst/>
          </a:prstGeom>
        </p:spPr>
      </p:pic>
      <p:pic>
        <p:nvPicPr>
          <p:cNvPr id="7" name="Immagine 6" descr="Immagine che contiene nero, oscurità&#10;&#10;Il contenuto generato dall&amp;#39;IA potrebbe non essere corretto.">
            <a:extLst>
              <a:ext uri="{FF2B5EF4-FFF2-40B4-BE49-F238E27FC236}">
                <a16:creationId xmlns:a16="http://schemas.microsoft.com/office/drawing/2014/main" id="{E45F9D7F-8ED3-F6CA-EC08-EB7D2AB05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7044" y="5645237"/>
            <a:ext cx="3133725" cy="981075"/>
          </a:xfrm>
          <a:prstGeom prst="rect">
            <a:avLst/>
          </a:prstGeom>
        </p:spPr>
      </p:pic>
      <p:pic>
        <p:nvPicPr>
          <p:cNvPr id="8" name="Immagine 7" descr="Immagine che contiene Carattere, bianco, testo, tipografia&#10;&#10;Il contenuto generato dall&amp;#39;IA potrebbe non essere corretto.">
            <a:extLst>
              <a:ext uri="{FF2B5EF4-FFF2-40B4-BE49-F238E27FC236}">
                <a16:creationId xmlns:a16="http://schemas.microsoft.com/office/drawing/2014/main" id="{E12B4543-6517-B5BD-F16D-1A22C5F085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05728" y="5277687"/>
            <a:ext cx="6345918" cy="1683658"/>
          </a:xfrm>
          <a:prstGeom prst="rect">
            <a:avLst/>
          </a:prstGeom>
        </p:spPr>
      </p:pic>
      <p:pic>
        <p:nvPicPr>
          <p:cNvPr id="9" name="Immagine 8" descr="Immagine che contiene Carattere, tipografia, calligrafia, bianco&#10;&#10;Il contenuto generato dall&amp;#39;IA potrebbe non essere corretto.">
            <a:extLst>
              <a:ext uri="{FF2B5EF4-FFF2-40B4-BE49-F238E27FC236}">
                <a16:creationId xmlns:a16="http://schemas.microsoft.com/office/drawing/2014/main" id="{80BF5E97-6EAC-E219-0385-1F2298B5DB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8709" y="9793515"/>
            <a:ext cx="6600825" cy="1117600"/>
          </a:xfrm>
          <a:prstGeom prst="rect">
            <a:avLst/>
          </a:prstGeom>
        </p:spPr>
      </p:pic>
      <p:pic>
        <p:nvPicPr>
          <p:cNvPr id="10" name="Immagine 9" descr="Immagine che contiene nero, oscurità&#10;&#10;Il contenuto generato dall&amp;#39;IA potrebbe non essere corretto.">
            <a:extLst>
              <a:ext uri="{FF2B5EF4-FFF2-40B4-BE49-F238E27FC236}">
                <a16:creationId xmlns:a16="http://schemas.microsoft.com/office/drawing/2014/main" id="{B1FA37DC-CC7F-52B3-8FC5-19CCBA950C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6726" y="9790810"/>
            <a:ext cx="3143250" cy="981075"/>
          </a:xfrm>
          <a:prstGeom prst="rect">
            <a:avLst/>
          </a:prstGeom>
        </p:spPr>
      </p:pic>
      <p:pic>
        <p:nvPicPr>
          <p:cNvPr id="11" name="Immagine 10" descr="Immagine che contiene Carattere, bianco, calligrafia, tipografia&#10;&#10;Il contenuto generato dall&amp;#39;IA potrebbe non essere corretto.">
            <a:extLst>
              <a:ext uri="{FF2B5EF4-FFF2-40B4-BE49-F238E27FC236}">
                <a16:creationId xmlns:a16="http://schemas.microsoft.com/office/drawing/2014/main" id="{467EEFAE-D088-F7A5-D3EC-B3D796AB98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00617" y="9569519"/>
            <a:ext cx="3229429" cy="157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53033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08BC4-01B6-2C05-4933-CDE5C6B7D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ea typeface="+mn-lt"/>
                <a:cs typeface="+mn-lt"/>
              </a:rPr>
              <a:t>FD1 – Osservatore </a:t>
            </a:r>
            <a:r>
              <a:rPr lang="it-IT" b="1" dirty="0" err="1">
                <a:ea typeface="+mn-lt"/>
                <a:cs typeface="+mn-lt"/>
              </a:rPr>
              <a:t>Luenberger</a:t>
            </a:r>
            <a:r>
              <a:rPr lang="it-IT" b="1" dirty="0">
                <a:ea typeface="+mn-lt"/>
                <a:cs typeface="+mn-lt"/>
              </a:rPr>
              <a:t> Giroscopio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7C15D7-0B74-BF35-4DC9-D300295CA24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70000" y="2408046"/>
            <a:ext cx="21844000" cy="1016000"/>
          </a:xfrm>
        </p:spPr>
        <p:txBody>
          <a:bodyPr/>
          <a:lstStyle/>
          <a:p>
            <a:r>
              <a:rPr lang="it-IT" sz="4800"/>
              <a:t>Obiettivo: rilevare guasti additivi su ω (Roll, Pitch, Yaw).</a:t>
            </a:r>
            <a:endParaRPr lang="it-IT"/>
          </a:p>
          <a:p>
            <a:endParaRPr lang="it-IT" sz="525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095877B-336B-6924-B1BF-41B9A8D4C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70000" y="3776087"/>
            <a:ext cx="21844000" cy="1799772"/>
          </a:xfrm>
        </p:spPr>
        <p:txBody>
          <a:bodyPr/>
          <a:lstStyle/>
          <a:p>
            <a:pPr marL="0" indent="0">
              <a:buNone/>
            </a:pPr>
            <a:r>
              <a:rPr lang="it-IT"/>
              <a:t>Si stima ω dagli </a:t>
            </a:r>
            <a:r>
              <a:rPr lang="it-IT" b="1"/>
              <a:t>angoli</a:t>
            </a:r>
            <a:r>
              <a:rPr lang="it-IT"/>
              <a:t> [</a:t>
            </a:r>
            <a:r>
              <a:rPr lang="it-IT" err="1"/>
              <a:t>ϕ,θ,ψ</a:t>
            </a:r>
            <a:r>
              <a:rPr lang="it-IT"/>
              <a:t>]. Il guasto su ω non entra nella correzione dell'osservatore.</a:t>
            </a:r>
          </a:p>
          <a:p>
            <a:endParaRPr lang="it-IT"/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1040E59E-2D00-1062-49BB-03CCE8D1B9D3}"/>
              </a:ext>
            </a:extLst>
          </p:cNvPr>
          <p:cNvSpPr txBox="1">
            <a:spLocks/>
          </p:cNvSpPr>
          <p:nvPr/>
        </p:nvSpPr>
        <p:spPr bwMode="auto">
          <a:xfrm>
            <a:off x="1270698" y="10479035"/>
            <a:ext cx="21844000" cy="1799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>
            <a:lvl1pPr marL="5588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1pPr>
            <a:lvl2pPr marL="11176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2pPr>
            <a:lvl3pPr marL="16764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3pPr>
            <a:lvl4pPr marL="22352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4pPr>
            <a:lvl5pPr marL="27940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5pPr>
            <a:lvl6pPr marL="33528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6pPr>
            <a:lvl7pPr marL="39116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7pPr>
            <a:lvl8pPr marL="44704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8pPr>
            <a:lvl9pPr marL="50292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9pPr>
          </a:lstStyle>
          <a:p>
            <a:pPr marL="0" indent="0">
              <a:buNone/>
            </a:pPr>
            <a:r>
              <a:rPr lang="it-IT" kern="0"/>
              <a:t> </a:t>
            </a:r>
          </a:p>
          <a:p>
            <a:endParaRPr lang="it-IT" kern="0"/>
          </a:p>
        </p:txBody>
      </p:sp>
      <p:pic>
        <p:nvPicPr>
          <p:cNvPr id="7" name="Immagine 6" descr="Immagine che contiene Carattere, testo, calligrafia, bianco&#10;&#10;Il contenuto generato dall&amp;#39;IA potrebbe non essere corretto.">
            <a:extLst>
              <a:ext uri="{FF2B5EF4-FFF2-40B4-BE49-F238E27FC236}">
                <a16:creationId xmlns:a16="http://schemas.microsoft.com/office/drawing/2014/main" id="{D1E86DF4-FEA8-30D9-4ED6-A801A4AAF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378" y="5239971"/>
            <a:ext cx="7485290" cy="2125435"/>
          </a:xfrm>
          <a:prstGeom prst="rect">
            <a:avLst/>
          </a:prstGeom>
        </p:spPr>
      </p:pic>
      <p:pic>
        <p:nvPicPr>
          <p:cNvPr id="8" name="Immagine 7" descr="Immagine che contiene testo, Carattere, calligrafia, bianco&#10;&#10;Il contenuto generato dall&amp;#39;IA potrebbe non essere corretto.">
            <a:extLst>
              <a:ext uri="{FF2B5EF4-FFF2-40B4-BE49-F238E27FC236}">
                <a16:creationId xmlns:a16="http://schemas.microsoft.com/office/drawing/2014/main" id="{FE44FB8D-48DD-E9AB-3F7F-92CE69F12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" y="6657800"/>
            <a:ext cx="8410122" cy="1398815"/>
          </a:xfrm>
          <a:prstGeom prst="rect">
            <a:avLst/>
          </a:prstGeom>
        </p:spPr>
      </p:pic>
      <p:pic>
        <p:nvPicPr>
          <p:cNvPr id="9" name="Immagine 8" descr="Immagine che contiene testo, Carattere, bianco, tipografia&#10;&#10;Il contenuto generato dall&amp;#39;IA potrebbe non essere corretto.">
            <a:extLst>
              <a:ext uri="{FF2B5EF4-FFF2-40B4-BE49-F238E27FC236}">
                <a16:creationId xmlns:a16="http://schemas.microsoft.com/office/drawing/2014/main" id="{BD8FC9CF-C59F-DD9B-CEF9-A7003FA8F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697" y="8038977"/>
            <a:ext cx="7424058" cy="1772104"/>
          </a:xfrm>
          <a:prstGeom prst="rect">
            <a:avLst/>
          </a:prstGeom>
        </p:spPr>
      </p:pic>
      <p:pic>
        <p:nvPicPr>
          <p:cNvPr id="10" name="Immagine 9" descr="Immagine che contiene Carattere, testo, tipografia&#10;&#10;Il contenuto generato dall&amp;#39;IA potrebbe non essere corretto.">
            <a:extLst>
              <a:ext uri="{FF2B5EF4-FFF2-40B4-BE49-F238E27FC236}">
                <a16:creationId xmlns:a16="http://schemas.microsoft.com/office/drawing/2014/main" id="{9C59E03A-7B52-F9ED-56BA-69D5CA65BA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3754" y="9434687"/>
            <a:ext cx="8529411" cy="2101398"/>
          </a:xfrm>
          <a:prstGeom prst="rect">
            <a:avLst/>
          </a:prstGeom>
        </p:spPr>
      </p:pic>
      <p:pic>
        <p:nvPicPr>
          <p:cNvPr id="11" name="Immagine 10" descr="Immagine che contiene Carattere, bianco, calligrafia, testo&#10;&#10;Il contenuto generato dall&amp;#39;IA potrebbe non essere corretto.">
            <a:extLst>
              <a:ext uri="{FF2B5EF4-FFF2-40B4-BE49-F238E27FC236}">
                <a16:creationId xmlns:a16="http://schemas.microsoft.com/office/drawing/2014/main" id="{8E990FA9-6209-0197-51FD-C94B0C91A6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7687" y="11728624"/>
            <a:ext cx="6997700" cy="1093107"/>
          </a:xfrm>
          <a:prstGeom prst="rect">
            <a:avLst/>
          </a:prstGeom>
        </p:spPr>
      </p:pic>
      <p:pic>
        <p:nvPicPr>
          <p:cNvPr id="12" name="Immagine 11" descr="Immagine che contiene nero, oscurità&#10;&#10;Il contenuto generato dall&amp;#39;IA potrebbe non essere corretto.">
            <a:extLst>
              <a:ext uri="{FF2B5EF4-FFF2-40B4-BE49-F238E27FC236}">
                <a16:creationId xmlns:a16="http://schemas.microsoft.com/office/drawing/2014/main" id="{FA065B31-FB76-73BE-DAE1-69E86F3CA1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08396" y="4973568"/>
            <a:ext cx="7233557" cy="1860096"/>
          </a:xfrm>
          <a:prstGeom prst="rect">
            <a:avLst/>
          </a:prstGeom>
        </p:spPr>
      </p:pic>
      <p:pic>
        <p:nvPicPr>
          <p:cNvPr id="13" name="Immagine 12" descr="Immagine che contiene Carattere, testo, bianco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2AB45641-036A-2773-6B76-A45FC181AC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30529" y="6654887"/>
            <a:ext cx="9247868" cy="2797175"/>
          </a:xfrm>
          <a:prstGeom prst="rect">
            <a:avLst/>
          </a:prstGeom>
        </p:spPr>
      </p:pic>
      <p:pic>
        <p:nvPicPr>
          <p:cNvPr id="14" name="Immagine 13" descr="Immagine che contiene nero, oscurità&#10;&#10;Il contenuto generato dall&amp;#39;IA potrebbe non essere corretto.">
            <a:extLst>
              <a:ext uri="{FF2B5EF4-FFF2-40B4-BE49-F238E27FC236}">
                <a16:creationId xmlns:a16="http://schemas.microsoft.com/office/drawing/2014/main" id="{FF89100A-2B3E-38ED-6FFF-7742CC3AE4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92334" y="8491345"/>
            <a:ext cx="6953250" cy="1894114"/>
          </a:xfrm>
          <a:prstGeom prst="rect">
            <a:avLst/>
          </a:prstGeom>
        </p:spPr>
      </p:pic>
      <p:pic>
        <p:nvPicPr>
          <p:cNvPr id="15" name="Immagine 14" descr="Immagine che contiene Carattere, testo, bianco, calligrafia&#10;&#10;Il contenuto generato dall&amp;#39;IA potrebbe non essere corretto.">
            <a:extLst>
              <a:ext uri="{FF2B5EF4-FFF2-40B4-BE49-F238E27FC236}">
                <a16:creationId xmlns:a16="http://schemas.microsoft.com/office/drawing/2014/main" id="{13D40267-D225-C374-523C-0C0407368F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54983" y="11121222"/>
            <a:ext cx="6175829" cy="1703615"/>
          </a:xfrm>
          <a:prstGeom prst="rect">
            <a:avLst/>
          </a:prstGeom>
        </p:spPr>
      </p:pic>
      <p:pic>
        <p:nvPicPr>
          <p:cNvPr id="16" name="Immagine 15" descr="Immagine che contiene nero, oscurità&#10;&#10;Il contenuto generato dall&amp;#39;IA potrebbe non essere corretto.">
            <a:extLst>
              <a:ext uri="{FF2B5EF4-FFF2-40B4-BE49-F238E27FC236}">
                <a16:creationId xmlns:a16="http://schemas.microsoft.com/office/drawing/2014/main" id="{190F7DAE-1A82-21FD-6E77-D82372E5E28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810820" y="11521953"/>
            <a:ext cx="1390650" cy="581025"/>
          </a:xfrm>
          <a:prstGeom prst="rect">
            <a:avLst/>
          </a:prstGeom>
        </p:spPr>
      </p:pic>
      <p:pic>
        <p:nvPicPr>
          <p:cNvPr id="17" name="Immagine 16" descr="Immagine che contiene Carattere, calligrafia, tipografia, bianco&#10;&#10;Il contenuto generato dall&amp;#39;IA potrebbe non essere corretto.">
            <a:extLst>
              <a:ext uri="{FF2B5EF4-FFF2-40B4-BE49-F238E27FC236}">
                <a16:creationId xmlns:a16="http://schemas.microsoft.com/office/drawing/2014/main" id="{B4B91015-BB3D-0795-CEC3-64ED4DFFB90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689687" y="11554225"/>
            <a:ext cx="6480629" cy="73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77888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E0EDF-CCD9-12D1-A5D0-8A3B01BBC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8C3E43-16C0-4FE9-409D-9C9338AAB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0" y="812800"/>
            <a:ext cx="21470730" cy="2009914"/>
          </a:xfrm>
        </p:spPr>
        <p:txBody>
          <a:bodyPr>
            <a:normAutofit fontScale="90000"/>
          </a:bodyPr>
          <a:lstStyle/>
          <a:p>
            <a:r>
              <a:rPr lang="it-IT" b="1" dirty="0">
                <a:ea typeface="+mn-lt"/>
                <a:cs typeface="+mn-lt"/>
              </a:rPr>
              <a:t>FD1 – Ricostruzione dell'Ingresso Nominale per l'Osservatore</a:t>
            </a:r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73C8114-E0B5-F425-7348-5ACD34208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70000" y="3776087"/>
            <a:ext cx="22186348" cy="4692052"/>
          </a:xfrm>
        </p:spPr>
        <p:txBody>
          <a:bodyPr/>
          <a:lstStyle/>
          <a:p>
            <a:r>
              <a:rPr lang="it-IT" u="sng" dirty="0"/>
              <a:t>Problema</a:t>
            </a:r>
            <a:r>
              <a:rPr lang="it-IT" dirty="0"/>
              <a:t> -&gt; Fault </a:t>
            </a:r>
            <a:r>
              <a:rPr lang="it-IT" dirty="0" err="1"/>
              <a:t>Masking</a:t>
            </a:r>
            <a:br>
              <a:rPr lang="it-IT" dirty="0"/>
            </a:br>
            <a:r>
              <a:rPr lang="it-IT" dirty="0"/>
              <a:t>L'ingresso reale ai motori              contiene il termine di reiezione del disturbo 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r>
              <a:rPr lang="it-IT" u="sng" dirty="0"/>
              <a:t>Soluzione</a:t>
            </a:r>
            <a:r>
              <a:rPr lang="it-IT" dirty="0"/>
              <a:t> -&gt; Ricostruzione Algebrica</a:t>
            </a:r>
            <a:br>
              <a:rPr lang="it-IT" dirty="0"/>
            </a:br>
            <a:r>
              <a:rPr lang="it-IT" dirty="0"/>
              <a:t>Si isola la coppia di </a:t>
            </a:r>
            <a:r>
              <a:rPr lang="it-IT" i="1" dirty="0"/>
              <a:t>tracking</a:t>
            </a:r>
            <a:r>
              <a:rPr lang="it-IT" dirty="0"/>
              <a:t> pura (                ), annullando l'effetto della compensazione interna del DOBC:</a:t>
            </a:r>
          </a:p>
        </p:txBody>
      </p:sp>
      <p:pic>
        <p:nvPicPr>
          <p:cNvPr id="3" name="Immagine 2" descr="Immagine che contiene testo, Carattere, bianco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ECA1C5F5-7DE5-3CB9-7CD8-23E68CDE5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347" y="5862841"/>
            <a:ext cx="12042322" cy="2413000"/>
          </a:xfrm>
          <a:prstGeom prst="rect">
            <a:avLst/>
          </a:prstGeom>
        </p:spPr>
      </p:pic>
      <p:pic>
        <p:nvPicPr>
          <p:cNvPr id="5" name="Immagine 4" descr="Immagine che contiene Carattere, testo, tipografia, bianco&#10;&#10;Il contenuto generato dall&amp;#39;IA potrebbe non essere corretto.">
            <a:extLst>
              <a:ext uri="{FF2B5EF4-FFF2-40B4-BE49-F238E27FC236}">
                <a16:creationId xmlns:a16="http://schemas.microsoft.com/office/drawing/2014/main" id="{65B7795D-BEEA-586A-A1F2-28CA99853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405" y="10930166"/>
            <a:ext cx="7921172" cy="1796597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6A85239B-B0EA-49E9-D4B3-291060C05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05212" y="4449280"/>
            <a:ext cx="1378602" cy="963103"/>
          </a:xfrm>
          <a:prstGeom prst="rect">
            <a:avLst/>
          </a:prstGeom>
        </p:spPr>
      </p:pic>
      <p:pic>
        <p:nvPicPr>
          <p:cNvPr id="7" name="Immagine 6" descr="Immagine che contiene tipografia, Carattere, calligrafia, logo&#10;&#10;Il contenuto generato dall&amp;#39;IA potrebbe non essere corretto.">
            <a:extLst>
              <a:ext uri="{FF2B5EF4-FFF2-40B4-BE49-F238E27FC236}">
                <a16:creationId xmlns:a16="http://schemas.microsoft.com/office/drawing/2014/main" id="{75DA6F06-63C0-EBDD-5B63-2A7DA6865F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228" y="4696229"/>
            <a:ext cx="1378602" cy="689926"/>
          </a:xfrm>
          <a:prstGeom prst="rect">
            <a:avLst/>
          </a:prstGeom>
        </p:spPr>
      </p:pic>
      <p:pic>
        <p:nvPicPr>
          <p:cNvPr id="8" name="Immagine 7" descr="Immagine che contiene Carattere, tipografia, calligrafia&#10;&#10;Il contenuto generato dall&amp;#39;IA potrebbe non essere corretto.">
            <a:extLst>
              <a:ext uri="{FF2B5EF4-FFF2-40B4-BE49-F238E27FC236}">
                <a16:creationId xmlns:a16="http://schemas.microsoft.com/office/drawing/2014/main" id="{F133A875-D7D3-33DC-D72B-B55C83CFE0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4635" y="9497127"/>
            <a:ext cx="1828539" cy="641733"/>
          </a:xfrm>
          <a:prstGeom prst="rect">
            <a:avLst/>
          </a:prstGeom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23B854AE-3A9B-4AF5-E11D-4E05136A3BC5}"/>
              </a:ext>
            </a:extLst>
          </p:cNvPr>
          <p:cNvSpPr txBox="1"/>
          <p:nvPr/>
        </p:nvSpPr>
        <p:spPr>
          <a:xfrm>
            <a:off x="11757991" y="6334780"/>
            <a:ext cx="65" cy="104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l" defTabSz="24384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raphik"/>
              <a:ea typeface="Graphik"/>
              <a:cs typeface="Graphik"/>
              <a:sym typeface="Graphik"/>
            </a:endParaRPr>
          </a:p>
        </p:txBody>
      </p:sp>
    </p:spTree>
    <p:extLst>
      <p:ext uri="{BB962C8B-B14F-4D97-AF65-F5344CB8AC3E}">
        <p14:creationId xmlns:p14="http://schemas.microsoft.com/office/powerpoint/2010/main" val="272507067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C31B39-6231-0BA5-8812-84AF9A75B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ea typeface="+mn-lt"/>
                <a:cs typeface="+mn-lt"/>
              </a:rPr>
              <a:t>FD2 – Equazioni di Parità Attuatori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9A32F0F-3D12-64A0-5BBF-276A5A017A3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70000" y="2408046"/>
            <a:ext cx="21844000" cy="1016000"/>
          </a:xfrm>
        </p:spPr>
        <p:txBody>
          <a:bodyPr/>
          <a:lstStyle/>
          <a:p>
            <a:r>
              <a:rPr lang="it-IT" sz="4800"/>
              <a:t>Obiettivo: rilevare perdita di potenza sui motori</a:t>
            </a:r>
            <a:endParaRPr lang="it-IT"/>
          </a:p>
          <a:p>
            <a:endParaRPr lang="it-IT" sz="52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Segnaposto testo 3">
                <a:extLst>
                  <a:ext uri="{FF2B5EF4-FFF2-40B4-BE49-F238E27FC236}">
                    <a16:creationId xmlns:a16="http://schemas.microsoft.com/office/drawing/2014/main" id="{44F986E3-30BF-7599-9E6A-67F56248051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110974" y="3391345"/>
                <a:ext cx="21844000" cy="83488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it-IT"/>
                  <a:t>La spinta del motore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it-IT"/>
                  <a:t> cambia proporzionalmente al suo valore comandato:</a:t>
                </a:r>
              </a:p>
            </p:txBody>
          </p:sp>
        </mc:Choice>
        <mc:Fallback>
          <p:sp>
            <p:nvSpPr>
              <p:cNvPr id="4" name="Segnaposto testo 3">
                <a:extLst>
                  <a:ext uri="{FF2B5EF4-FFF2-40B4-BE49-F238E27FC236}">
                    <a16:creationId xmlns:a16="http://schemas.microsoft.com/office/drawing/2014/main" id="{44F986E3-30BF-7599-9E6A-67F5624805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110974" y="3391345"/>
                <a:ext cx="21844000" cy="834887"/>
              </a:xfrm>
              <a:blipFill>
                <a:blip r:embed="rId2"/>
                <a:stretch>
                  <a:fillRect l="-1451" t="-15328" b="-3868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egnaposto testo 3">
            <a:extLst>
              <a:ext uri="{FF2B5EF4-FFF2-40B4-BE49-F238E27FC236}">
                <a16:creationId xmlns:a16="http://schemas.microsoft.com/office/drawing/2014/main" id="{44255FD2-07F2-4C0C-1B84-F821E19A5CE5}"/>
              </a:ext>
            </a:extLst>
          </p:cNvPr>
          <p:cNvSpPr txBox="1">
            <a:spLocks/>
          </p:cNvSpPr>
          <p:nvPr/>
        </p:nvSpPr>
        <p:spPr bwMode="auto">
          <a:xfrm>
            <a:off x="1240593" y="6715121"/>
            <a:ext cx="22047200" cy="2794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>
            <a:lvl1pPr marL="5588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1pPr>
            <a:lvl2pPr marL="11176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2pPr>
            <a:lvl3pPr marL="16764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3pPr>
            <a:lvl4pPr marL="22352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4pPr>
            <a:lvl5pPr marL="27940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5pPr>
            <a:lvl6pPr marL="33528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6pPr>
            <a:lvl7pPr marL="39116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7pPr>
            <a:lvl8pPr marL="44704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8pPr>
            <a:lvl9pPr marL="50292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9pPr>
          </a:lstStyle>
          <a:p>
            <a:r>
              <a:rPr lang="it-IT" kern="0" dirty="0"/>
              <a:t>Variazione di coppia indotta dal guasto -&gt; </a:t>
            </a:r>
          </a:p>
          <a:p>
            <a:pPr marL="0" indent="0">
              <a:buNone/>
            </a:pPr>
            <a:endParaRPr lang="it-IT" kern="0" dirty="0"/>
          </a:p>
          <a:p>
            <a:r>
              <a:rPr lang="it-IT" dirty="0"/>
              <a:t>Il controllore maschera il guasto compensandolo. La stima        assorbe l'anomalia:</a:t>
            </a:r>
            <a:endParaRPr lang="it-IT" kern="0" dirty="0"/>
          </a:p>
        </p:txBody>
      </p:sp>
      <p:pic>
        <p:nvPicPr>
          <p:cNvPr id="5" name="Immagine 4" descr="Immagine che contiene testo, Carattere, bianco, calligrafia&#10;&#10;Il contenuto generato dall&amp;#39;IA potrebbe non essere corretto.">
            <a:extLst>
              <a:ext uri="{FF2B5EF4-FFF2-40B4-BE49-F238E27FC236}">
                <a16:creationId xmlns:a16="http://schemas.microsoft.com/office/drawing/2014/main" id="{A98C6645-8EA0-E404-E449-A10B6134C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8718" y="4604615"/>
            <a:ext cx="19030950" cy="1333500"/>
          </a:xfrm>
          <a:prstGeom prst="rect">
            <a:avLst/>
          </a:prstGeom>
        </p:spPr>
      </p:pic>
      <p:pic>
        <p:nvPicPr>
          <p:cNvPr id="6" name="Immagine 5" descr="Immagine che contiene Carattere, testo, calligrafia, tipografia&#10;&#10;Il contenuto generato dall&amp;#39;IA potrebbe non essere corretto.">
            <a:extLst>
              <a:ext uri="{FF2B5EF4-FFF2-40B4-BE49-F238E27FC236}">
                <a16:creationId xmlns:a16="http://schemas.microsoft.com/office/drawing/2014/main" id="{902AEA5D-365F-AEB1-9AB3-4D71B0FD2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9604" y="6713114"/>
            <a:ext cx="8168821" cy="105591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E710117-75C5-347D-0A7E-FDEE251FA1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624" y="10444250"/>
            <a:ext cx="13592751" cy="196762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5AC8BE6F-1C5A-4155-F9CD-D6D4B4986BA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9456" t="-418"/>
          <a:stretch>
            <a:fillRect/>
          </a:stretch>
        </p:blipFill>
        <p:spPr>
          <a:xfrm>
            <a:off x="16358262" y="8702121"/>
            <a:ext cx="972512" cy="96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69945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CBB74-0237-1B18-776B-0ECCB6A71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038E4C-8202-CC72-A701-5CB3969A5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0" y="812800"/>
            <a:ext cx="21033409" cy="1595246"/>
          </a:xfrm>
        </p:spPr>
        <p:txBody>
          <a:bodyPr>
            <a:normAutofit fontScale="90000"/>
          </a:bodyPr>
          <a:lstStyle/>
          <a:p>
            <a:r>
              <a:rPr lang="it-IT" b="1" dirty="0">
                <a:ea typeface="+mn-lt"/>
                <a:cs typeface="+mn-lt"/>
              </a:rPr>
              <a:t>FD2 – </a:t>
            </a:r>
            <a:r>
              <a:rPr lang="it-IT" b="1" dirty="0"/>
              <a:t>Residui Strutturati: Proiezione sulla Firma del Motore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6E75139C-ADC7-4CA7-879E-1B26E0499713}"/>
                  </a:ext>
                </a:extLst>
              </p:cNvPr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1270000" y="2408046"/>
                <a:ext cx="21844000" cy="1016000"/>
              </a:xfrm>
            </p:spPr>
            <p:txBody>
              <a:bodyPr/>
              <a:lstStyle/>
              <a:p>
                <a:r>
                  <a:rPr lang="it-IT" sz="4800" dirty="0"/>
                  <a:t>Obiettivo: Creare un residuo sensibile solo al motore </a:t>
                </a:r>
                <a14:m>
                  <m:oMath xmlns:m="http://schemas.openxmlformats.org/officeDocument/2006/math">
                    <m:r>
                      <a:rPr lang="it-IT" sz="4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it-IT" sz="5250" dirty="0"/>
              </a:p>
            </p:txBody>
          </p:sp>
        </mc:Choice>
        <mc:Fallback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6E75139C-ADC7-4CA7-879E-1B26E04997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1270000" y="2408046"/>
                <a:ext cx="21844000" cy="1016000"/>
              </a:xfrm>
              <a:blipFill>
                <a:blip r:embed="rId2"/>
                <a:stretch>
                  <a:fillRect t="-12575" b="-1377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Segnaposto testo 3">
                <a:extLst>
                  <a:ext uri="{FF2B5EF4-FFF2-40B4-BE49-F238E27FC236}">
                    <a16:creationId xmlns:a16="http://schemas.microsoft.com/office/drawing/2014/main" id="{A535163E-994C-161A-C44D-70FDA380CBD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183544" y="3405859"/>
                <a:ext cx="22918058" cy="108163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it-IT" sz="4400" dirty="0"/>
                  <a:t>Si proietta la stima del DOBC sulla direzione geometrica specifica (colonna </a:t>
                </a:r>
                <a14:m>
                  <m:oMath xmlns:m="http://schemas.openxmlformats.org/officeDocument/2006/math">
                    <m:r>
                      <a:rPr lang="it-IT" sz="4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it-IT" sz="4400" dirty="0"/>
                  <a:t>) della matrice F_2</a:t>
                </a:r>
              </a:p>
            </p:txBody>
          </p:sp>
        </mc:Choice>
        <mc:Fallback>
          <p:sp>
            <p:nvSpPr>
              <p:cNvPr id="4" name="Segnaposto testo 3">
                <a:extLst>
                  <a:ext uri="{FF2B5EF4-FFF2-40B4-BE49-F238E27FC236}">
                    <a16:creationId xmlns:a16="http://schemas.microsoft.com/office/drawing/2014/main" id="{A535163E-994C-161A-C44D-70FDA380CB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183544" y="3405859"/>
                <a:ext cx="22918058" cy="1081630"/>
              </a:xfrm>
              <a:blipFill>
                <a:blip r:embed="rId3"/>
                <a:stretch>
                  <a:fillRect l="-1250" t="-1129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egnaposto testo 3">
            <a:extLst>
              <a:ext uri="{FF2B5EF4-FFF2-40B4-BE49-F238E27FC236}">
                <a16:creationId xmlns:a16="http://schemas.microsoft.com/office/drawing/2014/main" id="{0D1A14AF-56E5-E7C0-E82D-665C603B0C55}"/>
              </a:ext>
            </a:extLst>
          </p:cNvPr>
          <p:cNvSpPr txBox="1">
            <a:spLocks/>
          </p:cNvSpPr>
          <p:nvPr/>
        </p:nvSpPr>
        <p:spPr bwMode="auto">
          <a:xfrm>
            <a:off x="1190486" y="6432877"/>
            <a:ext cx="21192435" cy="4293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>
            <a:lvl1pPr marL="5588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1pPr>
            <a:lvl2pPr marL="11176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2pPr>
            <a:lvl3pPr marL="16764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3pPr>
            <a:lvl4pPr marL="22352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4pPr>
            <a:lvl5pPr marL="27940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5pPr>
            <a:lvl6pPr marL="33528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6pPr>
            <a:lvl7pPr marL="39116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7pPr>
            <a:lvl8pPr marL="44704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8pPr>
            <a:lvl9pPr marL="50292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9pPr>
          </a:lstStyle>
          <a:p>
            <a:r>
              <a:rPr lang="it-IT" sz="4400" u="sng" kern="0" dirty="0"/>
              <a:t>Problema della Deriva</a:t>
            </a:r>
            <a:r>
              <a:rPr lang="it-IT" sz="4400" kern="0" dirty="0"/>
              <a:t>:</a:t>
            </a:r>
            <a:br>
              <a:rPr lang="it-IT" sz="4400" kern="0" dirty="0"/>
            </a:br>
            <a:r>
              <a:rPr lang="it-IT" sz="4400" dirty="0"/>
              <a:t>Spirale ascendente e vento a bassa frequenza causano un offset naturale in            , rendendo inefficaci le soglie statiche</a:t>
            </a:r>
          </a:p>
          <a:p>
            <a:r>
              <a:rPr lang="it-IT" sz="4400" u="sng" kern="0" dirty="0"/>
              <a:t>Soluzione</a:t>
            </a:r>
            <a:r>
              <a:rPr lang="it-IT" sz="4400" kern="0" dirty="0"/>
              <a:t> -&gt; Soglie Adattive</a:t>
            </a:r>
            <a:br>
              <a:rPr lang="it-IT" sz="4400" kern="0" dirty="0"/>
            </a:br>
            <a:r>
              <a:rPr lang="it-IT" sz="4400" dirty="0"/>
              <a:t>Implementazione di un filtro Passa-Alto (</a:t>
            </a:r>
            <a:r>
              <a:rPr lang="it-IT" sz="4400" dirty="0" err="1"/>
              <a:t>Washout</a:t>
            </a:r>
            <a:r>
              <a:rPr lang="it-IT" sz="4400" dirty="0"/>
              <a:t> Filter) con costante di tempo τ=40s.</a:t>
            </a:r>
            <a:endParaRPr lang="it-IT" sz="4400" kern="0" dirty="0"/>
          </a:p>
        </p:txBody>
      </p:sp>
      <p:pic>
        <p:nvPicPr>
          <p:cNvPr id="15" name="Immagine 14" descr="Immagine che contiene nero, oscurità&#10;&#10;Il contenuto generato dall&amp;#39;IA potrebbe non essere corretto.">
            <a:extLst>
              <a:ext uri="{FF2B5EF4-FFF2-40B4-BE49-F238E27FC236}">
                <a16:creationId xmlns:a16="http://schemas.microsoft.com/office/drawing/2014/main" id="{A3D05B48-964E-2E78-702A-A0822FB39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271" y="11693172"/>
            <a:ext cx="1566864" cy="490538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C93EE670-7571-C572-C620-5764BB149B0C}"/>
              </a:ext>
            </a:extLst>
          </p:cNvPr>
          <p:cNvSpPr txBox="1"/>
          <p:nvPr/>
        </p:nvSpPr>
        <p:spPr>
          <a:xfrm>
            <a:off x="13304622" y="10471372"/>
            <a:ext cx="5833520" cy="29341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fontAlgn="auto">
              <a:spcBef>
                <a:spcPts val="2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t-IT" sz="3600" dirty="0"/>
              <a:t>Elimina derive lente e variazioni continue.</a:t>
            </a:r>
          </a:p>
          <a:p>
            <a:pPr marL="685800" indent="-685800" fontAlgn="auto">
              <a:spcBef>
                <a:spcPts val="2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t-IT" sz="3600" dirty="0"/>
              <a:t>Preserva il fronte ripido del guasto a gradino.</a:t>
            </a:r>
            <a:endParaRPr kumimoji="0" lang="it-IT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raphik"/>
              <a:ea typeface="Graphik"/>
              <a:cs typeface="Graphik"/>
              <a:sym typeface="Graphik"/>
            </a:endParaRPr>
          </a:p>
        </p:txBody>
      </p:sp>
      <p:pic>
        <p:nvPicPr>
          <p:cNvPr id="5" name="Immagine 4" descr="Immagine che contiene Carattere, tipografia, testo, bianco&#10;&#10;Il contenuto generato dall&amp;#39;IA potrebbe non essere corretto.">
            <a:extLst>
              <a:ext uri="{FF2B5EF4-FFF2-40B4-BE49-F238E27FC236}">
                <a16:creationId xmlns:a16="http://schemas.microsoft.com/office/drawing/2014/main" id="{E832806E-6B57-7EB1-01BE-E1EBCA79BB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657" y="4367102"/>
            <a:ext cx="14906626" cy="1623333"/>
          </a:xfrm>
          <a:prstGeom prst="rect">
            <a:avLst/>
          </a:prstGeom>
        </p:spPr>
      </p:pic>
      <p:pic>
        <p:nvPicPr>
          <p:cNvPr id="8" name="Immagine 7" descr="Immagine che contiene testo, Carattere, diagramm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CFBE7BAF-8476-D97D-5C86-5AA4526F16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1759" y="10845669"/>
            <a:ext cx="6702879" cy="2180317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722E453D-BA2E-1223-9E50-25FADB6CE16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9456" t="-418"/>
          <a:stretch>
            <a:fillRect/>
          </a:stretch>
        </p:blipFill>
        <p:spPr>
          <a:xfrm>
            <a:off x="19138142" y="7001430"/>
            <a:ext cx="972512" cy="96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86691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D633E8-EF08-2E21-1DDE-990CFE3E7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>
                <a:ea typeface="+mn-lt"/>
                <a:cs typeface="+mn-lt"/>
              </a:rPr>
              <a:t>FD3 – Filtro Complementare GPS</a:t>
            </a:r>
            <a:endParaRPr lang="it-IT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7F0E64B-3696-7CFB-0FD6-1549BD00284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70000" y="2408046"/>
            <a:ext cx="21844000" cy="1016000"/>
          </a:xfrm>
        </p:spPr>
        <p:txBody>
          <a:bodyPr/>
          <a:lstStyle/>
          <a:p>
            <a:r>
              <a:rPr lang="it-IT" sz="4800"/>
              <a:t>Obiettivo: rilevare guasti additivi su pp (posizione GPS).</a:t>
            </a:r>
            <a:endParaRPr lang="it-IT"/>
          </a:p>
          <a:p>
            <a:endParaRPr lang="it-IT" sz="5250"/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502A3533-BAEB-0625-E8D5-B97AA97CF54E}"/>
              </a:ext>
            </a:extLst>
          </p:cNvPr>
          <p:cNvSpPr txBox="1">
            <a:spLocks/>
          </p:cNvSpPr>
          <p:nvPr/>
        </p:nvSpPr>
        <p:spPr bwMode="auto">
          <a:xfrm>
            <a:off x="1271326" y="3413439"/>
            <a:ext cx="21902057" cy="6386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>
            <a:lvl1pPr marL="0" indent="0" algn="ctr" defTabSz="808990" rtl="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None/>
              <a:defRPr sz="5292">
                <a:solidFill>
                  <a:srgbClr val="000000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11176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2pPr>
            <a:lvl3pPr marL="16764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3pPr>
            <a:lvl4pPr marL="22352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4pPr>
            <a:lvl5pPr marL="27940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5pPr>
            <a:lvl6pPr marL="33528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6pPr>
            <a:lvl7pPr marL="39116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7pPr>
            <a:lvl8pPr marL="44704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8pPr>
            <a:lvl9pPr marL="50292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9pPr>
          </a:lstStyle>
          <a:p>
            <a:pPr algn="l"/>
            <a:r>
              <a:rPr lang="it-IT" sz="4800" u="sng" kern="0"/>
              <a:t>Problema</a:t>
            </a:r>
            <a:r>
              <a:rPr lang="it-IT" sz="4800" kern="0"/>
              <a:t>: nascondere </a:t>
            </a:r>
            <a:r>
              <a:rPr lang="it-IT" sz="4800" kern="0" err="1"/>
              <a:t>p_noisy</a:t>
            </a:r>
            <a:r>
              <a:rPr lang="it-IT" sz="4800" kern="0"/>
              <a:t> dall'osservatore renderebbe il sistema non osservabile → impossibile il pole placement.</a:t>
            </a:r>
            <a:br>
              <a:rPr lang="it-IT" sz="4800" kern="0"/>
            </a:br>
            <a:endParaRPr lang="it-IT"/>
          </a:p>
          <a:p>
            <a:pPr algn="l"/>
            <a:r>
              <a:rPr lang="it-IT" sz="4800" u="sng" kern="0"/>
              <a:t>Soluzione</a:t>
            </a:r>
            <a:r>
              <a:rPr lang="it-IT" sz="4800" kern="0"/>
              <a:t>: filtro complementare con guadagno </a:t>
            </a:r>
            <a:r>
              <a:rPr lang="it-IT" sz="4800" kern="0" err="1"/>
              <a:t>K_comp</a:t>
            </a:r>
            <a:r>
              <a:rPr lang="it-IT" sz="4800" kern="0"/>
              <a:t> = 0.05⋅I molto piccolo. </a:t>
            </a:r>
            <a:endParaRPr lang="it-IT"/>
          </a:p>
          <a:p>
            <a:pPr algn="l"/>
            <a:r>
              <a:rPr lang="it-IT" sz="4800" kern="0"/>
              <a:t>Si integra </a:t>
            </a:r>
            <a:r>
              <a:rPr lang="it-IT" sz="4800" kern="0" err="1"/>
              <a:t>p˙noisy</a:t>
            </a:r>
            <a:r>
              <a:rPr lang="it-IT" sz="4800" kern="0"/>
              <a:t> per stimare la posizione senza usare il GPS e si aggiunge una forza di richiamo al sensore per evitare la deriva dovuta all’integrazione di un segnale rumoroso.</a:t>
            </a:r>
            <a:endParaRPr lang="it-IT"/>
          </a:p>
          <a:p>
            <a:pPr algn="l"/>
            <a:endParaRPr lang="it-IT" sz="4800" kern="0"/>
          </a:p>
          <a:p>
            <a:endParaRPr lang="it-IT" sz="5250" kern="0"/>
          </a:p>
        </p:txBody>
      </p:sp>
      <p:pic>
        <p:nvPicPr>
          <p:cNvPr id="9" name="Immagine 8" descr="Immagine che contiene Carattere, testo, bianco, Elementi grafici&#10;&#10;Il contenuto generato dall&amp;#39;IA potrebbe non essere corretto.">
            <a:extLst>
              <a:ext uri="{FF2B5EF4-FFF2-40B4-BE49-F238E27FC236}">
                <a16:creationId xmlns:a16="http://schemas.microsoft.com/office/drawing/2014/main" id="{A20E0DD6-A9AF-17E2-4FDA-B3942D28F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230" y="8840091"/>
            <a:ext cx="13193032" cy="269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91620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56E8D-E81C-EA99-CC6F-8F041B9FC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rategia di Iniezione Guasti">
            <a:extLst>
              <a:ext uri="{FF2B5EF4-FFF2-40B4-BE49-F238E27FC236}">
                <a16:creationId xmlns:a16="http://schemas.microsoft.com/office/drawing/2014/main" id="{028F619D-1DDE-D68F-6B00-F97728CA57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5000" y="630316"/>
            <a:ext cx="20574000" cy="1557337"/>
          </a:xfrm>
        </p:spPr>
        <p:txBody>
          <a:bodyPr/>
          <a:lstStyle>
            <a:lvl1pPr>
              <a:defRPr sz="7000" spc="-209"/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/>
              <a:t>FD3 – Filtro Complementare GPS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0975197-3EE6-2A39-32BA-D023685B1099}"/>
              </a:ext>
            </a:extLst>
          </p:cNvPr>
          <p:cNvSpPr txBox="1"/>
          <p:nvPr/>
        </p:nvSpPr>
        <p:spPr>
          <a:xfrm>
            <a:off x="5199170" y="1412697"/>
            <a:ext cx="13951426" cy="3365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endParaRPr lang="it-IT"/>
          </a:p>
          <a:p>
            <a:r>
              <a:rPr lang="it-IT"/>
              <a:t>Obiettivo: rilevare guasti additivi su pp (posizione GPS).</a:t>
            </a:r>
          </a:p>
          <a:p>
            <a:endParaRPr lang="it-IT"/>
          </a:p>
          <a:p>
            <a:pPr>
              <a:spcBef>
                <a:spcPts val="2400"/>
              </a:spcBef>
              <a:spcAft>
                <a:spcPts val="0"/>
              </a:spcAft>
            </a:pPr>
            <a:endParaRPr lang="it-IT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27A064B6-90AE-E06F-44F1-001358389104}"/>
              </a:ext>
            </a:extLst>
          </p:cNvPr>
          <p:cNvSpPr txBox="1"/>
          <p:nvPr/>
        </p:nvSpPr>
        <p:spPr>
          <a:xfrm>
            <a:off x="8885581" y="3183456"/>
            <a:ext cx="11231220" cy="11661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4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/>
                <a:ea typeface="Graphik"/>
                <a:cs typeface="Graphik"/>
                <a:sym typeface="Graphik"/>
              </a:rPr>
              <a:t> Nell’equazione del filtro si sostituisce la x:</a:t>
            </a:r>
          </a:p>
        </p:txBody>
      </p:sp>
      <p:pic>
        <p:nvPicPr>
          <p:cNvPr id="32" name="Immagine 31">
            <a:extLst>
              <a:ext uri="{FF2B5EF4-FFF2-40B4-BE49-F238E27FC236}">
                <a16:creationId xmlns:a16="http://schemas.microsoft.com/office/drawing/2014/main" id="{AC50F892-127C-722F-92E5-2777FF211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050" y="9924256"/>
            <a:ext cx="5778019" cy="967360"/>
          </a:xfrm>
          <a:prstGeom prst="rect">
            <a:avLst/>
          </a:prstGeom>
        </p:spPr>
      </p:pic>
      <p:sp>
        <p:nvSpPr>
          <p:cNvPr id="37" name="Freccia a destra 36">
            <a:extLst>
              <a:ext uri="{FF2B5EF4-FFF2-40B4-BE49-F238E27FC236}">
                <a16:creationId xmlns:a16="http://schemas.microsoft.com/office/drawing/2014/main" id="{15540038-B165-82B8-9FFB-541B774E8F75}"/>
              </a:ext>
            </a:extLst>
          </p:cNvPr>
          <p:cNvSpPr/>
          <p:nvPr/>
        </p:nvSpPr>
        <p:spPr>
          <a:xfrm>
            <a:off x="7872618" y="10114167"/>
            <a:ext cx="1987826" cy="587538"/>
          </a:xfrm>
          <a:prstGeom prst="rightArrow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DBD750E9-FFAF-D03D-FA9D-844DE8071D22}"/>
              </a:ext>
            </a:extLst>
          </p:cNvPr>
          <p:cNvSpPr txBox="1"/>
          <p:nvPr/>
        </p:nvSpPr>
        <p:spPr>
          <a:xfrm>
            <a:off x="10329116" y="9552672"/>
            <a:ext cx="11231220" cy="11490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4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/>
                <a:ea typeface="Graphik"/>
                <a:cs typeface="Graphik"/>
                <a:sym typeface="Graphik"/>
              </a:rPr>
              <a:t>Soluzione a regime (con Guasto a rampa)</a:t>
            </a:r>
          </a:p>
        </p:txBody>
      </p: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EA40AFCB-FE04-9863-3FAE-F142E2089D51}"/>
              </a:ext>
            </a:extLst>
          </p:cNvPr>
          <p:cNvGrpSpPr/>
          <p:nvPr/>
        </p:nvGrpSpPr>
        <p:grpSpPr>
          <a:xfrm>
            <a:off x="907717" y="3298301"/>
            <a:ext cx="6540661" cy="5368727"/>
            <a:chOff x="1906991" y="3076022"/>
            <a:chExt cx="6540661" cy="5368727"/>
          </a:xfrm>
        </p:grpSpPr>
        <p:pic>
          <p:nvPicPr>
            <p:cNvPr id="8" name="Immagine 7" descr="Immagine che contiene testo, Carattere, schizzo, calligrafia&#10;&#10;Il contenuto generato dall&amp;#39;IA potrebbe non essere corretto.">
              <a:extLst>
                <a:ext uri="{FF2B5EF4-FFF2-40B4-BE49-F238E27FC236}">
                  <a16:creationId xmlns:a16="http://schemas.microsoft.com/office/drawing/2014/main" id="{400FD140-F8BD-FECB-5F60-07BC1A378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06991" y="3076022"/>
              <a:ext cx="5986550" cy="2581095"/>
            </a:xfrm>
            <a:prstGeom prst="rect">
              <a:avLst/>
            </a:prstGeom>
          </p:spPr>
        </p:pic>
        <p:pic>
          <p:nvPicPr>
            <p:cNvPr id="11" name="Immagine 10" descr="Immagine che contiene Carattere, testo, bianco, diagramma&#10;&#10;Il contenuto generato dall&amp;#39;IA potrebbe non essere corretto.">
              <a:extLst>
                <a:ext uri="{FF2B5EF4-FFF2-40B4-BE49-F238E27FC236}">
                  <a16:creationId xmlns:a16="http://schemas.microsoft.com/office/drawing/2014/main" id="{255480A8-C625-7DCD-31E7-FD11C9559F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06776" y="5394751"/>
              <a:ext cx="6440876" cy="1500097"/>
            </a:xfrm>
            <a:prstGeom prst="rect">
              <a:avLst/>
            </a:prstGeom>
          </p:spPr>
        </p:pic>
        <p:pic>
          <p:nvPicPr>
            <p:cNvPr id="13" name="Immagine 12" descr="Immagine che contiene Carattere, testo, bianco, tipografia&#10;&#10;Il contenuto generato dall&amp;#39;IA potrebbe non essere corretto.">
              <a:extLst>
                <a:ext uri="{FF2B5EF4-FFF2-40B4-BE49-F238E27FC236}">
                  <a16:creationId xmlns:a16="http://schemas.microsoft.com/office/drawing/2014/main" id="{6B2CE7B6-6B28-3CB6-2816-418DAC06F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25573" y="6876539"/>
              <a:ext cx="5028840" cy="1568210"/>
            </a:xfrm>
            <a:prstGeom prst="rect">
              <a:avLst/>
            </a:prstGeom>
          </p:spPr>
        </p:pic>
      </p:grpSp>
      <p:pic>
        <p:nvPicPr>
          <p:cNvPr id="16" name="Immagine 15" descr="Immagine che contiene testo, Carattere, bianco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2666556B-A245-2D5F-4348-BF05F0786E2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672" t="22341" r="14059" b="25154"/>
          <a:stretch>
            <a:fillRect/>
          </a:stretch>
        </p:blipFill>
        <p:spPr>
          <a:xfrm>
            <a:off x="9067786" y="4597540"/>
            <a:ext cx="7826881" cy="1184483"/>
          </a:xfrm>
          <a:prstGeom prst="rect">
            <a:avLst/>
          </a:prstGeom>
        </p:spPr>
      </p:pic>
      <p:pic>
        <p:nvPicPr>
          <p:cNvPr id="18" name="Immagine 17" descr="Immagine che contiene testo, Carattere, bianco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18A140D5-3CA2-F2A8-1C92-1CCEADE44F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8515" y="5931647"/>
            <a:ext cx="5475437" cy="1490752"/>
          </a:xfrm>
          <a:prstGeom prst="rect">
            <a:avLst/>
          </a:prstGeom>
        </p:spPr>
      </p:pic>
      <p:pic>
        <p:nvPicPr>
          <p:cNvPr id="21" name="Immagine 20" descr="Immagine che contiene testo, Carattere, numero, bianco&#10;&#10;Il contenuto generato dall&amp;#39;IA potrebbe non essere corretto.">
            <a:extLst>
              <a:ext uri="{FF2B5EF4-FFF2-40B4-BE49-F238E27FC236}">
                <a16:creationId xmlns:a16="http://schemas.microsoft.com/office/drawing/2014/main" id="{3E09D23E-F430-061B-C9FE-C7CB60CE54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24217" y="5852466"/>
            <a:ext cx="6036512" cy="1557425"/>
          </a:xfrm>
          <a:prstGeom prst="rect">
            <a:avLst/>
          </a:prstGeom>
        </p:spPr>
      </p:pic>
      <p:pic>
        <p:nvPicPr>
          <p:cNvPr id="23" name="Immagine 22" descr="Immagine che contiene Carattere, Rettangolo, numero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DF52042E-D7AF-2A3E-BBF1-3F8C53CAE2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67786" y="7201049"/>
            <a:ext cx="3040105" cy="2030494"/>
          </a:xfrm>
          <a:prstGeom prst="rect">
            <a:avLst/>
          </a:prstGeom>
        </p:spPr>
      </p:pic>
      <p:pic>
        <p:nvPicPr>
          <p:cNvPr id="27" name="Immagine 26" descr="Immagine che contiene testo, Carattere, bianco, logo&#10;&#10;Il contenuto generato dall&amp;#39;IA potrebbe non essere corretto.">
            <a:extLst>
              <a:ext uri="{FF2B5EF4-FFF2-40B4-BE49-F238E27FC236}">
                <a16:creationId xmlns:a16="http://schemas.microsoft.com/office/drawing/2014/main" id="{BD2CEE7D-595E-9B79-CE67-4D7F286457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24217" y="7036812"/>
            <a:ext cx="3546714" cy="1577375"/>
          </a:xfrm>
          <a:prstGeom prst="rect">
            <a:avLst/>
          </a:prstGeom>
        </p:spPr>
      </p:pic>
      <p:pic>
        <p:nvPicPr>
          <p:cNvPr id="29" name="Immagine 28" descr="Immagine che contiene testo, Carattere, bianco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5E6C73E4-4173-3A62-5FA8-A4F9B7BB728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29116" y="10891616"/>
            <a:ext cx="6377734" cy="197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87866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20B74-0225-EF2F-E0F7-CAD374B9F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rategia di Iniezione Guasti">
            <a:extLst>
              <a:ext uri="{FF2B5EF4-FFF2-40B4-BE49-F238E27FC236}">
                <a16:creationId xmlns:a16="http://schemas.microsoft.com/office/drawing/2014/main" id="{52D328A6-8517-9746-3956-35EB1B6B32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5000" y="630316"/>
            <a:ext cx="20574000" cy="1557337"/>
          </a:xfrm>
        </p:spPr>
        <p:txBody>
          <a:bodyPr/>
          <a:lstStyle>
            <a:lvl1pPr>
              <a:defRPr sz="7000" spc="-209"/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>
                <a:ea typeface="+mn-lt"/>
                <a:cs typeface="+mn-lt"/>
              </a:rPr>
              <a:t>Architettura </a:t>
            </a:r>
            <a:r>
              <a:rPr lang="it-IT" b="1" err="1">
                <a:ea typeface="+mn-lt"/>
                <a:cs typeface="+mn-lt"/>
              </a:rPr>
              <a:t>Simulink</a:t>
            </a:r>
            <a:r>
              <a:rPr lang="it-IT" b="1">
                <a:ea typeface="+mn-lt"/>
                <a:cs typeface="+mn-lt"/>
              </a:rPr>
              <a:t> del Modulo FD</a:t>
            </a:r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51BC1FA-B606-E909-31B0-09EB14AA15DC}"/>
              </a:ext>
            </a:extLst>
          </p:cNvPr>
          <p:cNvSpPr txBox="1"/>
          <p:nvPr/>
        </p:nvSpPr>
        <p:spPr>
          <a:xfrm>
            <a:off x="1879565" y="2175343"/>
            <a:ext cx="20594497" cy="26263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/>
              <a:t>Implementazione Simulink — Modulo Fault Detection</a:t>
            </a:r>
          </a:p>
          <a:p>
            <a:pPr algn="ctr"/>
            <a:endParaRPr lang="it-IT"/>
          </a:p>
          <a:p>
            <a:pPr>
              <a:spcBef>
                <a:spcPts val="2400"/>
              </a:spcBef>
              <a:spcAft>
                <a:spcPts val="0"/>
              </a:spcAft>
            </a:pPr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B32EEF1-3F1D-4AFA-DCA5-9AF831207268}"/>
              </a:ext>
            </a:extLst>
          </p:cNvPr>
          <p:cNvSpPr txBox="1"/>
          <p:nvPr/>
        </p:nvSpPr>
        <p:spPr>
          <a:xfrm>
            <a:off x="12514318" y="4690795"/>
            <a:ext cx="10425485" cy="63196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/>
              <a:t>Uscite (3 residui):</a:t>
            </a:r>
            <a:endParaRPr lang="it-IT"/>
          </a:p>
          <a:p>
            <a:pPr marL="285750" indent="-285750">
              <a:buFont typeface="Arial"/>
              <a:buChar char="•"/>
            </a:pPr>
            <a:r>
              <a:rPr lang="it-IT" err="1">
                <a:latin typeface="Consolas"/>
              </a:rPr>
              <a:t>r_gyro</a:t>
            </a:r>
            <a:r>
              <a:rPr lang="it-IT"/>
              <a:t> — residuo osservatore giroscopio (FD1)</a:t>
            </a:r>
          </a:p>
          <a:p>
            <a:pPr marL="285750" indent="-285750">
              <a:buFont typeface="Arial"/>
              <a:buChar char="•"/>
            </a:pPr>
            <a:r>
              <a:rPr lang="it-IT" err="1">
                <a:latin typeface="Consolas"/>
              </a:rPr>
              <a:t>r_act</a:t>
            </a:r>
            <a:r>
              <a:rPr lang="it-IT"/>
              <a:t> — residuo equazione di parità attuatori, vettore 3D (FD2)</a:t>
            </a:r>
          </a:p>
          <a:p>
            <a:pPr marL="285750" indent="-285750">
              <a:buFont typeface="Arial"/>
              <a:buChar char="•"/>
            </a:pPr>
            <a:r>
              <a:rPr lang="it-IT" err="1">
                <a:latin typeface="Consolas"/>
              </a:rPr>
              <a:t>r_gps</a:t>
            </a:r>
            <a:r>
              <a:rPr lang="it-IT"/>
              <a:t> — residuo filtro complementare GPS (FD3)</a:t>
            </a:r>
          </a:p>
          <a:p>
            <a:pPr marL="0" marR="0" indent="0" algn="l" defTabSz="243840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it-IT" sz="4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/>
              <a:ea typeface="Graphik"/>
              <a:cs typeface="Graphik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5017ACC-C09F-B80E-C008-3D8394F4BD6A}"/>
              </a:ext>
            </a:extLst>
          </p:cNvPr>
          <p:cNvSpPr txBox="1"/>
          <p:nvPr/>
        </p:nvSpPr>
        <p:spPr>
          <a:xfrm>
            <a:off x="1648557" y="4879731"/>
            <a:ext cx="3461971" cy="224203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24384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4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/>
              <a:ea typeface="Graphik"/>
              <a:cs typeface="Graphik"/>
              <a:sym typeface="Graphik"/>
            </a:endParaRPr>
          </a:p>
        </p:txBody>
      </p:sp>
      <p:pic>
        <p:nvPicPr>
          <p:cNvPr id="7" name="Immagine 6" descr="Immagine che contiene testo, schermata, diagramma, Parallelo&#10;&#10;Il contenuto generato dall&amp;#39;IA potrebbe non essere corretto.">
            <a:extLst>
              <a:ext uri="{FF2B5EF4-FFF2-40B4-BE49-F238E27FC236}">
                <a16:creationId xmlns:a16="http://schemas.microsoft.com/office/drawing/2014/main" id="{4C72EBDD-AEF4-E48C-3E1E-A71F6A7EE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354" y="3852182"/>
            <a:ext cx="10517414" cy="837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2684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684AD-17FE-D88F-5E9A-BC0DF4B19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rategia di Iniezione Guasti">
            <a:extLst>
              <a:ext uri="{FF2B5EF4-FFF2-40B4-BE49-F238E27FC236}">
                <a16:creationId xmlns:a16="http://schemas.microsoft.com/office/drawing/2014/main" id="{70883FA7-8742-B1C0-40C8-3FB546097F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5000" y="630316"/>
            <a:ext cx="20574000" cy="1557337"/>
          </a:xfrm>
        </p:spPr>
        <p:txBody>
          <a:bodyPr/>
          <a:lstStyle>
            <a:lvl1pPr>
              <a:defRPr sz="7000" spc="-209"/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>
                <a:ea typeface="+mn-lt"/>
                <a:cs typeface="+mn-lt"/>
              </a:rPr>
              <a:t>Interno del blocco Fault Detection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0CA7701-6DF6-B285-3CF4-B3D6E17BF5FE}"/>
              </a:ext>
            </a:extLst>
          </p:cNvPr>
          <p:cNvSpPr txBox="1"/>
          <p:nvPr/>
        </p:nvSpPr>
        <p:spPr>
          <a:xfrm>
            <a:off x="2703634" y="4582989"/>
            <a:ext cx="9165980" cy="4319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24384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4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/>
              <a:ea typeface="Graphik"/>
              <a:cs typeface="Graphik"/>
              <a:sym typeface="Graphik"/>
            </a:endParaRPr>
          </a:p>
        </p:txBody>
      </p:sp>
      <p:pic>
        <p:nvPicPr>
          <p:cNvPr id="3" name="Immagine 2" descr="Immagine che contiene testo, diagramma, Piano, Disegno tecnico&#10;&#10;Il contenuto generato dall&amp;#39;IA potrebbe non essere corretto.">
            <a:extLst>
              <a:ext uri="{FF2B5EF4-FFF2-40B4-BE49-F238E27FC236}">
                <a16:creationId xmlns:a16="http://schemas.microsoft.com/office/drawing/2014/main" id="{A166AE59-3DBD-4F1C-8E16-99B6E3B65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02" y="3084024"/>
            <a:ext cx="23550788" cy="1040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99174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F6D01-EB32-08B1-5409-0956555D4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2B92D539-71F0-1CB1-ACEA-C1D7BE09B6F8}"/>
              </a:ext>
            </a:extLst>
          </p:cNvPr>
          <p:cNvSpPr txBox="1"/>
          <p:nvPr/>
        </p:nvSpPr>
        <p:spPr>
          <a:xfrm>
            <a:off x="2195020" y="7143377"/>
            <a:ext cx="19960254" cy="60119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Modulo FD1:</a:t>
            </a:r>
            <a:endParaRPr lang="it-IT" dirty="0"/>
          </a:p>
          <a:p>
            <a:pPr marL="285750" indent="-285750">
              <a:buFont typeface="Arial"/>
              <a:buChar char="•"/>
            </a:pPr>
            <a:r>
              <a:rPr lang="it-IT" dirty="0"/>
              <a:t>Il modulo riceve i comandi inviati ai motori (u) e li converte nei momenti torcenti attesi tramite la matrice di allocazione (F2*u), viene poi sommata la stima della coppia di disturbo calcolata dal DOBC (</a:t>
            </a:r>
            <a:r>
              <a:rPr lang="it-IT" dirty="0" err="1"/>
              <a:t>Me_B_hat</a:t>
            </a:r>
            <a:r>
              <a:rPr lang="it-IT" dirty="0"/>
              <a:t>).</a:t>
            </a:r>
          </a:p>
          <a:p>
            <a:pPr marL="285750" indent="-285750">
              <a:buFont typeface="Arial"/>
              <a:buChar char="•"/>
            </a:pPr>
            <a:r>
              <a:rPr lang="it-IT" dirty="0"/>
              <a:t>Il blocco State-Space implementa l'Osservatore di </a:t>
            </a:r>
            <a:r>
              <a:rPr lang="it-IT" dirty="0" err="1"/>
              <a:t>Luenberger</a:t>
            </a:r>
            <a:r>
              <a:rPr lang="it-IT" dirty="0"/>
              <a:t>. </a:t>
            </a:r>
          </a:p>
          <a:p>
            <a:pPr marL="285750" indent="-285750">
              <a:buFont typeface="Arial"/>
              <a:buChar char="•"/>
            </a:pPr>
            <a:r>
              <a:rPr lang="it-IT" dirty="0" err="1">
                <a:latin typeface="Consolas"/>
              </a:rPr>
              <a:t>Extract_omega</a:t>
            </a:r>
            <a:r>
              <a:rPr lang="it-IT" dirty="0"/>
              <a:t> estrae le componenti [</a:t>
            </a:r>
            <a:r>
              <a:rPr lang="it-IT" dirty="0" err="1"/>
              <a:t>ωx</a:t>
            </a:r>
            <a:r>
              <a:rPr lang="it-IT" dirty="0"/>
              <a:t>, </a:t>
            </a:r>
            <a:r>
              <a:rPr lang="it-IT" dirty="0" err="1"/>
              <a:t>ωy</a:t>
            </a:r>
            <a:r>
              <a:rPr lang="it-IT" dirty="0"/>
              <a:t>, </a:t>
            </a:r>
            <a:r>
              <a:rPr lang="it-IT" dirty="0" err="1"/>
              <a:t>ωz</a:t>
            </a:r>
            <a:r>
              <a:rPr lang="it-IT" dirty="0"/>
              <a:t>] dallo stato stimato</a:t>
            </a:r>
          </a:p>
          <a:p>
            <a:pPr marL="285750" indent="-285750">
              <a:buFont typeface="Arial"/>
              <a:buChar char="•"/>
            </a:pPr>
            <a:r>
              <a:rPr lang="it-IT" dirty="0"/>
              <a:t>Somma differenza: </a:t>
            </a:r>
            <a:r>
              <a:rPr lang="it-IT" dirty="0" err="1">
                <a:latin typeface="Consolas"/>
              </a:rPr>
              <a:t>r_gyro</a:t>
            </a:r>
            <a:r>
              <a:rPr lang="it-IT" dirty="0">
                <a:latin typeface="Consolas"/>
              </a:rPr>
              <a:t> = </a:t>
            </a:r>
            <a:r>
              <a:rPr lang="it-IT" dirty="0" err="1">
                <a:latin typeface="Consolas"/>
              </a:rPr>
              <a:t>omeganoisy</a:t>
            </a:r>
            <a:r>
              <a:rPr lang="it-IT" dirty="0">
                <a:latin typeface="Consolas"/>
              </a:rPr>
              <a:t> − ω̂</a:t>
            </a:r>
            <a:endParaRPr lang="it-IT" dirty="0"/>
          </a:p>
          <a:p>
            <a:endParaRPr lang="it-IT" sz="4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raphik"/>
              <a:ea typeface="Graphik"/>
              <a:cs typeface="Graphik"/>
            </a:endParaRPr>
          </a:p>
        </p:txBody>
      </p:sp>
      <p:pic>
        <p:nvPicPr>
          <p:cNvPr id="3" name="Immagine 2" descr="Immagine che contiene testo, diagramma, linea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2BF5B8C8-7F63-9F66-8457-035B67988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685" y="464911"/>
            <a:ext cx="19536682" cy="638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09304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26C41-4CA7-A340-8A36-0BEFA37B6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5DB68070-86F5-A1B5-1EEA-54925632F318}"/>
              </a:ext>
            </a:extLst>
          </p:cNvPr>
          <p:cNvSpPr txBox="1"/>
          <p:nvPr/>
        </p:nvSpPr>
        <p:spPr>
          <a:xfrm>
            <a:off x="2195020" y="6314305"/>
            <a:ext cx="19960254" cy="74892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Modulo FD2:</a:t>
            </a:r>
            <a:endParaRPr lang="it-IT" dirty="0"/>
          </a:p>
          <a:p>
            <a:pPr marL="285750" indent="-285750">
              <a:buFont typeface="Arial"/>
              <a:buChar char="•"/>
            </a:pPr>
            <a:r>
              <a:rPr lang="it-IT" dirty="0"/>
              <a:t>Il modulo riceve la stima del disturbo dal DOBC (</a:t>
            </a:r>
            <a:r>
              <a:rPr lang="it-IT" dirty="0" err="1"/>
              <a:t>Me_B_hat</a:t>
            </a:r>
            <a:r>
              <a:rPr lang="it-IT" dirty="0"/>
              <a:t>). Il blocco Gain applica la trasposta della matrice di allocazione (F2</a:t>
            </a:r>
            <a:r>
              <a:rPr lang="it-IT" baseline="30000" dirty="0"/>
              <a:t>T</a:t>
            </a:r>
            <a:r>
              <a:rPr lang="it-IT" dirty="0"/>
              <a:t>). Questo prodotto vettoriale proietta il disturbo sui 6 assi dei motori, associando l'anomalia alla "firma geometrica" del motore che si è guastato.</a:t>
            </a:r>
          </a:p>
          <a:p>
            <a:pPr marL="285750" indent="-285750">
              <a:buFont typeface="Arial"/>
              <a:buChar char="•"/>
            </a:pPr>
            <a:r>
              <a:rPr lang="it-IT" dirty="0"/>
              <a:t>Il segnale a 6 canali viene sdoppiato. Il ramo inferiore passa attraverso un blocco State-Space che funge da Filtro Passa-Basso.</a:t>
            </a:r>
            <a:endParaRPr lang="it-IT" dirty="0">
              <a:latin typeface="Consolas"/>
            </a:endParaRPr>
          </a:p>
          <a:p>
            <a:pPr marL="285750" indent="-285750">
              <a:buFont typeface="Arial"/>
              <a:buChar char="•"/>
            </a:pPr>
            <a:r>
              <a:rPr lang="it-IT" dirty="0"/>
              <a:t>Sottraendo il segnale passa-basso al segnale originale si realizza un Filtro Passa-Alto.</a:t>
            </a:r>
            <a:endParaRPr lang="it-IT" sz="4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raphik"/>
              <a:ea typeface="Graphik"/>
              <a:cs typeface="Graphik"/>
            </a:endParaRPr>
          </a:p>
          <a:p>
            <a:endParaRPr lang="it-IT" b="1" dirty="0"/>
          </a:p>
        </p:txBody>
      </p:sp>
      <p:pic>
        <p:nvPicPr>
          <p:cNvPr id="2" name="Immagine 1" descr="Immagine che contiene diagramma, Piano, linea, Disegno tecnico&#10;&#10;Il contenuto generato dall&amp;#39;IA potrebbe non essere corretto.">
            <a:extLst>
              <a:ext uri="{FF2B5EF4-FFF2-40B4-BE49-F238E27FC236}">
                <a16:creationId xmlns:a16="http://schemas.microsoft.com/office/drawing/2014/main" id="{2204FD0E-8F54-13E4-44CB-3B6F8CB315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5" r="8470" b="3182"/>
          <a:stretch>
            <a:fillRect/>
          </a:stretch>
        </p:blipFill>
        <p:spPr>
          <a:xfrm>
            <a:off x="958902" y="1353038"/>
            <a:ext cx="22451479" cy="498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72615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73115-7C9B-7D9F-56AB-C4C0EF158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CB47EEBE-646D-B670-477C-EE3DE48AECF4}"/>
              </a:ext>
            </a:extLst>
          </p:cNvPr>
          <p:cNvSpPr txBox="1"/>
          <p:nvPr/>
        </p:nvSpPr>
        <p:spPr>
          <a:xfrm>
            <a:off x="2195020" y="7430005"/>
            <a:ext cx="19960254" cy="45345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Modulo FD3:</a:t>
            </a:r>
            <a:endParaRPr lang="it-IT" dirty="0"/>
          </a:p>
          <a:p>
            <a:pPr marL="285750" indent="-285750">
              <a:buFont typeface="Arial"/>
              <a:buChar char="•"/>
            </a:pPr>
            <a:r>
              <a:rPr lang="it-IT" dirty="0" err="1"/>
              <a:t>Mux</a:t>
            </a:r>
            <a:r>
              <a:rPr lang="it-IT" dirty="0"/>
              <a:t> unisce [</a:t>
            </a:r>
            <a:r>
              <a:rPr lang="it-IT" dirty="0" err="1"/>
              <a:t>pdotnoisy</a:t>
            </a:r>
            <a:r>
              <a:rPr lang="it-IT" dirty="0"/>
              <a:t>; </a:t>
            </a:r>
            <a:r>
              <a:rPr lang="it-IT" dirty="0" err="1"/>
              <a:t>pnoisy</a:t>
            </a:r>
            <a:r>
              <a:rPr lang="it-IT" dirty="0"/>
              <a:t>] come ingresso al secondo State-Space (filtro complementare)</a:t>
            </a:r>
          </a:p>
          <a:p>
            <a:pPr marL="285750" indent="-285750">
              <a:buFont typeface="Arial"/>
              <a:buChar char="•"/>
            </a:pPr>
            <a:r>
              <a:rPr lang="it-IT" dirty="0"/>
              <a:t>Uscita </a:t>
            </a:r>
            <a:r>
              <a:rPr lang="it-IT" dirty="0" err="1">
                <a:latin typeface="Consolas"/>
              </a:rPr>
              <a:t>p_predetta</a:t>
            </a:r>
            <a:r>
              <a:rPr lang="it-IT" dirty="0"/>
              <a:t> confrontata con </a:t>
            </a:r>
            <a:r>
              <a:rPr lang="it-IT" dirty="0" err="1">
                <a:latin typeface="Consolas"/>
              </a:rPr>
              <a:t>pnoisy</a:t>
            </a:r>
            <a:endParaRPr lang="it-IT" dirty="0"/>
          </a:p>
          <a:p>
            <a:pPr marL="285750" indent="-285750">
              <a:buFont typeface="Arial"/>
              <a:buChar char="•"/>
            </a:pPr>
            <a:r>
              <a:rPr lang="it-IT" dirty="0"/>
              <a:t>Somma differenza: </a:t>
            </a:r>
            <a:r>
              <a:rPr lang="it-IT" dirty="0" err="1">
                <a:latin typeface="Consolas"/>
              </a:rPr>
              <a:t>r_gps</a:t>
            </a:r>
            <a:r>
              <a:rPr lang="it-IT" dirty="0">
                <a:latin typeface="Consolas"/>
              </a:rPr>
              <a:t> = </a:t>
            </a:r>
            <a:r>
              <a:rPr lang="it-IT" dirty="0" err="1">
                <a:latin typeface="Consolas"/>
              </a:rPr>
              <a:t>pnoisy</a:t>
            </a:r>
            <a:r>
              <a:rPr lang="it-IT" dirty="0">
                <a:latin typeface="Consolas"/>
              </a:rPr>
              <a:t> − p̂</a:t>
            </a:r>
            <a:endParaRPr lang="it-IT" dirty="0"/>
          </a:p>
          <a:p>
            <a:endParaRPr lang="it-IT" sz="4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raphik"/>
              <a:ea typeface="Graphik"/>
              <a:cs typeface="Graphik"/>
            </a:endParaRPr>
          </a:p>
        </p:txBody>
      </p:sp>
      <p:pic>
        <p:nvPicPr>
          <p:cNvPr id="3" name="Immagine 2" descr="Immagine che contiene linea, diagramma, testo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7705BC75-F7DC-076C-6AC8-A321DEE17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62" y="2905334"/>
            <a:ext cx="23236918" cy="334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08507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D5E9DD-8C7D-3B63-765B-A6279291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339" y="594139"/>
            <a:ext cx="21844000" cy="1557338"/>
          </a:xfrm>
        </p:spPr>
        <p:txBody>
          <a:bodyPr/>
          <a:lstStyle/>
          <a:p>
            <a:r>
              <a:rPr lang="it-IT" dirty="0"/>
              <a:t>Plot Modulo FD1 – Fault Free</a:t>
            </a:r>
          </a:p>
        </p:txBody>
      </p:sp>
      <p:pic>
        <p:nvPicPr>
          <p:cNvPr id="5" name="Immagine 4" descr="Immagine che contiene testo, schermata, Diagramm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6BB0D037-FDEB-5E6C-6F54-59135E679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327" y="2151477"/>
            <a:ext cx="14909346" cy="1092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96164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C4111-F23B-8405-42BB-BDB7567C8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A4CDAF-1A6C-86A2-00D0-A900C4A80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999" y="451944"/>
            <a:ext cx="21844000" cy="1557338"/>
          </a:xfrm>
        </p:spPr>
        <p:txBody>
          <a:bodyPr/>
          <a:lstStyle/>
          <a:p>
            <a:r>
              <a:rPr lang="it-IT" dirty="0"/>
              <a:t>Plot Modulo FD1 – Fault Roll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F49B21CD-F3D7-2BDB-6F1E-E79DA453F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354" y="2009282"/>
            <a:ext cx="14851289" cy="1113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62184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81028-938D-C5DA-CE02-9ED43FBDE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213A89-FEFD-AF01-508D-83C015F01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Plot Modulo FD1 – Fault Pitch</a:t>
            </a:r>
          </a:p>
        </p:txBody>
      </p:sp>
      <p:pic>
        <p:nvPicPr>
          <p:cNvPr id="6" name="Immagine 5" descr="Immagine che contiene testo, schermata, Diagramm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A6F540BB-ADD8-7173-8959-1DFF0F8A0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932" y="2133600"/>
            <a:ext cx="15077168" cy="113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8921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25DFA-0168-76B9-E5FE-70F72A5CA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B7B70B-9A41-955B-0975-F69A734A3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0" y="578146"/>
            <a:ext cx="21844000" cy="1557338"/>
          </a:xfrm>
        </p:spPr>
        <p:txBody>
          <a:bodyPr/>
          <a:lstStyle/>
          <a:p>
            <a:r>
              <a:rPr lang="it-IT" dirty="0"/>
              <a:t>Plot Modulo FD1 – Fault Yaw</a:t>
            </a:r>
          </a:p>
        </p:txBody>
      </p:sp>
      <p:pic>
        <p:nvPicPr>
          <p:cNvPr id="7" name="Immagine 6" descr="Immagine che contiene testo, Diagramma, linea,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7391764C-D410-367D-1187-712FB3140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452" y="2127222"/>
            <a:ext cx="14795096" cy="1101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56047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E5D6D1-E515-F7D8-BB5E-0AFEC0992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0" y="454991"/>
            <a:ext cx="21844000" cy="1557338"/>
          </a:xfrm>
        </p:spPr>
        <p:txBody>
          <a:bodyPr/>
          <a:lstStyle/>
          <a:p>
            <a:r>
              <a:rPr lang="it-IT" dirty="0"/>
              <a:t>Plot Modulo FD2 – Fault Free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7F1F622-A2A9-7AC2-521F-EF7BDD165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160" y="2442725"/>
            <a:ext cx="12781280" cy="951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08084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80F6C-C447-6771-200A-D2D8C8A4D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E1DD40-813B-577A-5CB9-F2E652447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0" y="443053"/>
            <a:ext cx="21844000" cy="1557338"/>
          </a:xfrm>
        </p:spPr>
        <p:txBody>
          <a:bodyPr/>
          <a:lstStyle/>
          <a:p>
            <a:r>
              <a:rPr lang="it-IT" dirty="0"/>
              <a:t>Plot Modulo FD2 – Fault f1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F566561-7C36-A889-AEA8-A89382E4F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4565" y="2233390"/>
            <a:ext cx="10634870" cy="1007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749436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6E29B-AD58-0BC9-6DA4-0DB195575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91EE3F-40DF-19D0-4C4B-2A4E04250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0" y="494748"/>
            <a:ext cx="21844000" cy="1557338"/>
          </a:xfrm>
        </p:spPr>
        <p:txBody>
          <a:bodyPr/>
          <a:lstStyle/>
          <a:p>
            <a:r>
              <a:rPr lang="it-IT" dirty="0"/>
              <a:t>Plot Modulo FD2 – Fault f2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6AB0E901-0456-73DE-5802-5193F16A6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383" y="2355960"/>
            <a:ext cx="12460357" cy="927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22967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861A0-5052-3E5D-52F0-959015DCB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07D3B3-EE34-6A96-3C07-0DC1F6DE5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0" y="494748"/>
            <a:ext cx="21844000" cy="1557338"/>
          </a:xfrm>
        </p:spPr>
        <p:txBody>
          <a:bodyPr/>
          <a:lstStyle/>
          <a:p>
            <a:r>
              <a:rPr lang="it-IT" dirty="0"/>
              <a:t>Plot Modulo FD2 – Fault f3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DAC1C06-3AEF-63C2-EC91-412954C5B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772" y="2052086"/>
            <a:ext cx="13936455" cy="1037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01204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C8B3B-76F1-4616-FC2A-37DAF7BA6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F05F4F-FBC7-07E2-B49A-381746930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0" y="494748"/>
            <a:ext cx="21844000" cy="1557338"/>
          </a:xfrm>
        </p:spPr>
        <p:txBody>
          <a:bodyPr/>
          <a:lstStyle/>
          <a:p>
            <a:r>
              <a:rPr lang="it-IT" dirty="0"/>
              <a:t>Plot Modulo FD2 – Fault f4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19BA603-2F04-58C8-2110-06ADB80DE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817" y="2052086"/>
            <a:ext cx="11370366" cy="1077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99814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7AA92-809A-1CC4-D446-AA400D39F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C87478-81D5-5EAC-C5FB-C580804D6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0" y="494748"/>
            <a:ext cx="21844000" cy="1557338"/>
          </a:xfrm>
        </p:spPr>
        <p:txBody>
          <a:bodyPr/>
          <a:lstStyle/>
          <a:p>
            <a:r>
              <a:rPr lang="it-IT" dirty="0"/>
              <a:t>Plot Modulo FD2 – Fault f5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3235889-4465-8F2E-11F3-2026811AF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878" y="2052086"/>
            <a:ext cx="11390243" cy="1079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545224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30F9B-55E9-2CED-B6BC-E062F3EC8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FB2666-08A9-EC2C-7447-09DB8B70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0" y="494748"/>
            <a:ext cx="21844000" cy="1557338"/>
          </a:xfrm>
        </p:spPr>
        <p:txBody>
          <a:bodyPr/>
          <a:lstStyle/>
          <a:p>
            <a:r>
              <a:rPr lang="it-IT" dirty="0"/>
              <a:t>Plot Modulo FD2 – Fault f6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FA28E80-E0E7-2FAD-6DA3-43F3F7F72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991" y="2052086"/>
            <a:ext cx="10774018" cy="1020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622097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058081-DBCF-6122-6315-7D8E6CAAB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Schema Blocco </a:t>
            </a:r>
            <a:r>
              <a:rPr lang="it-IT" err="1"/>
              <a:t>Evaluator</a:t>
            </a:r>
          </a:p>
        </p:txBody>
      </p:sp>
      <p:pic>
        <p:nvPicPr>
          <p:cNvPr id="5" name="Immagine 4" descr="Immagine che contiene testo, diagramma, Piano, Disegno tecnico&#10;&#10;Il contenuto generato dall&amp;#39;IA potrebbe non essere corretto.">
            <a:extLst>
              <a:ext uri="{FF2B5EF4-FFF2-40B4-BE49-F238E27FC236}">
                <a16:creationId xmlns:a16="http://schemas.microsoft.com/office/drawing/2014/main" id="{7BABE618-BB4E-33B9-C10F-0CD69B85E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573" y="3140564"/>
            <a:ext cx="21694320" cy="1002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868488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0992DE-AFFD-C76B-00B9-992722CCF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/>
              <a:t>Plot </a:t>
            </a:r>
            <a:r>
              <a:rPr lang="it-IT" err="1"/>
              <a:t>Evaluator</a:t>
            </a:r>
            <a:r>
              <a:rPr lang="it-IT"/>
              <a:t> – Fault Giroscopio (Roll)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531785D-F053-28E6-9896-25DA10F094D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DC093DC-9FDD-8A04-076C-3B134B009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 descr="Immagine che contiene schermata, Software per la grafica&#10;&#10;Il contenuto generato dall&amp;#39;IA potrebbe non essere corretto.">
            <a:extLst>
              <a:ext uri="{FF2B5EF4-FFF2-40B4-BE49-F238E27FC236}">
                <a16:creationId xmlns:a16="http://schemas.microsoft.com/office/drawing/2014/main" id="{4E58A1EF-978D-84AA-60FC-988C129D6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954" y="2359638"/>
            <a:ext cx="22236338" cy="1072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83231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4BB15-06CB-F817-1BE9-A3A0A8617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BAD39D-68E1-90C6-CE7B-8775529F8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/>
              <a:t>Plot </a:t>
            </a:r>
            <a:r>
              <a:rPr lang="it-IT" err="1"/>
              <a:t>Evaluator</a:t>
            </a:r>
            <a:r>
              <a:rPr lang="it-IT"/>
              <a:t> – Fault Giroscopio (Pitch)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DBD3286-673A-ADEF-4912-F45DAD6975E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1FD8C94-BF48-6382-B337-93B20147B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6" name="Immagine 5" descr="Immagine che contiene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E2A2900B-568E-AF90-A1F2-8E3DBE163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59" y="2360944"/>
            <a:ext cx="21849441" cy="1057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060292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9A71F-5B86-22BE-B106-42BF2075A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DC0956-82E8-0E33-A1ED-8A548D786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/>
              <a:t>Plot </a:t>
            </a:r>
            <a:r>
              <a:rPr lang="it-IT" err="1"/>
              <a:t>Evaluator</a:t>
            </a:r>
            <a:r>
              <a:rPr lang="it-IT"/>
              <a:t> – Fault Giroscopio (Yaw)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418F78D-95CB-E65B-36EF-E147A2473E5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8183F8C-7A50-14D5-F475-9C67653E7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6" name="Immagine 5" descr="Immagine che contiene schermat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2E17C50B-6C75-3FFF-8E51-EDFE8B4EA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439" y="2360507"/>
            <a:ext cx="22464485" cy="1083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161232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FFF8A-9192-032F-22C9-EC6509923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FCBF01-417B-B312-BB94-805D0D98F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Plot </a:t>
            </a:r>
            <a:r>
              <a:rPr lang="it-IT" dirty="0" err="1"/>
              <a:t>Evaluator</a:t>
            </a:r>
            <a:r>
              <a:rPr lang="it-IT" dirty="0"/>
              <a:t> – Fault Attuatori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8987F7B-0054-1DFB-A919-D06EFD0BD22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51FCC45-F1E6-4718-D765-E5A53B615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 descr="Immagine che contiene schermata, testo&#10;&#10;Il contenuto generato dall&amp;#39;IA potrebbe non essere corretto.">
            <a:extLst>
              <a:ext uri="{FF2B5EF4-FFF2-40B4-BE49-F238E27FC236}">
                <a16:creationId xmlns:a16="http://schemas.microsoft.com/office/drawing/2014/main" id="{FF8F32AB-E5E0-E842-C401-BB959FAF7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353" y="2644042"/>
            <a:ext cx="21800635" cy="1048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192208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EE2D0-4F4B-9601-5CB7-1C941395A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FB7231-BEE4-E2B0-C1AC-E3B324006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953" y="516208"/>
            <a:ext cx="21844000" cy="1557338"/>
          </a:xfrm>
        </p:spPr>
        <p:txBody>
          <a:bodyPr/>
          <a:lstStyle/>
          <a:p>
            <a:r>
              <a:rPr lang="it-IT" dirty="0" err="1"/>
              <a:t>Evaluator</a:t>
            </a:r>
            <a:r>
              <a:rPr lang="it-IT" dirty="0"/>
              <a:t> – Fault Attuatori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B45995B-E1B3-A2C0-75AF-2E0DD8D8F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70000" y="2634971"/>
            <a:ext cx="21844000" cy="8432800"/>
          </a:xfrm>
        </p:spPr>
        <p:txBody>
          <a:bodyPr/>
          <a:lstStyle/>
          <a:p>
            <a:pPr marL="685800" indent="-685800">
              <a:buFont typeface="Arial"/>
              <a:buChar char="•"/>
            </a:pPr>
            <a:r>
              <a:rPr lang="it-IT"/>
              <a:t>Fault f1 - step 0.8</a:t>
            </a:r>
            <a:br>
              <a:rPr lang="it-IT"/>
            </a:br>
            <a:endParaRPr lang="it-IT"/>
          </a:p>
          <a:p>
            <a:pPr marL="685800" indent="-685800">
              <a:buFont typeface="Arial"/>
              <a:buChar char="•"/>
            </a:pPr>
            <a:r>
              <a:rPr lang="it-IT"/>
              <a:t>Fault f2 - step 0.8</a:t>
            </a:r>
            <a:br>
              <a:rPr lang="it-IT"/>
            </a:br>
            <a:endParaRPr lang="it-IT"/>
          </a:p>
          <a:p>
            <a:pPr marL="685800" indent="-685800">
              <a:buFont typeface="Arial"/>
              <a:buChar char="•"/>
            </a:pPr>
            <a:r>
              <a:rPr lang="it-IT"/>
              <a:t>Fault f3 - step 0.8</a:t>
            </a:r>
            <a:br>
              <a:rPr lang="it-IT"/>
            </a:br>
            <a:endParaRPr lang="it-IT"/>
          </a:p>
          <a:p>
            <a:pPr marL="685800" indent="-685800">
              <a:buFont typeface="Arial"/>
              <a:buChar char="•"/>
            </a:pPr>
            <a:r>
              <a:rPr lang="it-IT"/>
              <a:t>Fault f4 - step 0.8</a:t>
            </a:r>
            <a:br>
              <a:rPr lang="it-IT"/>
            </a:br>
            <a:endParaRPr lang="it-IT"/>
          </a:p>
          <a:p>
            <a:pPr marL="685800" indent="-685800">
              <a:buFont typeface="Arial"/>
              <a:buChar char="•"/>
            </a:pPr>
            <a:r>
              <a:rPr lang="it-IT"/>
              <a:t>Fault f5 - step 0.8</a:t>
            </a:r>
            <a:br>
              <a:rPr lang="it-IT"/>
            </a:br>
            <a:endParaRPr lang="it-IT"/>
          </a:p>
          <a:p>
            <a:pPr marL="685800" indent="-685800">
              <a:buFont typeface="Arial"/>
              <a:buChar char="•"/>
            </a:pPr>
            <a:r>
              <a:rPr lang="it-IT"/>
              <a:t>Fault f6 - step 0.8</a:t>
            </a:r>
          </a:p>
        </p:txBody>
      </p:sp>
      <p:pic>
        <p:nvPicPr>
          <p:cNvPr id="5" name="Immagine 4" descr="Immagine che contiene testo, diagramma, schermat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4BCEF65F-DDC1-023D-DDCC-84582B2793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72" b="5538"/>
          <a:stretch>
            <a:fillRect/>
          </a:stretch>
        </p:blipFill>
        <p:spPr>
          <a:xfrm>
            <a:off x="11228196" y="2354831"/>
            <a:ext cx="12719291" cy="2626843"/>
          </a:xfrm>
          <a:prstGeom prst="rect">
            <a:avLst/>
          </a:prstGeom>
        </p:spPr>
      </p:pic>
      <p:sp>
        <p:nvSpPr>
          <p:cNvPr id="6" name="Freccia a destra 5">
            <a:extLst>
              <a:ext uri="{FF2B5EF4-FFF2-40B4-BE49-F238E27FC236}">
                <a16:creationId xmlns:a16="http://schemas.microsoft.com/office/drawing/2014/main" id="{A0CFF332-752B-3920-0F2B-401789536D6B}"/>
              </a:ext>
            </a:extLst>
          </p:cNvPr>
          <p:cNvSpPr/>
          <p:nvPr/>
        </p:nvSpPr>
        <p:spPr>
          <a:xfrm>
            <a:off x="8972784" y="2816779"/>
            <a:ext cx="2502408" cy="658804"/>
          </a:xfrm>
          <a:prstGeom prst="rightArrow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sp>
        <p:nvSpPr>
          <p:cNvPr id="7" name="Freccia a destra 6">
            <a:extLst>
              <a:ext uri="{FF2B5EF4-FFF2-40B4-BE49-F238E27FC236}">
                <a16:creationId xmlns:a16="http://schemas.microsoft.com/office/drawing/2014/main" id="{7948569B-4DD1-4C90-1D5D-4659A78E3426}"/>
              </a:ext>
            </a:extLst>
          </p:cNvPr>
          <p:cNvSpPr/>
          <p:nvPr/>
        </p:nvSpPr>
        <p:spPr>
          <a:xfrm>
            <a:off x="8973481" y="6500826"/>
            <a:ext cx="2502408" cy="658804"/>
          </a:xfrm>
          <a:prstGeom prst="rightArrow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45921BC7-022D-6BAC-FF39-95BCDE21F577}"/>
              </a:ext>
            </a:extLst>
          </p:cNvPr>
          <p:cNvSpPr/>
          <p:nvPr/>
        </p:nvSpPr>
        <p:spPr>
          <a:xfrm>
            <a:off x="8974179" y="8191530"/>
            <a:ext cx="2502408" cy="658804"/>
          </a:xfrm>
          <a:prstGeom prst="rightArrow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4D8C46AD-1B98-A00A-2116-227B390BA5CF}"/>
              </a:ext>
            </a:extLst>
          </p:cNvPr>
          <p:cNvSpPr/>
          <p:nvPr/>
        </p:nvSpPr>
        <p:spPr>
          <a:xfrm>
            <a:off x="8974877" y="9940013"/>
            <a:ext cx="2502408" cy="658804"/>
          </a:xfrm>
          <a:prstGeom prst="rightArrow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sp>
        <p:nvSpPr>
          <p:cNvPr id="10" name="Freccia a destra 9">
            <a:extLst>
              <a:ext uri="{FF2B5EF4-FFF2-40B4-BE49-F238E27FC236}">
                <a16:creationId xmlns:a16="http://schemas.microsoft.com/office/drawing/2014/main" id="{EC04D9A4-89D1-1808-E847-18B3AB6A2012}"/>
              </a:ext>
            </a:extLst>
          </p:cNvPr>
          <p:cNvSpPr/>
          <p:nvPr/>
        </p:nvSpPr>
        <p:spPr>
          <a:xfrm>
            <a:off x="8975575" y="11601829"/>
            <a:ext cx="2502408" cy="658804"/>
          </a:xfrm>
          <a:prstGeom prst="rightArrow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sp>
        <p:nvSpPr>
          <p:cNvPr id="11" name="Freccia a destra 10">
            <a:extLst>
              <a:ext uri="{FF2B5EF4-FFF2-40B4-BE49-F238E27FC236}">
                <a16:creationId xmlns:a16="http://schemas.microsoft.com/office/drawing/2014/main" id="{0FC8734C-33F7-EAC0-30EB-2CDAE7FF7F16}"/>
              </a:ext>
            </a:extLst>
          </p:cNvPr>
          <p:cNvSpPr/>
          <p:nvPr/>
        </p:nvSpPr>
        <p:spPr>
          <a:xfrm>
            <a:off x="8976273" y="4568053"/>
            <a:ext cx="2502408" cy="658804"/>
          </a:xfrm>
          <a:prstGeom prst="rightArrow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pic>
        <p:nvPicPr>
          <p:cNvPr id="12" name="Immagine 11" descr="Immagine che contiene diagramma, testo, Piano, Disegno tecnico&#10;&#10;Il contenuto generato dall&amp;#39;IA potrebbe non essere corretto.">
            <a:extLst>
              <a:ext uri="{FF2B5EF4-FFF2-40B4-BE49-F238E27FC236}">
                <a16:creationId xmlns:a16="http://schemas.microsoft.com/office/drawing/2014/main" id="{1EB013C9-9B52-4B9D-23D1-1F48052EA6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853" t="45538" r="3611" b="7342"/>
          <a:stretch>
            <a:fillRect/>
          </a:stretch>
        </p:blipFill>
        <p:spPr>
          <a:xfrm>
            <a:off x="12135006" y="4242406"/>
            <a:ext cx="2182482" cy="1320149"/>
          </a:xfrm>
          <a:prstGeom prst="rect">
            <a:avLst/>
          </a:prstGeom>
        </p:spPr>
      </p:pic>
      <p:pic>
        <p:nvPicPr>
          <p:cNvPr id="13" name="Immagine 12" descr="Immagine che contiene testo, diagramma, schermata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2B66322D-E393-29AC-5500-C8FCD470E0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701" t="53254" r="2343" b="2132"/>
          <a:stretch>
            <a:fillRect/>
          </a:stretch>
        </p:blipFill>
        <p:spPr>
          <a:xfrm>
            <a:off x="12134953" y="6274131"/>
            <a:ext cx="2090873" cy="1096356"/>
          </a:xfrm>
          <a:prstGeom prst="rect">
            <a:avLst/>
          </a:prstGeom>
        </p:spPr>
      </p:pic>
      <p:pic>
        <p:nvPicPr>
          <p:cNvPr id="14" name="Immagine 13" descr="Immagine che contiene testo, diagramma, schermata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4ADA29DA-90E2-7B48-DEEC-03913EFAA67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7732" t="50000" r="258" b="10974"/>
          <a:stretch>
            <a:fillRect/>
          </a:stretch>
        </p:blipFill>
        <p:spPr>
          <a:xfrm>
            <a:off x="12137563" y="8193384"/>
            <a:ext cx="2310367" cy="1144891"/>
          </a:xfrm>
          <a:prstGeom prst="rect">
            <a:avLst/>
          </a:prstGeom>
        </p:spPr>
      </p:pic>
      <p:pic>
        <p:nvPicPr>
          <p:cNvPr id="15" name="Immagine 14" descr="Immagine che contiene testo, diagramma, Piano,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FB58CD6A-2D7C-65FB-ECB0-748B62E0957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8661" t="46710" r="-139" b="-572"/>
          <a:stretch>
            <a:fillRect/>
          </a:stretch>
        </p:blipFill>
        <p:spPr>
          <a:xfrm>
            <a:off x="12066290" y="9651287"/>
            <a:ext cx="2236089" cy="1374917"/>
          </a:xfrm>
          <a:prstGeom prst="rect">
            <a:avLst/>
          </a:prstGeom>
        </p:spPr>
      </p:pic>
      <p:pic>
        <p:nvPicPr>
          <p:cNvPr id="16" name="Immagine 15" descr="Immagine che contiene diagramma, testo, schermata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51B3C787-5262-2F04-A9FA-5E92797569A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6828" t="49959" r="3265" b="8511"/>
          <a:stretch>
            <a:fillRect/>
          </a:stretch>
        </p:blipFill>
        <p:spPr>
          <a:xfrm>
            <a:off x="12188402" y="11368972"/>
            <a:ext cx="2125554" cy="113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46854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31_ColorGradientLight">
  <a:themeElements>
    <a:clrScheme name="31_ColorGradient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1_ColorGradientLight">
      <a:majorFont>
        <a:latin typeface="Graphik Semibold"/>
        <a:ea typeface="Graphik Semibold"/>
        <a:cs typeface="Graphik Semibold"/>
      </a:majorFont>
      <a:minorFont>
        <a:latin typeface="Graphik Semibold"/>
        <a:ea typeface="Graphik Semibold"/>
        <a:cs typeface="Graphik Semibold"/>
      </a:minorFont>
    </a:fontScheme>
    <a:fmtScheme name="31_ColorGradien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1_ColorGradientLight">
  <a:themeElements>
    <a:clrScheme name="31_ColorGradient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1_ColorGradientLight">
      <a:majorFont>
        <a:latin typeface="Graphik Semibold"/>
        <a:ea typeface="Graphik Semibold"/>
        <a:cs typeface="Graphik Semibold"/>
      </a:majorFont>
      <a:minorFont>
        <a:latin typeface="Graphik Semibold"/>
        <a:ea typeface="Graphik Semibold"/>
        <a:cs typeface="Graphik Semibold"/>
      </a:minorFont>
    </a:fontScheme>
    <a:fmtScheme name="31_ColorGradien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117b418d-fb21-416f-a85f-1e9ff725bf2c}" enabled="0" method="" siteId="{117b418d-fb21-416f-a85f-1e9ff725bf2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966</Words>
  <Application>Microsoft Office PowerPoint</Application>
  <PresentationFormat>Personalizzato</PresentationFormat>
  <Paragraphs>99</Paragraphs>
  <Slides>33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33</vt:i4>
      </vt:variant>
    </vt:vector>
  </HeadingPairs>
  <TitlesOfParts>
    <vt:vector size="42" baseType="lpstr">
      <vt:lpstr>Arial</vt:lpstr>
      <vt:lpstr>Avenir Next Regular</vt:lpstr>
      <vt:lpstr>Cambria Math</vt:lpstr>
      <vt:lpstr>Consolas</vt:lpstr>
      <vt:lpstr>Graphik</vt:lpstr>
      <vt:lpstr>Graphik Medium</vt:lpstr>
      <vt:lpstr>Graphik Semibold</vt:lpstr>
      <vt:lpstr>Helvetica Neue</vt:lpstr>
      <vt:lpstr>31_ColorGradientLight</vt:lpstr>
      <vt:lpstr>Progettazione e Implementazione di un Modulo di Fault Detection per drone in Modalità HITL</vt:lpstr>
      <vt:lpstr>Riepilogo</vt:lpstr>
      <vt:lpstr>Struttura Faul Detection</vt:lpstr>
      <vt:lpstr>Progettazione modulo di Fault Detection (Model Based)</vt:lpstr>
      <vt:lpstr>Linearizzazione all’Hovering</vt:lpstr>
      <vt:lpstr>FD1 – Osservatore Luenberger Giroscopio</vt:lpstr>
      <vt:lpstr>FD1 – Ricostruzione dell'Ingresso Nominale per l'Osservatore</vt:lpstr>
      <vt:lpstr>FD2 – Equazioni di Parità Attuatori</vt:lpstr>
      <vt:lpstr>FD2 – Residui Strutturati: Proiezione sulla Firma del Motore</vt:lpstr>
      <vt:lpstr>FD3 – Filtro Complementare GPS</vt:lpstr>
      <vt:lpstr>FD3 – Filtro Complementare GPS</vt:lpstr>
      <vt:lpstr>Architettura Simulink del Modulo FD</vt:lpstr>
      <vt:lpstr>Interno del blocco Fault Detection</vt:lpstr>
      <vt:lpstr>Presentazione standard di PowerPoint</vt:lpstr>
      <vt:lpstr>Presentazione standard di PowerPoint</vt:lpstr>
      <vt:lpstr>Presentazione standard di PowerPoint</vt:lpstr>
      <vt:lpstr>Plot Modulo FD1 – Fault Free</vt:lpstr>
      <vt:lpstr>Plot Modulo FD1 – Fault Roll</vt:lpstr>
      <vt:lpstr>Plot Modulo FD1 – Fault Pitch</vt:lpstr>
      <vt:lpstr>Plot Modulo FD1 – Fault Yaw</vt:lpstr>
      <vt:lpstr>Plot Modulo FD2 – Fault Free</vt:lpstr>
      <vt:lpstr>Plot Modulo FD2 – Fault f1</vt:lpstr>
      <vt:lpstr>Plot Modulo FD2 – Fault f2</vt:lpstr>
      <vt:lpstr>Plot Modulo FD2 – Fault f3</vt:lpstr>
      <vt:lpstr>Plot Modulo FD2 – Fault f4</vt:lpstr>
      <vt:lpstr>Plot Modulo FD2 – Fault f5</vt:lpstr>
      <vt:lpstr>Plot Modulo FD2 – Fault f6</vt:lpstr>
      <vt:lpstr>Schema Blocco Evaluator</vt:lpstr>
      <vt:lpstr>Plot Evaluator – Fault Giroscopio (Roll)</vt:lpstr>
      <vt:lpstr>Plot Evaluator – Fault Giroscopio (Pitch)</vt:lpstr>
      <vt:lpstr>Plot Evaluator – Fault Giroscopio (Yaw)</vt:lpstr>
      <vt:lpstr>Plot Evaluator – Fault Attuatori</vt:lpstr>
      <vt:lpstr>Evaluator – Fault Attuatori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Progettazione e Implementazione di un Modulo di Fault Detection per drone in Modalità HITL</dc:title>
  <dc:creator>Roberto Dimitri</dc:creator>
  <cp:lastModifiedBy>DIMITRI ROBERTO</cp:lastModifiedBy>
  <cp:revision>1</cp:revision>
  <dcterms:modified xsi:type="dcterms:W3CDTF">2026-07-01T15:48:05Z</dcterms:modified>
</cp:coreProperties>
</file>