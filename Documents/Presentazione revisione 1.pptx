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0" r:id="rId9"/>
    <p:sldId id="272" r:id="rId10"/>
    <p:sldId id="273" r:id="rId11"/>
    <p:sldId id="275" r:id="rId12"/>
  </p:sldIdLst>
  <p:sldSz cx="24384000" cy="13716000"/>
  <p:notesSz cx="6858000" cy="9144000"/>
  <p:defaultTextStyle>
    <a:defPPr>
      <a:defRPr lang="it-IT"/>
    </a:defPPr>
    <a:lvl1pPr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1pPr>
    <a:lvl2pPr indent="4572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2pPr>
    <a:lvl3pPr indent="9144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3pPr>
    <a:lvl4pPr indent="13716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4pPr>
    <a:lvl5pPr indent="1828800" algn="l" defTabSz="2438400" rtl="0" eaLnBrk="0" fontAlgn="base" hangingPunct="0">
      <a:spcBef>
        <a:spcPct val="0"/>
      </a:spcBef>
      <a:spcAft>
        <a:spcPct val="0"/>
      </a:spcAft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5pPr>
    <a:lvl6pPr marL="22860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6pPr>
    <a:lvl7pPr marL="27432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7pPr>
    <a:lvl8pPr marL="32004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8pPr>
    <a:lvl9pPr marL="3657600" algn="l" defTabSz="914400" rtl="0" eaLnBrk="1" latinLnBrk="0" hangingPunct="1">
      <a:defRPr sz="4800" kern="1200">
        <a:solidFill>
          <a:srgbClr val="000000"/>
        </a:solidFill>
        <a:latin typeface="Graphik"/>
        <a:ea typeface="Graphik"/>
        <a:cs typeface="Graphik"/>
        <a:sym typeface="Graphik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643BBC-5152-3A0C-E9A0-FE02B7B8C0BE}" v="859" dt="2026-04-30T09:56:14.422"/>
    <p1510:client id="{8FD1B0E1-C9DE-44BE-9193-2279872D0216}" v="2" dt="2026-04-30T09:57:40.931"/>
    <p1510:client id="{9A9E7BCF-7F4F-AA68-A4E1-6B84D710197B}" v="291" dt="2026-04-30T09:52:14.81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254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00A1FF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solidFill>
            <a:srgbClr val="014D80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13B100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61D83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FFFFFF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52055"/>
              <a:lumOff val="-12548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613784"/>
              <a:lumOff val="1275"/>
            </a:scheme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613784"/>
                  <a:lumOff val="1275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Graphik Medium"/>
          <a:ea typeface="Graphik Medium"/>
          <a:cs typeface="Graphik Medium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FF53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C0C0C0"/>
              </a:solidFill>
              <a:prstDash val="solid"/>
              <a:miter lim="400000"/>
            </a:ln>
          </a:top>
          <a:bottom>
            <a:ln w="127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98195F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C0C0C0"/>
              </a:solidFill>
              <a:prstDash val="solid"/>
              <a:miter lim="400000"/>
            </a:ln>
          </a:left>
          <a:right>
            <a:ln w="12700" cap="flat">
              <a:solidFill>
                <a:srgbClr val="C0C0C0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C0C0C0"/>
              </a:solidFill>
              <a:prstDash val="solid"/>
              <a:miter lim="400000"/>
            </a:ln>
          </a:bottom>
          <a:insideH>
            <a:ln w="12700" cap="flat">
              <a:solidFill>
                <a:srgbClr val="C0C0C0"/>
              </a:solidFill>
              <a:prstDash val="solid"/>
              <a:miter lim="400000"/>
            </a:ln>
          </a:insideH>
          <a:insideV>
            <a:ln w="12700" cap="flat">
              <a:solidFill>
                <a:srgbClr val="C0C0C0"/>
              </a:solidFill>
              <a:prstDash val="solid"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A9A9A9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38100" cap="flat">
              <a:solidFill>
                <a:srgbClr val="A9A9A9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A9A9A9"/>
              </a:solidFill>
              <a:prstDash val="solid"/>
              <a:miter lim="400000"/>
            </a:ln>
          </a:left>
          <a:right>
            <a:ln w="12700" cap="flat">
              <a:solidFill>
                <a:srgbClr val="A9A9A9"/>
              </a:solidFill>
              <a:prstDash val="solid"/>
              <a:miter lim="400000"/>
            </a:ln>
          </a:right>
          <a:top>
            <a:ln w="38100" cap="flat">
              <a:solidFill>
                <a:srgbClr val="A9A9A9"/>
              </a:solidFill>
              <a:prstDash val="solid"/>
              <a:miter lim="400000"/>
            </a:ln>
          </a:top>
          <a:bottom>
            <a:ln w="127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A9A9A9"/>
              </a:solidFill>
              <a:prstDash val="solid"/>
              <a:miter lim="400000"/>
            </a:ln>
          </a:insideH>
          <a:insideV>
            <a:ln w="12700" cap="flat">
              <a:solidFill>
                <a:srgbClr val="A9A9A9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A9A9A9"/>
              </a:solidFill>
              <a:prstDash val="solid"/>
              <a:miter lim="400000"/>
            </a:ln>
          </a:top>
          <a:bottom>
            <a:ln w="38100" cap="flat">
              <a:solidFill>
                <a:srgbClr val="A9A9A9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64646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9" d="100"/>
          <a:sy n="39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ape 168">
            <a:extLst>
              <a:ext uri="{FF2B5EF4-FFF2-40B4-BE49-F238E27FC236}">
                <a16:creationId xmlns:a16="http://schemas.microsoft.com/office/drawing/2014/main" id="{68633659-EF4B-C6ED-76C7-650CCF25688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099" name="Shape 169">
            <a:extLst>
              <a:ext uri="{FF2B5EF4-FFF2-40B4-BE49-F238E27FC236}">
                <a16:creationId xmlns:a16="http://schemas.microsoft.com/office/drawing/2014/main" id="{D272A0BB-0CFB-1043-6B7F-EBCC24E74D66}"/>
              </a:ext>
            </a:extLst>
          </p:cNvPr>
          <p:cNvSpPr>
            <a:spLocks noGrp="1" noChangeArrowheads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it-IT" altLang="it-IT">
              <a:sym typeface="Helvetica Neue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1pPr>
    <a:lvl2pPr marL="742950" indent="-28575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2pPr>
    <a:lvl3pPr marL="11430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3pPr>
    <a:lvl4pPr marL="16002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4pPr>
    <a:lvl5pPr marL="2057400" indent="-228600" algn="l" defTabSz="457200" rtl="0" eaLnBrk="0" fontAlgn="base" hangingPunct="0">
      <a:lnSpc>
        <a:spcPct val="118000"/>
      </a:lnSpc>
      <a:spcBef>
        <a:spcPct val="30000"/>
      </a:spcBef>
      <a:spcAft>
        <a:spcPct val="0"/>
      </a:spcAft>
      <a:defRPr sz="2200">
        <a:solidFill>
          <a:schemeClr val="tx1"/>
        </a:solidFill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9454"/>
          </a:xfrm>
          <a:prstGeom prst="rect">
            <a:avLst/>
          </a:prstGeom>
        </p:spPr>
        <p:txBody>
          <a:bodyPr/>
          <a:lstStyle>
            <a:lvl1pPr defTabSz="2438338"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" name="Autore e data"/>
          <p:cNvSpPr txBox="1">
            <a:spLocks noGrp="1"/>
          </p:cNvSpPr>
          <p:nvPr>
            <p:ph type="body" sz="quarter" idx="21"/>
          </p:nvPr>
        </p:nvSpPr>
        <p:spPr>
          <a:xfrm>
            <a:off x="1270000" y="12160429"/>
            <a:ext cx="21844000" cy="694056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2352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FC5A911-AC6A-3A26-B8D9-7B2D7BA00CA4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3CD96BA-1FE5-4502-8379-811A4F94802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11857892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2" name="Autore e data"/>
          <p:cNvSpPr txBox="1">
            <a:spLocks noGrp="1"/>
          </p:cNvSpPr>
          <p:nvPr>
            <p:ph type="body" sz="quarter" idx="22"/>
          </p:nvPr>
        </p:nvSpPr>
        <p:spPr>
          <a:xfrm>
            <a:off x="1270000" y="12166600"/>
            <a:ext cx="21844000" cy="694055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343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itolo presenta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 defTabSz="2438400">
              <a:lnSpc>
                <a:spcPct val="90000"/>
              </a:lnSpc>
              <a:defRPr sz="11600" spc="-348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985000"/>
            <a:ext cx="21844000" cy="25146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0" algn="ctr" defTabSz="825500">
              <a:spcBef>
                <a:spcPts val="0"/>
              </a:spcBef>
              <a:buClrTx/>
              <a:buSzTx/>
              <a:buNone/>
              <a:defRPr sz="6400">
                <a:solidFill>
                  <a:srgbClr val="FFFFFF"/>
                </a:soli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B42B5EAA-82DD-9219-9506-126A6A683B9C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269B02C-B6F4-41EA-BA63-98BF035CD5C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59483752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 f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ue meduse su sfondo di colore blu"/>
          <p:cNvSpPr>
            <a:spLocks noGrp="1"/>
          </p:cNvSpPr>
          <p:nvPr>
            <p:ph type="pic" idx="21"/>
          </p:nvPr>
        </p:nvSpPr>
        <p:spPr>
          <a:xfrm>
            <a:off x="7962900" y="-25400"/>
            <a:ext cx="20650200" cy="13766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33" name="Titolo"/>
          <p:cNvSpPr txBox="1">
            <a:spLocks noGrp="1"/>
          </p:cNvSpPr>
          <p:nvPr>
            <p:ph type="title"/>
          </p:nvPr>
        </p:nvSpPr>
        <p:spPr>
          <a:xfrm>
            <a:off x="1270000" y="3885108"/>
            <a:ext cx="9652000" cy="3200203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6845300"/>
            <a:ext cx="9652000" cy="56642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 defTabSz="825500">
              <a:spcBef>
                <a:spcPts val="0"/>
              </a:spcBef>
              <a:buClrTx/>
              <a:buSzTx/>
              <a:buNone/>
              <a:defRPr sz="5400"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EE50F6BC-E47A-9ACC-DC45-D2157D75074B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4BADC7-9F01-4213-AF30-A0AC35667C7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1479225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 ed 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8F2E921-5F4D-FBF0-AD69-4CC87378C33D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415FBE-2E0D-4148-9799-767C746224C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63549192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Ele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/>
          </p:nvPr>
        </p:nvSpPr>
        <p:spPr>
          <a:xfrm>
            <a:off x="1270000" y="4269316"/>
            <a:ext cx="21844000" cy="8432801"/>
          </a:xfrm>
          <a:prstGeom prst="rect">
            <a:avLst/>
          </a:prstGeom>
        </p:spPr>
        <p:txBody>
          <a:bodyPr numCol="2" spcCol="1092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CD7853AF-6EC9-3870-2C80-393E2E468CD9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8412492-B887-4D14-81F2-A84995AB783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139805900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Due meduse su sfondo di colore rosa"/>
          <p:cNvSpPr>
            <a:spLocks noGrp="1"/>
          </p:cNvSpPr>
          <p:nvPr>
            <p:ph type="pic" idx="21"/>
          </p:nvPr>
        </p:nvSpPr>
        <p:spPr>
          <a:xfrm>
            <a:off x="10185400" y="0"/>
            <a:ext cx="18161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6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3" name="Sottotitolo diapositiva"/>
          <p:cNvSpPr txBox="1">
            <a:spLocks noGrp="1"/>
          </p:cNvSpPr>
          <p:nvPr>
            <p:ph type="body" sz="quarter" idx="22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E5001EF-956C-7260-6332-97AD65EEC514}"/>
              </a:ext>
            </a:extLst>
          </p:cNvPr>
          <p:cNvSpPr txBox="1">
            <a:spLocks noGrp="1" noChangeArrowheads="1"/>
          </p:cNvSpPr>
          <p:nvPr>
            <p:ph type="sldNum" sz="quarter" idx="2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DEDEAE5-6B57-4318-B5D4-6C16A361EF0B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727238333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picco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271C0F5-DE39-CE49-39CB-A96D18180ADF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D02939-CD00-469C-B43C-B97042CF42C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1411529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olo, elenco e diretta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itolo"/>
          <p:cNvSpPr txBox="1">
            <a:spLocks noGrp="1"/>
          </p:cNvSpPr>
          <p:nvPr>
            <p:ph type="title"/>
          </p:nvPr>
        </p:nvSpPr>
        <p:spPr>
          <a:xfrm>
            <a:off x="1270000" y="838200"/>
            <a:ext cx="9652000" cy="1549400"/>
          </a:xfrm>
          <a:prstGeom prst="rect">
            <a:avLst/>
          </a:prstGeom>
        </p:spPr>
        <p:txBody>
          <a:bodyPr/>
          <a:lstStyle>
            <a:lvl1pPr>
              <a:defRPr>
                <a:gradFill flip="none" rotWithShape="1">
                  <a:gsLst>
                    <a:gs pos="0">
                      <a:srgbClr val="5E03FF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267200"/>
            <a:ext cx="9652000" cy="843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3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9652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FBB220C0-2F75-0D9F-9DEB-2089F1401406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4E2F41-25A6-4782-886C-2841853BB31C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98961521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olo sezione"/>
          <p:cNvSpPr txBox="1">
            <a:spLocks noGrp="1"/>
          </p:cNvSpPr>
          <p:nvPr>
            <p:ph type="title"/>
          </p:nvPr>
        </p:nvSpPr>
        <p:spPr>
          <a:xfrm>
            <a:off x="1270000" y="3289300"/>
            <a:ext cx="21844000" cy="3873500"/>
          </a:xfrm>
          <a:prstGeom prst="rect">
            <a:avLst/>
          </a:prstGeom>
        </p:spPr>
        <p:txBody>
          <a:bodyPr/>
          <a:lstStyle>
            <a:lvl1pPr>
              <a:lnSpc>
                <a:spcPct val="90000"/>
              </a:lnSpc>
              <a:defRPr sz="11600" spc="-34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212EAC6A-BD11-5967-2CE2-5DDBFB0FC4D4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40F0C2-C010-47AD-93B3-3D81EED6D637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9358884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itolo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Sottotitolo diapositiv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918917-9DF2-00CD-F6D9-647B4E4C183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CD091B-1F25-4F2B-86B0-23EE4826A221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2577149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rogram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itolo programma"/>
          <p:cNvSpPr txBox="1">
            <a:spLocks noGrp="1"/>
          </p:cNvSpPr>
          <p:nvPr>
            <p:ph type="title"/>
          </p:nvPr>
        </p:nvSpPr>
        <p:spPr>
          <a:xfrm>
            <a:off x="1270000" y="812800"/>
            <a:ext cx="21844000" cy="15621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Sottotitolo programma"/>
          <p:cNvSpPr txBox="1">
            <a:spLocks noGrp="1"/>
          </p:cNvSpPr>
          <p:nvPr>
            <p:ph type="body" sz="quarter" idx="21"/>
          </p:nvPr>
        </p:nvSpPr>
        <p:spPr>
          <a:xfrm>
            <a:off x="1270000" y="21336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08990">
              <a:spcBef>
                <a:spcPts val="0"/>
              </a:spcBef>
              <a:buClrTx/>
              <a:buSzTx/>
              <a:buNone/>
              <a:defRPr sz="5292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buClrTx/>
              <a:buSzTx/>
              <a:buNone/>
              <a:defRPr sz="5500" spc="-55"/>
            </a:lvl1pPr>
            <a:lvl2pPr marL="0" indent="457200" defTabSz="825500">
              <a:buClrTx/>
              <a:buSzTx/>
              <a:buNone/>
              <a:defRPr sz="5500" spc="-55"/>
            </a:lvl2pPr>
            <a:lvl3pPr marL="0" indent="914400" defTabSz="825500">
              <a:buClrTx/>
              <a:buSzTx/>
              <a:buNone/>
              <a:defRPr sz="5500" spc="-55"/>
            </a:lvl3pPr>
            <a:lvl4pPr marL="0" indent="1371600" defTabSz="825500">
              <a:buClrTx/>
              <a:buSzTx/>
              <a:buNone/>
              <a:defRPr sz="5500" spc="-55"/>
            </a:lvl4pPr>
            <a:lvl5pPr marL="0" indent="1828800" defTabSz="825500">
              <a:buClrTx/>
              <a:buSzTx/>
              <a:buNone/>
              <a:defRPr sz="5500" spc="-55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79BB9A00-9742-026B-5072-8DFB201217DC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01E4D11-A098-49D4-816A-6ECC76CCFDA8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6419398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ichiar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4927600"/>
            <a:ext cx="21844000" cy="3902869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1pPr>
            <a:lvl2pPr marL="0" indent="4572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2pPr>
            <a:lvl3pPr marL="0" indent="9144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3pPr>
            <a:lvl4pPr marL="0" indent="13716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4pPr>
            <a:lvl5pPr marL="0" indent="1828800" algn="ctr">
              <a:spcBef>
                <a:spcPts val="0"/>
              </a:spcBef>
              <a:buClrTx/>
              <a:buSzTx/>
              <a:buNone/>
              <a:defRPr sz="8400" spc="-252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Graphik Medium"/>
                <a:ea typeface="Graphik Medium"/>
                <a:cs typeface="Graphik Medium"/>
                <a:sym typeface="Graphik Medium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1E47B8D7-6F9F-26DD-B85F-A8740B21AB06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7504A6-7A22-4BF4-B6FA-3AC7584E2992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7582129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Informazione import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3906096"/>
            <a:ext cx="21844000" cy="4488604"/>
          </a:xfrm>
          <a:prstGeom prst="rect">
            <a:avLst/>
          </a:prstGeom>
        </p:spPr>
        <p:txBody>
          <a:bodyPr anchor="b"/>
          <a:lstStyle>
            <a:lvl1pPr marL="0" indent="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 defTabSz="2438338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22400" spc="-448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7" name="Dettagli informa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8521700"/>
            <a:ext cx="21844000" cy="1016000"/>
          </a:xfrm>
          <a:prstGeom prst="rect">
            <a:avLst/>
          </a:prstGeom>
        </p:spPr>
        <p:txBody>
          <a:bodyPr/>
          <a:lstStyle>
            <a:lvl1pPr marL="0" indent="0" algn="ctr" defTabSz="825500">
              <a:spcBef>
                <a:spcPts val="0"/>
              </a:spcBef>
              <a:buClrTx/>
              <a:buSzTx/>
              <a:buNone/>
              <a:defRPr sz="4400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0B8BA8B3-4CD6-9692-88D3-696D5612526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53CB2B4-61FD-44EF-A733-63CCE3BC3933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5051642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zione"/>
          <p:cNvSpPr txBox="1">
            <a:spLocks noGrp="1"/>
          </p:cNvSpPr>
          <p:nvPr>
            <p:ph type="body" sz="quarter" idx="21"/>
          </p:nvPr>
        </p:nvSpPr>
        <p:spPr>
          <a:xfrm>
            <a:off x="1270000" y="11155086"/>
            <a:ext cx="21844000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spcBef>
                <a:spcPts val="0"/>
              </a:spcBef>
              <a:buClrTx/>
              <a:buSzTx/>
              <a:buNone/>
              <a:defRPr sz="4224">
                <a:latin typeface="Graphik Medium"/>
                <a:ea typeface="Graphik Medium"/>
                <a:cs typeface="Graphik Medium"/>
                <a:sym typeface="Graphik Medium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270000" y="5141969"/>
            <a:ext cx="21844000" cy="3430191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ClrTx/>
              <a:buSzTx/>
              <a:buNone/>
              <a:defRPr sz="8400" spc="-168">
                <a:gradFill flip="none" rotWithShape="1">
                  <a:gsLst>
                    <a:gs pos="0">
                      <a:srgbClr val="FF00D8"/>
                    </a:gs>
                    <a:gs pos="100000">
                      <a:srgbClr val="FF542E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5241EB26-8566-5F1B-53A5-7D8A891A1091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8CA1EE-EDC4-410B-AF63-3DF225E3A855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3199350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 - 3 per pag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Due meduse su sfondo di colore rosa"/>
          <p:cNvSpPr>
            <a:spLocks noGrp="1"/>
          </p:cNvSpPr>
          <p:nvPr>
            <p:ph type="pic" sz="half" idx="21"/>
          </p:nvPr>
        </p:nvSpPr>
        <p:spPr>
          <a:xfrm>
            <a:off x="12192000" y="4813300"/>
            <a:ext cx="12192000" cy="920794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5" name="Due meduse che si toccano su sfondo di colore blu scuro"/>
          <p:cNvSpPr>
            <a:spLocks noGrp="1"/>
          </p:cNvSpPr>
          <p:nvPr>
            <p:ph type="pic" sz="half" idx="22"/>
          </p:nvPr>
        </p:nvSpPr>
        <p:spPr>
          <a:xfrm>
            <a:off x="12192000" y="-628650"/>
            <a:ext cx="12192000" cy="812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146" name="Due meduse su sfondo di colore blu"/>
          <p:cNvSpPr>
            <a:spLocks noGrp="1"/>
          </p:cNvSpPr>
          <p:nvPr>
            <p:ph type="pic" idx="23"/>
          </p:nvPr>
        </p:nvSpPr>
        <p:spPr>
          <a:xfrm>
            <a:off x="-4203700" y="0"/>
            <a:ext cx="20574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725A1EC-5AE9-3CD4-FDCD-3673D91DE441}"/>
              </a:ext>
            </a:extLst>
          </p:cNvPr>
          <p:cNvSpPr txBox="1">
            <a:spLocks noGrp="1" noChangeArrowheads="1"/>
          </p:cNvSpPr>
          <p:nvPr>
            <p:ph type="sldNum" sz="quarter" idx="2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DD7BC1-8143-4FA8-8B1B-E6B8ECB12A8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7266385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Due meduse che si toccano su sfondo di colore blu scuro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 lvl="0"/>
            <a:endParaRPr noProof="0">
              <a:sym typeface="Graphik"/>
            </a:endParaRPr>
          </a:p>
        </p:txBody>
      </p:sp>
      <p:sp>
        <p:nvSpPr>
          <p:cNvPr id="2" name="Slide Number">
            <a:extLst>
              <a:ext uri="{FF2B5EF4-FFF2-40B4-BE49-F238E27FC236}">
                <a16:creationId xmlns:a16="http://schemas.microsoft.com/office/drawing/2014/main" id="{A8556D0E-605B-4889-58A4-DDF57131F2A8}"/>
              </a:ext>
            </a:extLst>
          </p:cNvPr>
          <p:cNvSpPr txBox="1">
            <a:spLocks noGrp="1" noChangeArrowheads="1"/>
          </p:cNvSpPr>
          <p:nvPr>
            <p:ph type="sldNum" sz="quarter" idx="2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0FA11F6-ABEA-4792-8531-FF288ADC28AE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41570838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>
            <a:extLst>
              <a:ext uri="{FF2B5EF4-FFF2-40B4-BE49-F238E27FC236}">
                <a16:creationId xmlns:a16="http://schemas.microsoft.com/office/drawing/2014/main" id="{E1D9F5D0-FA00-8AB0-79BA-ADF3AA5D4A18}"/>
              </a:ext>
            </a:extLst>
          </p:cNvPr>
          <p:cNvSpPr txBox="1"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6E8B52-5765-4A24-ABAE-BD5E256F2300}" type="slidenum">
              <a:rPr lang="it-IT" altLang="it-IT"/>
              <a:pPr/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38059793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">
            <a:extLst>
              <a:ext uri="{FF2B5EF4-FFF2-40B4-BE49-F238E27FC236}">
                <a16:creationId xmlns:a16="http://schemas.microsoft.com/office/drawing/2014/main" id="{42D55B1E-F8FF-E787-8D9B-9A4A0675F42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70000" y="812800"/>
            <a:ext cx="21844000" cy="155733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b">
            <a:normAutofit/>
          </a:bodyPr>
          <a:lstStyle/>
          <a:p>
            <a:r>
              <a:t>Titolo</a:t>
            </a:r>
          </a:p>
        </p:txBody>
      </p:sp>
      <p:sp>
        <p:nvSpPr>
          <p:cNvPr id="1027" name="Body Level One…">
            <a:extLst>
              <a:ext uri="{FF2B5EF4-FFF2-40B4-BE49-F238E27FC236}">
                <a16:creationId xmlns:a16="http://schemas.microsoft.com/office/drawing/2014/main" id="{02039F74-6E9E-0A45-DE51-04CA37B0473E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1270000" y="4267200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square" lIns="50800" tIns="50800" rIns="50800" bIns="5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>
                <a:sym typeface="Graphik"/>
              </a:rPr>
              <a:t>Testo elenco puntato diapositiva</a:t>
            </a:r>
          </a:p>
          <a:p>
            <a:pPr lvl="1"/>
            <a:endParaRPr lang="it-IT" altLang="it-IT">
              <a:sym typeface="Graphik"/>
            </a:endParaRPr>
          </a:p>
          <a:p>
            <a:pPr lvl="2"/>
            <a:endParaRPr lang="it-IT" altLang="it-IT">
              <a:sym typeface="Graphik"/>
            </a:endParaRPr>
          </a:p>
          <a:p>
            <a:pPr lvl="3"/>
            <a:endParaRPr lang="it-IT" altLang="it-IT">
              <a:sym typeface="Graphik"/>
            </a:endParaRPr>
          </a:p>
          <a:p>
            <a:pPr lvl="4"/>
            <a:endParaRPr lang="it-IT" altLang="it-IT">
              <a:sym typeface="Graphik"/>
            </a:endParaRPr>
          </a:p>
        </p:txBody>
      </p:sp>
      <p:sp>
        <p:nvSpPr>
          <p:cNvPr id="1028" name="Slide Number">
            <a:extLst>
              <a:ext uri="{FF2B5EF4-FFF2-40B4-BE49-F238E27FC236}">
                <a16:creationId xmlns:a16="http://schemas.microsoft.com/office/drawing/2014/main" id="{89685303-F28B-5607-C188-C68E308BBC11}"/>
              </a:ext>
            </a:extLst>
          </p:cNvPr>
          <p:cNvSpPr txBox="1">
            <a:spLocks noGrp="1" noChangeArrowheads="1"/>
          </p:cNvSpPr>
          <p:nvPr>
            <p:ph type="sldNum" sz="quarter" idx="2"/>
          </p:nvPr>
        </p:nvSpPr>
        <p:spPr bwMode="auto">
          <a:xfrm>
            <a:off x="11966575" y="13065125"/>
            <a:ext cx="43815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vert="horz" wrap="none" lIns="50800" tIns="50800" rIns="50800" bIns="50800" numCol="1" anchor="b" anchorCtr="0" compatLnSpc="1">
            <a:prstTxWarp prst="textNoShape">
              <a:avLst/>
            </a:prstTxWarp>
            <a:spAutoFit/>
          </a:bodyPr>
          <a:lstStyle>
            <a:lvl1pPr algn="ctr" defTabSz="825500" eaLnBrk="1">
              <a:defRPr sz="2200"/>
            </a:lvl1pPr>
          </a:lstStyle>
          <a:p>
            <a:fld id="{DF0FD401-EBBA-4666-B49A-08E9FDF772F8}" type="slidenum">
              <a:rPr lang="it-IT" altLang="it-IT"/>
              <a:pPr/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83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  <p:sldLayoutId id="2147483679" r:id="rId13"/>
    <p:sldLayoutId id="2147483680" r:id="rId14"/>
    <p:sldLayoutId id="2147483681" r:id="rId15"/>
    <p:sldLayoutId id="2147483684" r:id="rId16"/>
    <p:sldLayoutId id="2147483682" r:id="rId17"/>
  </p:sldLayoutIdLst>
  <p:transition spd="med"/>
  <p:txStyles>
    <p:titleStyle>
      <a:lvl1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1pPr>
      <a:lvl2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2pPr>
      <a:lvl3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3pPr>
      <a:lvl4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4pPr>
      <a:lvl5pPr algn="ctr" defTabSz="825500" rtl="0" eaLnBrk="0" fontAlgn="base" hangingPunct="0">
        <a:lnSpc>
          <a:spcPct val="80000"/>
        </a:lnSpc>
        <a:spcBef>
          <a:spcPct val="0"/>
        </a:spcBef>
        <a:spcAft>
          <a:spcPct val="0"/>
        </a:spcAft>
        <a:defRPr sz="8400" spc="-252">
          <a:solidFill>
            <a:srgbClr val="000000"/>
          </a:solidFill>
          <a:latin typeface="+mn-lt"/>
          <a:ea typeface="+mn-ea"/>
          <a:cs typeface="+mn-cs"/>
          <a:sym typeface="Graphik Semibold"/>
        </a:defRPr>
      </a:lvl5pPr>
      <a:lvl6pPr marL="0" marR="0" indent="22860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6pPr>
      <a:lvl7pPr marL="0" marR="0" indent="27432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7pPr>
      <a:lvl8pPr marL="0" marR="0" indent="32004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8pPr>
      <a:lvl9pPr marL="0" marR="0" indent="3657600" algn="ctr" defTabSz="8255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400" b="0" i="0" u="none" strike="noStrike" cap="none" spc="-252" baseline="0">
          <a:solidFill>
            <a:srgbClr val="000000"/>
          </a:solidFill>
          <a:uFillTx/>
          <a:latin typeface="+mn-lt"/>
          <a:ea typeface="+mn-ea"/>
          <a:cs typeface="+mn-cs"/>
          <a:sym typeface="Graphik Semibold"/>
        </a:defRPr>
      </a:lvl9pPr>
    </p:titleStyle>
    <p:bodyStyle>
      <a:lvl1pPr marL="5588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1pPr>
      <a:lvl2pPr marL="11176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2pPr>
      <a:lvl3pPr marL="16764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3pPr>
      <a:lvl4pPr marL="22352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4pPr>
      <a:lvl5pPr marL="2794000" indent="-558800" algn="l" defTabSz="2438400" rtl="0" eaLnBrk="0" fontAlgn="base" hangingPunct="0">
        <a:spcBef>
          <a:spcPts val="2400"/>
        </a:spcBef>
        <a:spcAft>
          <a:spcPct val="0"/>
        </a:spcAft>
        <a:buClr>
          <a:srgbClr val="000000"/>
        </a:buClr>
        <a:buSzPct val="100000"/>
        <a:buChar char="•"/>
        <a:defRPr sz="4800">
          <a:solidFill>
            <a:srgbClr val="000000"/>
          </a:solidFill>
          <a:latin typeface="Graphik"/>
          <a:ea typeface="Graphik"/>
          <a:cs typeface="Graphik"/>
          <a:sym typeface="Graphik"/>
        </a:defRPr>
      </a:lvl5pPr>
      <a:lvl6pPr marL="33528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6pPr>
      <a:lvl7pPr marL="39116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7pPr>
      <a:lvl8pPr marL="44704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8pPr>
      <a:lvl9pPr marL="5029200" marR="0" indent="-558800" algn="l" defTabSz="2438400" rtl="0" latinLnBrk="0">
        <a:lnSpc>
          <a:spcPct val="100000"/>
        </a:lnSpc>
        <a:spcBef>
          <a:spcPts val="2400"/>
        </a:spcBef>
        <a:spcAft>
          <a:spcPts val="0"/>
        </a:spcAft>
        <a:buClr>
          <a:srgbClr val="000000"/>
        </a:buClr>
        <a:buSzPct val="100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Graphik"/>
          <a:ea typeface="Graphik"/>
          <a:cs typeface="Graphik"/>
          <a:sym typeface="Graphik"/>
        </a:defRPr>
      </a:lvl9pPr>
    </p:bodyStyle>
    <p:other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rogettazione e Implementazione di un Modulo di Fault Detection per drone in Modalità HITL">
            <a:extLst>
              <a:ext uri="{FF2B5EF4-FFF2-40B4-BE49-F238E27FC236}">
                <a16:creationId xmlns:a16="http://schemas.microsoft.com/office/drawing/2014/main" id="{44781555-4B6E-81CD-98E4-9988E0FC1679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847975" y="3345226"/>
            <a:ext cx="22626972" cy="3823528"/>
          </a:xfrm>
        </p:spPr>
        <p:txBody>
          <a:bodyPr/>
          <a:lstStyle>
            <a:lvl1pPr defTabSz="1731220">
              <a:defRPr sz="8236" spc="-247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Progettazione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e </a:t>
            </a:r>
            <a:r>
              <a:rPr lang="it-IT"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Implementazione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di un Modulo di Fault Detection per drone in </a:t>
            </a:r>
            <a:r>
              <a:rPr sz="8200" b="1" err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Modalità</a:t>
            </a:r>
            <a:r>
              <a:rPr sz="8200" b="1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 HITL</a:t>
            </a:r>
            <a:endParaRPr lang="it-IT" sz="8200" b="1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sp>
        <p:nvSpPr>
          <p:cNvPr id="5123" name="Roberto Dimitri, Edoardo Palmoni, Jacopo Tarulli">
            <a:extLst>
              <a:ext uri="{FF2B5EF4-FFF2-40B4-BE49-F238E27FC236}">
                <a16:creationId xmlns:a16="http://schemas.microsoft.com/office/drawing/2014/main" id="{66C8ADE2-E0CF-E49D-A904-311F328C7E74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1270000" y="12511088"/>
            <a:ext cx="21844000" cy="693737"/>
          </a:xfrm>
        </p:spPr>
        <p:txBody>
          <a:bodyPr/>
          <a:lstStyle/>
          <a:p>
            <a:pPr defTabSz="825500" eaLnBrk="1" hangingPunct="1">
              <a:spcBef>
                <a:spcPct val="0"/>
              </a:spcBef>
            </a:pPr>
            <a:r>
              <a:rPr lang="it-IT" altLang="it-IT" sz="2400"/>
              <a:t>Roberto Dimitri, Edoardo Palmoni, Jacopo Tarulli</a:t>
            </a:r>
          </a:p>
        </p:txBody>
      </p:sp>
      <p:sp>
        <p:nvSpPr>
          <p:cNvPr id="5124" name="Analisi di robustezza e rilevamento di guasti agli attuatori su piattaforma embedded STM32">
            <a:extLst>
              <a:ext uri="{FF2B5EF4-FFF2-40B4-BE49-F238E27FC236}">
                <a16:creationId xmlns:a16="http://schemas.microsoft.com/office/drawing/2014/main" id="{F46818F1-212F-4BA4-1EE3-DE16F019C395}"/>
              </a:ext>
            </a:extLst>
          </p:cNvPr>
          <p:cNvSpPr txBox="1">
            <a:spLocks noGrp="1" noChangeArrowheads="1"/>
          </p:cNvSpPr>
          <p:nvPr>
            <p:ph type="subTitle" sz="quarter" idx="1"/>
          </p:nvPr>
        </p:nvSpPr>
        <p:spPr>
          <a:xfrm>
            <a:off x="1270000" y="7394575"/>
            <a:ext cx="21844000" cy="2241550"/>
          </a:xfrm>
        </p:spPr>
        <p:txBody>
          <a:bodyPr/>
          <a:lstStyle/>
          <a:p>
            <a:pPr eaLnBrk="1" hangingPunct="1">
              <a:spcBef>
                <a:spcPct val="0"/>
              </a:spcBef>
            </a:pPr>
            <a:r>
              <a:rPr lang="it-IT" altLang="it-IT" sz="3900"/>
              <a:t>Analisi di robustezza e rilevamento di guasti agli attuatori su piattaforma embedded STM32 </a:t>
            </a:r>
          </a:p>
        </p:txBody>
      </p:sp>
      <p:sp>
        <p:nvSpPr>
          <p:cNvPr id="5125" name="1° revisione">
            <a:extLst>
              <a:ext uri="{FF2B5EF4-FFF2-40B4-BE49-F238E27FC236}">
                <a16:creationId xmlns:a16="http://schemas.microsoft.com/office/drawing/2014/main" id="{C77E876D-43B0-1778-6C1B-BFD24299C5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384" y="584325"/>
            <a:ext cx="21844000" cy="12113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3600">
                <a:latin typeface="Graphik Medium"/>
                <a:ea typeface="Graphik Medium"/>
                <a:cs typeface="Graphik Medium"/>
                <a:sym typeface="Graphik Medium"/>
              </a:rPr>
              <a:t>30/04/2026 - 1° revisione -</a:t>
            </a:r>
          </a:p>
        </p:txBody>
      </p:sp>
      <p:sp>
        <p:nvSpPr>
          <p:cNvPr id="5126" name="Progetto di Manutenzione Preventiva per la Robotica e Automazione Intelligente">
            <a:extLst>
              <a:ext uri="{FF2B5EF4-FFF2-40B4-BE49-F238E27FC236}">
                <a16:creationId xmlns:a16="http://schemas.microsoft.com/office/drawing/2014/main" id="{4AD18FF1-E3AE-2845-243E-BC315D2C4F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899900"/>
            <a:ext cx="21844000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Progetto di Manutenzione Preventiva per la Robotica e Automazione Intelligente</a:t>
            </a:r>
          </a:p>
        </p:txBody>
      </p:sp>
      <p:sp>
        <p:nvSpPr>
          <p:cNvPr id="5127" name="A.A. 2025/2026">
            <a:extLst>
              <a:ext uri="{FF2B5EF4-FFF2-40B4-BE49-F238E27FC236}">
                <a16:creationId xmlns:a16="http://schemas.microsoft.com/office/drawing/2014/main" id="{3EC82291-37E1-24E9-106F-1FA13286C7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000" y="11491913"/>
            <a:ext cx="21844000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/>
          <a:lstStyle>
            <a:lvl1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 defTabSz="8255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8255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algn="ctr" eaLnBrk="1">
              <a:spcBef>
                <a:spcPct val="0"/>
              </a:spcBef>
            </a:pPr>
            <a:r>
              <a:rPr lang="it-IT" altLang="it-IT" sz="2400" i="1">
                <a:latin typeface="Avenir Next Regular"/>
                <a:ea typeface="Avenir Next Regular"/>
                <a:cs typeface="Avenir Next Regular"/>
                <a:sym typeface="Avenir Next Regular"/>
              </a:rPr>
              <a:t>A.A. 2025/2026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filmato-incollato.png" descr="filmato-incollato.png">
            <a:extLst>
              <a:ext uri="{FF2B5EF4-FFF2-40B4-BE49-F238E27FC236}">
                <a16:creationId xmlns:a16="http://schemas.microsoft.com/office/drawing/2014/main" id="{B12B0A38-6288-3903-9275-FC673776B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59" t="-792" r="19901" b="4356"/>
          <a:stretch>
            <a:fillRect/>
          </a:stretch>
        </p:blipFill>
        <p:spPr bwMode="auto">
          <a:xfrm>
            <a:off x="17406359" y="3663426"/>
            <a:ext cx="6297156" cy="6351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78" name="Modello e Obiettivi">
            <a:extLst>
              <a:ext uri="{FF2B5EF4-FFF2-40B4-BE49-F238E27FC236}">
                <a16:creationId xmlns:a16="http://schemas.microsoft.com/office/drawing/2014/main" id="{7DDFBD2A-1309-124E-8511-4AA2E1D90F7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err="1"/>
              <a:t>Modello</a:t>
            </a:r>
            <a:r>
              <a:rPr lang="it-IT" b="1"/>
              <a:t> e </a:t>
            </a:r>
            <a:r>
              <a:rPr lang="it-IT" b="1" err="1"/>
              <a:t>Obiettivi</a:t>
            </a:r>
          </a:p>
        </p:txBody>
      </p:sp>
      <p:sp>
        <p:nvSpPr>
          <p:cNvPr id="6147" name="Target Hardware: STM32 Nucleo-H723ZG…">
            <a:extLst>
              <a:ext uri="{FF2B5EF4-FFF2-40B4-BE49-F238E27FC236}">
                <a16:creationId xmlns:a16="http://schemas.microsoft.com/office/drawing/2014/main" id="{E51C1644-0648-F244-6A38-7A3688C0E66A}"/>
              </a:ext>
            </a:extLst>
          </p:cNvPr>
          <p:cNvSpPr txBox="1">
            <a:spLocks noGrp="1" noChangeArrowheads="1"/>
          </p:cNvSpPr>
          <p:nvPr>
            <p:ph type="body" idx="1"/>
          </p:nvPr>
        </p:nvSpPr>
        <p:spPr>
          <a:xfrm>
            <a:off x="1270000" y="4267200"/>
            <a:ext cx="15826154" cy="8432800"/>
          </a:xfrm>
        </p:spPr>
        <p:txBody>
          <a:bodyPr/>
          <a:lstStyle/>
          <a:p>
            <a:pPr eaLnBrk="1" hangingPunct="1"/>
            <a:r>
              <a:rPr lang="it-IT" altLang="it-IT" i="1">
                <a:latin typeface="Avenir Next Regular"/>
                <a:ea typeface="Avenir Next Regular"/>
                <a:cs typeface="Avenir Next Regular"/>
                <a:sym typeface="Avenir Next Regular"/>
              </a:rPr>
              <a:t>Target Hardware</a:t>
            </a:r>
            <a:r>
              <a:rPr lang="it-IT" altLang="it-IT"/>
              <a:t>: STM32 Nucleo-H723ZG</a:t>
            </a:r>
          </a:p>
          <a:p>
            <a:pPr eaLnBrk="1" hangingPunct="1"/>
            <a:r>
              <a:rPr lang="it-IT" altLang="it-IT" i="1">
                <a:latin typeface="Avenir Next Regular"/>
                <a:ea typeface="Avenir Next Regular"/>
                <a:cs typeface="Avenir Next Regular"/>
                <a:sym typeface="Avenir Next Regular"/>
              </a:rPr>
              <a:t>Sistema</a:t>
            </a:r>
            <a:r>
              <a:rPr lang="it-IT" altLang="it-IT"/>
              <a:t>: Drone </a:t>
            </a:r>
            <a:r>
              <a:rPr lang="it-IT" altLang="it-IT" err="1"/>
              <a:t>Esacottero</a:t>
            </a:r>
            <a:r>
              <a:rPr lang="it-IT" altLang="it-IT"/>
              <a:t> con controllore </a:t>
            </a:r>
            <a:r>
              <a:rPr lang="it-IT" altLang="it-IT" err="1"/>
              <a:t>Disturbance</a:t>
            </a:r>
            <a:r>
              <a:rPr lang="it-IT" altLang="it-IT"/>
              <a:t> Observer </a:t>
            </a:r>
            <a:r>
              <a:rPr lang="it-IT" altLang="it-IT" err="1"/>
              <a:t>Based</a:t>
            </a:r>
            <a:r>
              <a:rPr lang="it-IT" altLang="it-IT"/>
              <a:t> Control</a:t>
            </a:r>
          </a:p>
          <a:p>
            <a:pPr eaLnBrk="1" hangingPunct="1"/>
            <a:r>
              <a:rPr lang="it-IT" altLang="it-IT" i="1">
                <a:latin typeface="Avenir Next Regular"/>
                <a:ea typeface="Avenir Next Regular"/>
                <a:cs typeface="Avenir Next Regular"/>
                <a:sym typeface="Avenir Next Regular"/>
              </a:rPr>
              <a:t>Obiettivo Fault </a:t>
            </a:r>
            <a:r>
              <a:rPr lang="it-IT" altLang="it-IT" i="1" err="1">
                <a:latin typeface="Avenir Next Regular"/>
                <a:ea typeface="Avenir Next Regular"/>
                <a:cs typeface="Avenir Next Regular"/>
                <a:sym typeface="Avenir Next Regular"/>
              </a:rPr>
              <a:t>Detection</a:t>
            </a:r>
            <a:r>
              <a:rPr lang="it-IT" altLang="it-IT"/>
              <a:t>: Rilevare perdite di efficacia e malfunzionamenti degli attuatori in tempo reale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ools installati">
            <a:extLst>
              <a:ext uri="{FF2B5EF4-FFF2-40B4-BE49-F238E27FC236}">
                <a16:creationId xmlns:a16="http://schemas.microsoft.com/office/drawing/2014/main" id="{E916A9B9-12E7-D212-9A71-A25048937EC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b="1"/>
              <a:t>Tools </a:t>
            </a:r>
            <a:r>
              <a:rPr b="1" err="1"/>
              <a:t>installati</a:t>
            </a:r>
            <a:endParaRPr lang="it-IT" b="1" err="1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C03A5F4-4E49-5A29-1170-094DA27681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0000" y="2458341"/>
            <a:ext cx="21844000" cy="6196649"/>
          </a:xfrm>
        </p:spPr>
        <p:txBody>
          <a:bodyPr/>
          <a:lstStyle/>
          <a:p>
            <a:pPr marL="535940" indent="-535940">
              <a:buFont typeface="Arial"/>
              <a:buChar char="•"/>
            </a:pPr>
            <a:r>
              <a:rPr lang="it-IT"/>
              <a:t>MATLAB</a:t>
            </a:r>
          </a:p>
          <a:p>
            <a:pPr marL="535940" indent="-535940">
              <a:buFont typeface="Arial"/>
              <a:buChar char="•"/>
            </a:pPr>
            <a:r>
              <a:rPr lang="it-IT" err="1"/>
              <a:t>Simulink</a:t>
            </a:r>
            <a:endParaRPr lang="it-IT"/>
          </a:p>
          <a:p>
            <a:pPr marL="535940" indent="-535940">
              <a:buFont typeface="Arial"/>
              <a:buChar char="•"/>
            </a:pPr>
            <a:r>
              <a:rPr lang="it-IT"/>
              <a:t>STM32 </a:t>
            </a:r>
            <a:r>
              <a:rPr lang="it-IT" err="1"/>
              <a:t>CubeMX</a:t>
            </a:r>
            <a:endParaRPr lang="it-IT"/>
          </a:p>
          <a:p>
            <a:pPr marL="535940" indent="-535940">
              <a:buFont typeface="Arial"/>
              <a:buChar char="•"/>
            </a:pPr>
            <a:r>
              <a:rPr lang="it-IT"/>
              <a:t>UAV </a:t>
            </a:r>
            <a:r>
              <a:rPr lang="it-IT" err="1"/>
              <a:t>ToolBox</a:t>
            </a:r>
          </a:p>
          <a:p>
            <a:pPr>
              <a:buFont typeface="Arial"/>
              <a:buChar char="•"/>
            </a:pPr>
            <a:r>
              <a:rPr lang="it-IT"/>
              <a:t>STM </a:t>
            </a:r>
            <a:r>
              <a:rPr lang="it-IT">
                <a:latin typeface="Roboto"/>
                <a:ea typeface="Roboto"/>
                <a:cs typeface="Roboto"/>
              </a:rPr>
              <a:t>Embedded </a:t>
            </a:r>
            <a:r>
              <a:rPr lang="it-IT" err="1">
                <a:latin typeface="Roboto"/>
                <a:ea typeface="Roboto"/>
                <a:cs typeface="Roboto"/>
              </a:rPr>
              <a:t>Coder</a:t>
            </a:r>
            <a:r>
              <a:rPr lang="it-IT">
                <a:latin typeface="Roboto"/>
                <a:ea typeface="Roboto"/>
                <a:cs typeface="Roboto"/>
              </a:rPr>
              <a:t> Support Package for STMicroelectronics STM32 Processors</a:t>
            </a:r>
            <a:endParaRPr lang="it-IT"/>
          </a:p>
          <a:p>
            <a:pPr marL="535940" indent="-535940">
              <a:buFont typeface="Arial"/>
              <a:buChar char="•"/>
            </a:pPr>
            <a:endParaRPr lang="it-IT"/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4C267306-8F91-BEF0-E4FB-B3410675D71F}"/>
              </a:ext>
            </a:extLst>
          </p:cNvPr>
          <p:cNvGrpSpPr/>
          <p:nvPr/>
        </p:nvGrpSpPr>
        <p:grpSpPr>
          <a:xfrm>
            <a:off x="1804777" y="8614377"/>
            <a:ext cx="20787687" cy="2934636"/>
            <a:chOff x="1861345" y="8317393"/>
            <a:chExt cx="20787687" cy="2934636"/>
          </a:xfrm>
        </p:grpSpPr>
        <p:pic>
          <p:nvPicPr>
            <p:cNvPr id="5" name="Immagine 4" descr="Immagine che contiene schermata, Elementi grafici, Policromia, grafica&#10;&#10;Il contenuto generato dall&amp;#39;IA potrebbe non essere corretto.">
              <a:extLst>
                <a:ext uri="{FF2B5EF4-FFF2-40B4-BE49-F238E27FC236}">
                  <a16:creationId xmlns:a16="http://schemas.microsoft.com/office/drawing/2014/main" id="{02040095-37FC-4EEC-B583-FAF409B58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85317" y="8733516"/>
              <a:ext cx="2099061" cy="2099061"/>
            </a:xfrm>
            <a:prstGeom prst="rect">
              <a:avLst/>
            </a:prstGeom>
          </p:spPr>
        </p:pic>
        <p:pic>
          <p:nvPicPr>
            <p:cNvPr id="6" name="Immagine 5" descr="Immagine che contiene grafica, Elementi grafici, design&#10;&#10;Il contenuto generato dall&amp;#39;IA potrebbe non essere corretto.">
              <a:extLst>
                <a:ext uri="{FF2B5EF4-FFF2-40B4-BE49-F238E27FC236}">
                  <a16:creationId xmlns:a16="http://schemas.microsoft.com/office/drawing/2014/main" id="{C072500B-EA1F-2186-73F5-27FD9CB35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753" t="2346" r="9892" b="9091"/>
            <a:stretch>
              <a:fillRect/>
            </a:stretch>
          </p:blipFill>
          <p:spPr>
            <a:xfrm>
              <a:off x="1861345" y="8317393"/>
              <a:ext cx="3575381" cy="2934636"/>
            </a:xfrm>
            <a:prstGeom prst="rect">
              <a:avLst/>
            </a:prstGeom>
          </p:spPr>
        </p:pic>
        <p:pic>
          <p:nvPicPr>
            <p:cNvPr id="7" name="Immagine 6" descr="Immagine che contiene design, test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11B52561-F11B-813F-1C2E-D9369DB0CF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5660" t="3409" r="5660" b="1704"/>
            <a:stretch>
              <a:fillRect/>
            </a:stretch>
          </p:blipFill>
          <p:spPr>
            <a:xfrm>
              <a:off x="10046621" y="8837638"/>
              <a:ext cx="3165663" cy="1889285"/>
            </a:xfrm>
            <a:prstGeom prst="rect">
              <a:avLst/>
            </a:prstGeom>
          </p:spPr>
        </p:pic>
        <p:pic>
          <p:nvPicPr>
            <p:cNvPr id="8" name="Immagine 7" descr="Immagine che contiene elettronica, circuito, Ingegneria elettronica, Componente elettrico&#10;&#10;Il contenuto generato dall&amp;#39;IA potrebbe non essere corretto.">
              <a:extLst>
                <a:ext uri="{FF2B5EF4-FFF2-40B4-BE49-F238E27FC236}">
                  <a16:creationId xmlns:a16="http://schemas.microsoft.com/office/drawing/2014/main" id="{18E67749-6E91-3EDD-024B-CA700F634A5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601032" y="8642410"/>
              <a:ext cx="3048000" cy="2286000"/>
            </a:xfrm>
            <a:prstGeom prst="rect">
              <a:avLst/>
            </a:prstGeom>
          </p:spPr>
        </p:pic>
        <p:pic>
          <p:nvPicPr>
            <p:cNvPr id="9" name="Immagine 8" descr="Immagine che contiene trasporto, schermata, elicottero, aeromobile&#10;&#10;Il contenuto generato dall&amp;#39;IA potrebbe non essere corretto.">
              <a:extLst>
                <a:ext uri="{FF2B5EF4-FFF2-40B4-BE49-F238E27FC236}">
                  <a16:creationId xmlns:a16="http://schemas.microsoft.com/office/drawing/2014/main" id="{20DC40DF-052C-2D47-9A26-4CF4A66E1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4615740" y="8721446"/>
              <a:ext cx="3603477" cy="2118645"/>
            </a:xfrm>
            <a:prstGeom prst="rect">
              <a:avLst/>
            </a:prstGeom>
          </p:spPr>
        </p:pic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imulazione del Modello di base">
            <a:extLst>
              <a:ext uri="{FF2B5EF4-FFF2-40B4-BE49-F238E27FC236}">
                <a16:creationId xmlns:a16="http://schemas.microsoft.com/office/drawing/2014/main" id="{17FDFDF6-5ABB-963A-C857-61CDD3A6B0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279900" y="1319213"/>
            <a:ext cx="15824200" cy="1557337"/>
          </a:xfrm>
        </p:spPr>
        <p:txBody>
          <a:bodyPr/>
          <a:lstStyle>
            <a:lvl1pPr>
              <a:defRPr sz="7000" spc="-209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b="1" err="1"/>
              <a:t>Simulazione</a:t>
            </a:r>
            <a:r>
              <a:rPr b="1"/>
              <a:t> del </a:t>
            </a:r>
            <a:r>
              <a:rPr b="1" err="1"/>
              <a:t>Modello</a:t>
            </a:r>
            <a:r>
              <a:rPr b="1"/>
              <a:t> di base</a:t>
            </a:r>
            <a:endParaRPr lang="it-IT" b="1"/>
          </a:p>
        </p:txBody>
      </p:sp>
      <p:sp>
        <p:nvSpPr>
          <p:cNvPr id="8195" name="Validazione del modello in ambiente Simulink puro (Normal Mode).">
            <a:extLst>
              <a:ext uri="{FF2B5EF4-FFF2-40B4-BE49-F238E27FC236}">
                <a16:creationId xmlns:a16="http://schemas.microsoft.com/office/drawing/2014/main" id="{DD09BB0B-6B0B-833A-9D8B-E004AE01DF90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1181482" y="3100027"/>
            <a:ext cx="22081628" cy="1141038"/>
          </a:xfrm>
        </p:spPr>
        <p:txBody>
          <a:bodyPr/>
          <a:lstStyle/>
          <a:p>
            <a:pPr defTabSz="825500" eaLnBrk="1" hangingPunct="1">
              <a:spcBef>
                <a:spcPct val="0"/>
              </a:spcBef>
            </a:pPr>
            <a:r>
              <a:rPr lang="it-IT" altLang="it-IT" sz="3300"/>
              <a:t>Validazione del modello in ambiente </a:t>
            </a:r>
            <a:r>
              <a:rPr lang="it-IT" altLang="it-IT" sz="3300" err="1"/>
              <a:t>Simulink</a:t>
            </a:r>
            <a:r>
              <a:rPr lang="it-IT" altLang="it-IT" sz="3300"/>
              <a:t> puro (</a:t>
            </a:r>
            <a:r>
              <a:rPr lang="it-IT" altLang="it-IT" sz="3300" err="1"/>
              <a:t>Normal</a:t>
            </a:r>
            <a:r>
              <a:rPr lang="it-IT" altLang="it-IT" sz="3300"/>
              <a:t> Mode), conferma del movimento a spirale ascendente</a:t>
            </a:r>
          </a:p>
        </p:txBody>
      </p:sp>
      <p:sp>
        <p:nvSpPr>
          <p:cNvPr id="192" name="Punto 1">
            <a:extLst>
              <a:ext uri="{FF2B5EF4-FFF2-40B4-BE49-F238E27FC236}">
                <a16:creationId xmlns:a16="http://schemas.microsoft.com/office/drawing/2014/main" id="{FD7AE254-1EE5-E27B-B18B-A5DB19FB0CB0}"/>
              </a:ext>
            </a:extLst>
          </p:cNvPr>
          <p:cNvSpPr txBox="1"/>
          <p:nvPr/>
        </p:nvSpPr>
        <p:spPr>
          <a:xfrm>
            <a:off x="9021383" y="636241"/>
            <a:ext cx="6201815" cy="1376787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z="9200" spc="-276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b="1" kern="0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Punto 1</a:t>
            </a:r>
            <a:endParaRPr lang="it-IT" b="1" kern="0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pic>
        <p:nvPicPr>
          <p:cNvPr id="2" name="Immagine 1" descr="Immagine che contiene testo, Diagramma, linea, schermata&#10;&#10;Il contenuto generato dall&amp;#39;IA potrebbe non essere corretto.">
            <a:extLst>
              <a:ext uri="{FF2B5EF4-FFF2-40B4-BE49-F238E27FC236}">
                <a16:creationId xmlns:a16="http://schemas.microsoft.com/office/drawing/2014/main" id="{881D7570-3468-CAB7-E2DC-8851A261A2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8169" y="3897004"/>
            <a:ext cx="13826525" cy="945688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Validazione in Modalità Processor-In-The-Loop">
            <a:extLst>
              <a:ext uri="{FF2B5EF4-FFF2-40B4-BE49-F238E27FC236}">
                <a16:creationId xmlns:a16="http://schemas.microsoft.com/office/drawing/2014/main" id="{254E93D9-31A2-22BB-66E6-244BC9679C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1296988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b="1" err="1"/>
              <a:t>Validazione</a:t>
            </a:r>
            <a:r>
              <a:rPr b="1"/>
              <a:t> in </a:t>
            </a:r>
            <a:r>
              <a:rPr b="1" err="1"/>
              <a:t>Modalità</a:t>
            </a:r>
            <a:r>
              <a:rPr b="1"/>
              <a:t> Processor-In-The-Loop</a:t>
            </a:r>
            <a:endParaRPr lang="it-IT" b="1"/>
          </a:p>
        </p:txBody>
      </p:sp>
      <p:sp>
        <p:nvSpPr>
          <p:cNvPr id="9219" name="Spostamento dell'algoritmo di controllo sulla scheda STM32">
            <a:extLst>
              <a:ext uri="{FF2B5EF4-FFF2-40B4-BE49-F238E27FC236}">
                <a16:creationId xmlns:a16="http://schemas.microsoft.com/office/drawing/2014/main" id="{0B9F8CCF-7C45-1B33-38A0-046FA33C644B}"/>
              </a:ext>
            </a:extLst>
          </p:cNvPr>
          <p:cNvSpPr txBox="1">
            <a:spLocks noGrp="1" noChangeArrowheads="1"/>
          </p:cNvSpPr>
          <p:nvPr>
            <p:ph type="body" idx="21"/>
          </p:nvPr>
        </p:nvSpPr>
        <p:spPr>
          <a:xfrm>
            <a:off x="4059238" y="2837801"/>
            <a:ext cx="16265525" cy="1014412"/>
          </a:xfrm>
        </p:spPr>
        <p:txBody>
          <a:bodyPr/>
          <a:lstStyle/>
          <a:p>
            <a:pPr defTabSz="825500" eaLnBrk="1" hangingPunct="1">
              <a:spcBef>
                <a:spcPct val="0"/>
              </a:spcBef>
            </a:pPr>
            <a:r>
              <a:rPr lang="it-IT" altLang="it-IT" sz="3300"/>
              <a:t>Spostamento dell'algoritmo di controllo sulla scheda STM32</a:t>
            </a:r>
          </a:p>
        </p:txBody>
      </p:sp>
      <p:sp>
        <p:nvSpPr>
          <p:cNvPr id="9220" name="Dettagli tecnici: Integrazione via seriale fra PC (Plant) e STM32 (Controller). Corretto puntamento del file di configurazione hardware (.ioc)…">
            <a:extLst>
              <a:ext uri="{FF2B5EF4-FFF2-40B4-BE49-F238E27FC236}">
                <a16:creationId xmlns:a16="http://schemas.microsoft.com/office/drawing/2014/main" id="{2C7DA546-A361-0AD8-87A4-036D7E222A5D}"/>
              </a:ext>
            </a:extLst>
          </p:cNvPr>
          <p:cNvSpPr txBox="1">
            <a:spLocks noGrp="1" noChangeArrowheads="1"/>
          </p:cNvSpPr>
          <p:nvPr>
            <p:ph type="body" sz="half" idx="1"/>
          </p:nvPr>
        </p:nvSpPr>
        <p:spPr>
          <a:xfrm>
            <a:off x="762000" y="3617558"/>
            <a:ext cx="22580367" cy="3840790"/>
          </a:xfrm>
        </p:spPr>
        <p:txBody>
          <a:bodyPr/>
          <a:lstStyle/>
          <a:p>
            <a:pPr marL="0" indent="0" eaLnBrk="1" hangingPunct="1">
              <a:buClrTx/>
              <a:buSzTx/>
              <a:buFontTx/>
              <a:buNone/>
            </a:pPr>
            <a:r>
              <a:rPr lang="it-IT" altLang="it-IT" sz="3200" i="1">
                <a:latin typeface="Avenir Next Regular"/>
                <a:ea typeface="Avenir Next Regular"/>
                <a:cs typeface="Avenir Next Regular"/>
                <a:sym typeface="Avenir Next Regular"/>
              </a:rPr>
              <a:t>Dettagli tecnici: </a:t>
            </a:r>
            <a:r>
              <a:rPr lang="it-IT" altLang="it-IT" sz="3200"/>
              <a:t>Integrazione via seriale fra PC (Plant) e STM32 (Controller). Corretto puntamento del file di configurazione hardware </a:t>
            </a:r>
            <a:r>
              <a:rPr lang="it-IT" altLang="it-IT" sz="3200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rPr>
              <a:t>(.</a:t>
            </a:r>
            <a:r>
              <a:rPr lang="it-IT" altLang="it-IT" sz="3200" err="1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rPr>
              <a:t>ioc</a:t>
            </a:r>
            <a:r>
              <a:rPr lang="it-IT" altLang="it-IT" sz="3200">
                <a:solidFill>
                  <a:srgbClr val="5E5E5E"/>
                </a:solidFill>
                <a:latin typeface="Courier"/>
                <a:ea typeface="Courier"/>
                <a:cs typeface="Courier"/>
                <a:sym typeface="Courier"/>
              </a:rPr>
              <a:t>) </a:t>
            </a:r>
            <a:endParaRPr lang="it-IT" altLang="it-IT" sz="3200">
              <a:solidFill>
                <a:srgbClr val="5E5E5E"/>
              </a:solidFill>
              <a:latin typeface="Courier"/>
              <a:ea typeface="Courier"/>
              <a:cs typeface="Courier"/>
            </a:endParaRPr>
          </a:p>
          <a:p>
            <a:pPr marL="0" indent="0" eaLnBrk="1" hangingPunct="1">
              <a:buClrTx/>
              <a:buSzTx/>
              <a:buFontTx/>
              <a:buNone/>
            </a:pPr>
            <a:r>
              <a:rPr lang="it-IT" altLang="it-IT" sz="3200" i="1">
                <a:latin typeface="Avenir Next Regular"/>
                <a:ea typeface="Avenir Next Regular"/>
                <a:cs typeface="Avenir Next Regular"/>
                <a:sym typeface="Avenir Next Regular"/>
              </a:rPr>
              <a:t>Risultato: </a:t>
            </a:r>
            <a:r>
              <a:rPr lang="it-IT" altLang="it-IT" sz="3200"/>
              <a:t>Dimostrazione dell'equivalenza numerica tra simulazione pura e PIL (stessi grafici, ma calcolati dal processore).</a:t>
            </a:r>
          </a:p>
        </p:txBody>
      </p:sp>
      <p:sp>
        <p:nvSpPr>
          <p:cNvPr id="198" name="Punto 2">
            <a:extLst>
              <a:ext uri="{FF2B5EF4-FFF2-40B4-BE49-F238E27FC236}">
                <a16:creationId xmlns:a16="http://schemas.microsoft.com/office/drawing/2014/main" id="{3772664C-88ED-2CA2-DA43-91C564E96F8A}"/>
              </a:ext>
            </a:extLst>
          </p:cNvPr>
          <p:cNvSpPr txBox="1"/>
          <p:nvPr/>
        </p:nvSpPr>
        <p:spPr>
          <a:xfrm>
            <a:off x="8753042" y="622359"/>
            <a:ext cx="6733118" cy="1376787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z="9200" spc="-276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b="1" kern="0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Punto 2</a:t>
            </a:r>
            <a:endParaRPr lang="it-IT" b="1" kern="0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pic>
        <p:nvPicPr>
          <p:cNvPr id="3" name="Immagine 2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D5E52956-04F5-7F99-00CA-9F1B25A85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3850" y="5717152"/>
            <a:ext cx="9968917" cy="7563024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trategia di Iniezione Guasti">
            <a:extLst>
              <a:ext uri="{FF2B5EF4-FFF2-40B4-BE49-F238E27FC236}">
                <a16:creationId xmlns:a16="http://schemas.microsoft.com/office/drawing/2014/main" id="{7DE42434-8B10-0B7D-4000-886E0AD5A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05000" y="1296988"/>
            <a:ext cx="20574000" cy="1557337"/>
          </a:xfrm>
        </p:spPr>
        <p:txBody>
          <a:bodyPr/>
          <a:lstStyle>
            <a:lvl1pPr>
              <a:defRPr sz="7000" spc="-209"/>
            </a:lvl1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b="1" err="1"/>
              <a:t>Strategia</a:t>
            </a:r>
            <a:r>
              <a:rPr b="1"/>
              <a:t> di </a:t>
            </a:r>
            <a:r>
              <a:rPr b="1" err="1"/>
              <a:t>Iniezione</a:t>
            </a:r>
            <a:r>
              <a:rPr b="1"/>
              <a:t> Guasti</a:t>
            </a:r>
            <a:r>
              <a:rPr lang="it-IT" b="1"/>
              <a:t> Motore</a:t>
            </a:r>
          </a:p>
        </p:txBody>
      </p:sp>
      <p:sp>
        <p:nvSpPr>
          <p:cNvPr id="204" name="Punto 3">
            <a:extLst>
              <a:ext uri="{FF2B5EF4-FFF2-40B4-BE49-F238E27FC236}">
                <a16:creationId xmlns:a16="http://schemas.microsoft.com/office/drawing/2014/main" id="{7162DD72-5BF7-9333-576A-F079910E74ED}"/>
              </a:ext>
            </a:extLst>
          </p:cNvPr>
          <p:cNvSpPr txBox="1"/>
          <p:nvPr/>
        </p:nvSpPr>
        <p:spPr>
          <a:xfrm>
            <a:off x="7947852" y="622358"/>
            <a:ext cx="8438879" cy="1376787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ctr">
            <a:spAutoFit/>
          </a:bodyPr>
          <a:lstStyle>
            <a:lvl1pPr algn="ctr" defTabSz="2438338">
              <a:lnSpc>
                <a:spcPct val="90000"/>
              </a:lnSpc>
              <a:spcBef>
                <a:spcPts val="0"/>
              </a:spcBef>
              <a:defRPr sz="9200" spc="-276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  <a:latin typeface="+mn-lt"/>
                <a:ea typeface="+mn-ea"/>
                <a:cs typeface="+mn-cs"/>
                <a:sym typeface="Graphik Semibold"/>
              </a:defRPr>
            </a:lvl1pPr>
          </a:lstStyle>
          <a:p>
            <a:pPr eaLnBrk="1" fontAlgn="auto">
              <a:spcAft>
                <a:spcPts val="0"/>
              </a:spcAft>
              <a:defRPr/>
            </a:pPr>
            <a:r>
              <a:rPr b="1" kern="0">
                <a:gradFill flip="none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rPr>
              <a:t>Punto 3</a:t>
            </a:r>
            <a:endParaRPr lang="it-IT" b="1" kern="0">
              <a:gradFill flip="none">
                <a:gsLst>
                  <a:gs pos="0">
                    <a:srgbClr val="1E98FD"/>
                  </a:gs>
                  <a:gs pos="100000">
                    <a:srgbClr val="FF00F7"/>
                  </a:gs>
                </a:gsLst>
                <a:lin ang="3960000" scaled="0"/>
              </a:gradFill>
            </a:endParaRPr>
          </a:p>
        </p:txBody>
      </p:sp>
      <p:pic>
        <p:nvPicPr>
          <p:cNvPr id="2" name="Immagine 1" descr="Immagine che contiene testo, diagramma, Piano, Disegno tecnico&#10;&#10;Il contenuto generato dall&amp;#39;IA potrebbe non essere corretto.">
            <a:extLst>
              <a:ext uri="{FF2B5EF4-FFF2-40B4-BE49-F238E27FC236}">
                <a16:creationId xmlns:a16="http://schemas.microsoft.com/office/drawing/2014/main" id="{8DE943D0-A92F-0D45-5411-8F89FC803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0" t="-2" r="898" b="-160"/>
          <a:stretch>
            <a:fillRect/>
          </a:stretch>
        </p:blipFill>
        <p:spPr>
          <a:xfrm>
            <a:off x="14008435" y="2839900"/>
            <a:ext cx="9726362" cy="10819638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9E70DC9C-0EB0-844F-5A69-2098750B2877}"/>
              </a:ext>
            </a:extLst>
          </p:cNvPr>
          <p:cNvSpPr txBox="1"/>
          <p:nvPr/>
        </p:nvSpPr>
        <p:spPr>
          <a:xfrm>
            <a:off x="838741" y="2840153"/>
            <a:ext cx="12033260" cy="27126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fontAlgn="auto">
              <a:spcBef>
                <a:spcPts val="2400"/>
              </a:spcBef>
              <a:spcAft>
                <a:spcPts val="0"/>
              </a:spcAft>
            </a:pPr>
            <a:r>
              <a:rPr lang="it-IT" u="sng"/>
              <a:t>Tipologia implementata:</a:t>
            </a:r>
            <a:r>
              <a:rPr lang="it-IT"/>
              <a:t> Guasto a gradino aggiunto con Manual Switch su ogni motore da attivare in base all'iniezione voluta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906B11E-9F04-961E-3890-F1FAEB14A5C4}"/>
              </a:ext>
            </a:extLst>
          </p:cNvPr>
          <p:cNvSpPr txBox="1"/>
          <p:nvPr/>
        </p:nvSpPr>
        <p:spPr>
          <a:xfrm>
            <a:off x="4562130" y="5257871"/>
            <a:ext cx="3391503" cy="114903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spcBef>
                <a:spcPts val="2400"/>
              </a:spcBef>
              <a:spcAft>
                <a:spcPts val="0"/>
              </a:spcAft>
            </a:pPr>
            <a:r>
              <a:rPr lang="it-IT" b="1"/>
              <a:t>Parametri</a:t>
            </a:r>
            <a:endParaRPr lang="it-IT"/>
          </a:p>
        </p:txBody>
      </p:sp>
      <p:pic>
        <p:nvPicPr>
          <p:cNvPr id="7" name="Immagine 6" descr="Immagine che contiene testo, schermata, numer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794BD18A-C391-A783-62C7-67667AFEC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5748" y="6395250"/>
            <a:ext cx="7017767" cy="686500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rafici Guasti Abruptiv (Step):">
            <a:extLst>
              <a:ext uri="{FF2B5EF4-FFF2-40B4-BE49-F238E27FC236}">
                <a16:creationId xmlns:a16="http://schemas.microsoft.com/office/drawing/2014/main" id="{6735C17E-31D1-B4C2-F200-44C88D51C69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 err="1"/>
              <a:t>Grafici</a:t>
            </a:r>
            <a:r>
              <a:rPr lang="it-IT" b="1"/>
              <a:t> Guasti </a:t>
            </a:r>
            <a:r>
              <a:rPr lang="it-IT" b="1" err="1"/>
              <a:t>Abrupt</a:t>
            </a:r>
            <a:r>
              <a:rPr lang="it-IT" b="1"/>
              <a:t> (Step):</a:t>
            </a:r>
          </a:p>
        </p:txBody>
      </p:sp>
      <p:pic>
        <p:nvPicPr>
          <p:cNvPr id="18437" name="1.1.Step_f1_SimpleTime20_Final0.4.png" descr="1.1.Step_f1_SimpleTime20_Final0.4.png">
            <a:extLst>
              <a:ext uri="{FF2B5EF4-FFF2-40B4-BE49-F238E27FC236}">
                <a16:creationId xmlns:a16="http://schemas.microsoft.com/office/drawing/2014/main" id="{D452E455-6FBF-11B5-4293-FE8FA8F6D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539" y="2926385"/>
            <a:ext cx="16262633" cy="105207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  <p:sp>
        <p:nvSpPr>
          <p:cNvPr id="18438" name="Step su F1">
            <a:extLst>
              <a:ext uri="{FF2B5EF4-FFF2-40B4-BE49-F238E27FC236}">
                <a16:creationId xmlns:a16="http://schemas.microsoft.com/office/drawing/2014/main" id="{C436131C-9EFA-6FF1-1CC6-C5CBCD5A26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244" y="2355435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marL="558800" indent="-5588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eaLnBrk="1">
              <a:buClr>
                <a:srgbClr val="000000"/>
              </a:buClr>
              <a:buSzPct val="100000"/>
              <a:buFontTx/>
              <a:buChar char="•"/>
            </a:pPr>
            <a:r>
              <a:rPr lang="it-IT" altLang="it-IT"/>
              <a:t>Step su f1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tep su F1 e F2">
            <a:extLst>
              <a:ext uri="{FF2B5EF4-FFF2-40B4-BE49-F238E27FC236}">
                <a16:creationId xmlns:a16="http://schemas.microsoft.com/office/drawing/2014/main" id="{AE0DC696-F7E4-64BF-9C6A-418A3DCCC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marL="558800" indent="-5588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eaLnBrk="1">
              <a:buClr>
                <a:srgbClr val="000000"/>
              </a:buClr>
              <a:buSzPct val="100000"/>
              <a:buFontTx/>
              <a:buChar char="•"/>
            </a:pPr>
            <a:r>
              <a:rPr lang="it-IT" altLang="it-IT"/>
              <a:t>Step su f1 e f2</a:t>
            </a:r>
          </a:p>
        </p:txBody>
      </p:sp>
      <p:pic>
        <p:nvPicPr>
          <p:cNvPr id="19459" name="1.2.Step_f1_f2_SimpleTime20_Final0.4.png" descr="1.2.Step_f1_f2_SimpleTime20_Final0.4.png">
            <a:extLst>
              <a:ext uri="{FF2B5EF4-FFF2-40B4-BE49-F238E27FC236}">
                <a16:creationId xmlns:a16="http://schemas.microsoft.com/office/drawing/2014/main" id="{4CD67F1E-F889-1303-58E5-38691CB9C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8968" y="2198688"/>
            <a:ext cx="16502691" cy="111081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8501B-197A-6E06-432E-1DE3F8D91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tep su F1 e F2">
            <a:extLst>
              <a:ext uri="{FF2B5EF4-FFF2-40B4-BE49-F238E27FC236}">
                <a16:creationId xmlns:a16="http://schemas.microsoft.com/office/drawing/2014/main" id="{D338588C-CD0D-FDD2-4D0A-217C71C779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marL="558800" indent="-5588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eaLnBrk="1">
              <a:buClr>
                <a:srgbClr val="000000"/>
              </a:buClr>
              <a:buSzPct val="100000"/>
              <a:buFontTx/>
              <a:buChar char="•"/>
            </a:pPr>
            <a:r>
              <a:rPr lang="it-IT" altLang="it-IT"/>
              <a:t>Step su f1, f2 e f6</a:t>
            </a:r>
          </a:p>
        </p:txBody>
      </p:sp>
      <p:pic>
        <p:nvPicPr>
          <p:cNvPr id="2" name="Immagine 1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952A1C7E-E4F8-02A6-C722-DAA39BFA5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579" y="2065554"/>
            <a:ext cx="16701996" cy="1109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9465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6C031-EAF7-02BD-892D-C08FF7A82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tep su F1 e F2">
            <a:extLst>
              <a:ext uri="{FF2B5EF4-FFF2-40B4-BE49-F238E27FC236}">
                <a16:creationId xmlns:a16="http://schemas.microsoft.com/office/drawing/2014/main" id="{841E7857-78C2-A625-F028-635D44B5C1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675" y="1179513"/>
            <a:ext cx="21844000" cy="843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marL="558800" indent="-5588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eaLnBrk="1">
              <a:buClr>
                <a:srgbClr val="000000"/>
              </a:buClr>
              <a:buSzPct val="100000"/>
              <a:buFontTx/>
              <a:buChar char="•"/>
            </a:pPr>
            <a:r>
              <a:rPr lang="it-IT" altLang="it-IT"/>
              <a:t>Step su f1, f2, f4 e f5</a:t>
            </a:r>
          </a:p>
        </p:txBody>
      </p:sp>
      <p:pic>
        <p:nvPicPr>
          <p:cNvPr id="2" name="Immagine 1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2C8566C5-F5C1-38ED-765B-5FDB697D5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934" y="2094100"/>
            <a:ext cx="16414449" cy="1106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51591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E3091-0EB4-8EEF-D954-30E11BE27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rafici Guasti Abruptiv (Step):">
            <a:extLst>
              <a:ext uri="{FF2B5EF4-FFF2-40B4-BE49-F238E27FC236}">
                <a16:creationId xmlns:a16="http://schemas.microsoft.com/office/drawing/2014/main" id="{E37C0288-189E-5E26-D9F3-D776965903F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defRPr/>
            </a:pPr>
            <a:r>
              <a:rPr lang="it-IT" b="1"/>
              <a:t>Compare su Data </a:t>
            </a:r>
            <a:r>
              <a:rPr lang="it-IT" b="1" err="1"/>
              <a:t>Inspector</a:t>
            </a:r>
            <a:endParaRPr lang="it-IT" err="1"/>
          </a:p>
        </p:txBody>
      </p:sp>
      <p:sp>
        <p:nvSpPr>
          <p:cNvPr id="18438" name="Step su F1">
            <a:extLst>
              <a:ext uri="{FF2B5EF4-FFF2-40B4-BE49-F238E27FC236}">
                <a16:creationId xmlns:a16="http://schemas.microsoft.com/office/drawing/2014/main" id="{D23E7EEB-137E-E59D-65FB-B67AA1204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3845" y="2370376"/>
            <a:ext cx="21201530" cy="10518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50800" tIns="50800" rIns="50800" bIns="50800" anchor="t"/>
          <a:lstStyle>
            <a:lvl1pPr marL="558800" indent="-558800"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1pPr>
            <a:lvl2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2pPr>
            <a:lvl3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3pPr>
            <a:lvl4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4pPr>
            <a:lvl5pPr>
              <a:spcBef>
                <a:spcPts val="2400"/>
              </a:spcBef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5pPr>
            <a:lvl6pPr marL="4572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6pPr>
            <a:lvl7pPr marL="9144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7pPr>
            <a:lvl8pPr marL="13716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8pPr>
            <a:lvl9pPr marL="1828800" indent="1828800" defTabSz="2438400" eaLnBrk="0" fontAlgn="base" hangingPunct="0">
              <a:spcBef>
                <a:spcPts val="2400"/>
              </a:spcBef>
              <a:spcAft>
                <a:spcPct val="0"/>
              </a:spcAft>
              <a:defRPr sz="4800">
                <a:solidFill>
                  <a:srgbClr val="000000"/>
                </a:solidFill>
                <a:latin typeface="Graphik"/>
                <a:ea typeface="Graphik"/>
                <a:cs typeface="Graphik"/>
                <a:sym typeface="Graphik"/>
              </a:defRPr>
            </a:lvl9pPr>
          </a:lstStyle>
          <a:p>
            <a:pPr marL="0" indent="0">
              <a:buClr>
                <a:srgbClr val="000000"/>
              </a:buClr>
              <a:buSzPct val="100000"/>
            </a:pPr>
            <a:r>
              <a:rPr lang="it-IT" altLang="it-IT" sz="4400"/>
              <a:t>Confronto fra Simulazione MIL base e guastata con step (0,4 dopo 30 sec) su f1 e f2</a:t>
            </a:r>
            <a:endParaRPr lang="it-IT" sz="4400"/>
          </a:p>
        </p:txBody>
      </p:sp>
      <p:pic>
        <p:nvPicPr>
          <p:cNvPr id="2" name="Immagine 1" descr="Immagine che contiene testo, Diagramma, schermat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42EAC391-FA58-7B9A-07B1-2F0CFB226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744" y="3698375"/>
            <a:ext cx="19178120" cy="929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403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31_ColorGradientLight">
      <a:majorFont>
        <a:latin typeface="Graphik Semibold"/>
        <a:ea typeface="Graphik Semibold"/>
        <a:cs typeface="Graphik Semibold"/>
      </a:majorFont>
      <a:minorFont>
        <a:latin typeface="Graphik Semibold"/>
        <a:ea typeface="Graphik Semibold"/>
        <a:cs typeface="Graphik Semibold"/>
      </a:minorFont>
    </a:fontScheme>
    <a:fmtScheme name="31_ColorGradien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Graphik Medium"/>
            <a:ea typeface="Graphik Medium"/>
            <a:cs typeface="Graphik Medium"/>
            <a:sym typeface="Graphik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100000"/>
          </a:lnSpc>
          <a:spcBef>
            <a:spcPts val="24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Graphik"/>
            <a:ea typeface="Graphik"/>
            <a:cs typeface="Graphik"/>
            <a:sym typeface="Graphik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</Words>
  <Application>Microsoft Office PowerPoint</Application>
  <PresentationFormat>Personalizzato</PresentationFormat>
  <Paragraphs>35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20" baseType="lpstr">
      <vt:lpstr>Arial</vt:lpstr>
      <vt:lpstr>Avenir Next Regular</vt:lpstr>
      <vt:lpstr>Courier</vt:lpstr>
      <vt:lpstr>Graphik</vt:lpstr>
      <vt:lpstr>Graphik Medium</vt:lpstr>
      <vt:lpstr>Graphik Semibold</vt:lpstr>
      <vt:lpstr>Helvetica Neue</vt:lpstr>
      <vt:lpstr>Roboto</vt:lpstr>
      <vt:lpstr>31_ColorGradientLight</vt:lpstr>
      <vt:lpstr>Progettazione e Implementazione di un Modulo di Fault Detection per drone in Modalità HITL</vt:lpstr>
      <vt:lpstr>Modello e Obiettivi</vt:lpstr>
      <vt:lpstr>Tools installati</vt:lpstr>
      <vt:lpstr>Simulazione del Modello di base</vt:lpstr>
      <vt:lpstr>Validazione in Modalità Processor-In-The-Loop</vt:lpstr>
      <vt:lpstr>Strategia di Iniezione Guasti Motore</vt:lpstr>
      <vt:lpstr>Grafici Guasti Abrupt (Step):</vt:lpstr>
      <vt:lpstr>Presentazione standard di PowerPoint</vt:lpstr>
      <vt:lpstr>Presentazione standard di PowerPoint</vt:lpstr>
      <vt:lpstr>Presentazione standard di PowerPoint</vt:lpstr>
      <vt:lpstr>Compare su Data Inspector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Progettazione e Implementazione di un Modulo di Fault Detection per drone in Modalità HITL</dc:title>
  <dc:creator>Roberto Dimitri</dc:creator>
  <cp:lastModifiedBy>DIMITRI ROBERTO</cp:lastModifiedBy>
  <cp:revision>2</cp:revision>
  <dcterms:modified xsi:type="dcterms:W3CDTF">2026-04-30T09:57:40Z</dcterms:modified>
</cp:coreProperties>
</file>