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320" r:id="rId4"/>
    <p:sldId id="259" r:id="rId5"/>
    <p:sldId id="321" r:id="rId6"/>
    <p:sldId id="263" r:id="rId7"/>
    <p:sldId id="316" r:id="rId8"/>
    <p:sldId id="267" r:id="rId9"/>
    <p:sldId id="317" r:id="rId10"/>
    <p:sldId id="265" r:id="rId11"/>
    <p:sldId id="268" r:id="rId12"/>
    <p:sldId id="269" r:id="rId13"/>
    <p:sldId id="271" r:id="rId14"/>
    <p:sldId id="272" r:id="rId15"/>
    <p:sldId id="318" r:id="rId16"/>
    <p:sldId id="277" r:id="rId17"/>
    <p:sldId id="279" r:id="rId18"/>
    <p:sldId id="322" r:id="rId19"/>
    <p:sldId id="284" r:id="rId20"/>
    <p:sldId id="319" r:id="rId21"/>
    <p:sldId id="286" r:id="rId22"/>
    <p:sldId id="292" r:id="rId23"/>
    <p:sldId id="293" r:id="rId24"/>
    <p:sldId id="295" r:id="rId25"/>
    <p:sldId id="296" r:id="rId26"/>
    <p:sldId id="298" r:id="rId27"/>
    <p:sldId id="302" r:id="rId28"/>
  </p:sldIdLst>
  <p:sldSz cx="24384000" cy="13716000"/>
  <p:notesSz cx="6858000" cy="9144000"/>
  <p:defaultTextStyle>
    <a:defPPr>
      <a:defRPr lang="it-IT"/>
    </a:defPPr>
    <a:lvl1pPr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1pPr>
    <a:lvl2pPr indent="4572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2pPr>
    <a:lvl3pPr indent="9144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3pPr>
    <a:lvl4pPr indent="13716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4pPr>
    <a:lvl5pPr indent="18288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5pPr>
    <a:lvl6pPr marL="22860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6pPr>
    <a:lvl7pPr marL="27432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7pPr>
    <a:lvl8pPr marL="32004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8pPr>
    <a:lvl9pPr marL="36576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D1B0E1-C9DE-44BE-9193-2279872D0216}" v="1853" dt="2026-05-26T11:16:33.542"/>
    <p1510:client id="{A6440528-5D33-71CD-0755-E4472172AB64}" v="20" dt="2026-05-26T07:58:48.525"/>
    <p1510:client id="{BEEAE3D9-C8DA-5DF0-B88F-A1DEE4E80F3E}" v="815" dt="2026-05-26T11:15:48.45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75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ape 168">
            <a:extLst>
              <a:ext uri="{FF2B5EF4-FFF2-40B4-BE49-F238E27FC236}">
                <a16:creationId xmlns:a16="http://schemas.microsoft.com/office/drawing/2014/main" id="{68633659-EF4B-C6ED-76C7-650CCF25688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Shape 169">
            <a:extLst>
              <a:ext uri="{FF2B5EF4-FFF2-40B4-BE49-F238E27FC236}">
                <a16:creationId xmlns:a16="http://schemas.microsoft.com/office/drawing/2014/main" id="{D272A0BB-0CFB-1043-6B7F-EBCC24E74D66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altLang="it-IT"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1pPr>
    <a:lvl2pPr marL="742950" indent="-28575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2pPr>
    <a:lvl3pPr marL="11430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3pPr>
    <a:lvl4pPr marL="16002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4pPr>
    <a:lvl5pPr marL="20574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presentazione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z="11600" spc="-3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Autore e data"/>
          <p:cNvSpPr txBox="1">
            <a:spLocks noGrp="1"/>
          </p:cNvSpPr>
          <p:nvPr>
            <p:ph type="body" sz="quarter" idx="2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CFC5A911-AC6A-3A26-B8D9-7B2D7BA00CA4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CD96BA-1FE5-4502-8379-811A4F94802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1185789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ue meduse che si toccano su sfondo di colore blu scuro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22" name="Autore e data"/>
          <p:cNvSpPr txBox="1">
            <a:spLocks noGrp="1"/>
          </p:cNvSpPr>
          <p:nvPr>
            <p:ph type="body" sz="quarter" idx="22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tolo presentazione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z="11600" spc="-348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B42B5EAA-82DD-9219-9506-126A6A683B9C}"/>
              </a:ext>
            </a:extLst>
          </p:cNvPr>
          <p:cNvSpPr txBox="1"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269B02C-B6F4-41EA-BA63-98BF035CD5C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5948375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ue meduse su sfondo di colore blu"/>
          <p:cNvSpPr>
            <a:spLocks noGrp="1"/>
          </p:cNvSpPr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33" name="Titolo"/>
          <p:cNvSpPr txBox="1">
            <a:spLocks noGrp="1"/>
          </p:cNvSpPr>
          <p:nvPr>
            <p:ph type="title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E50F6BC-E47A-9ACC-DC45-D2157D75074B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4BADC7-9F01-4213-AF30-A0AC35667C7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1479225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d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o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8F2E921-5F4D-FBF0-AD69-4CC87378C33D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415FBE-2E0D-4148-9799-767C746224C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6354919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CD7853AF-6EC9-3870-2C80-393E2E468CD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412492-B887-4D14-81F2-A84995AB7832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3980590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ue meduse su sfondo di colore rosa"/>
          <p:cNvSpPr>
            <a:spLocks noGrp="1"/>
          </p:cNvSpPr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61" name="Titolo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3" name="Sottotitolo diapositiva"/>
          <p:cNvSpPr txBox="1">
            <a:spLocks noGrp="1"/>
          </p:cNvSpPr>
          <p:nvPr>
            <p:ph type="body" sz="quarter" idx="22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2E5001EF-956C-7260-6332-97AD65EEC514}"/>
              </a:ext>
            </a:extLst>
          </p:cNvPr>
          <p:cNvSpPr txBox="1">
            <a:spLocks noGrp="1" noChangeArrowheads="1"/>
          </p:cNvSpPr>
          <p:nvPr>
            <p:ph type="sldNum" sz="quarter" idx="2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EDEAE5-6B57-4318-B5D4-6C16A361EF0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2723833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elenco e diretta picco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olo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3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271C0F5-DE39-CE49-39CB-A96D18180ADF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D02939-CD00-469C-B43C-B97042CF42C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1411529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elenco e dirett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olo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3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BB220C0-2F75-0D9F-9DEB-2089F1401406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4E2F41-25A6-4782-886C-2841853BB31C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9896152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olo sezione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1600" spc="-34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212EAC6A-BD11-5967-2CE2-5DDBFB0FC4D4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0F0C2-C010-47AD-93B3-3D81EED6D63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9358884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o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E918917-9DF2-00CD-F6D9-647B4E4C183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D091B-1F25-4F2B-86B0-23EE4826A22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2577149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olo programma"/>
          <p:cNvSpPr txBox="1">
            <a:spLocks noGrp="1"/>
          </p:cNvSpPr>
          <p:nvPr>
            <p:ph type="title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Sottotitolo programm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z="5500" spc="-55"/>
            </a:lvl1pPr>
            <a:lvl2pPr marL="0" indent="457200" defTabSz="825500">
              <a:buClrTx/>
              <a:buSzTx/>
              <a:buNone/>
              <a:defRPr sz="5500" spc="-55"/>
            </a:lvl2pPr>
            <a:lvl3pPr marL="0" indent="914400" defTabSz="825500">
              <a:buClrTx/>
              <a:buSzTx/>
              <a:buNone/>
              <a:defRPr sz="5500" spc="-55"/>
            </a:lvl3pPr>
            <a:lvl4pPr marL="0" indent="1371600" defTabSz="825500">
              <a:buClrTx/>
              <a:buSzTx/>
              <a:buNone/>
              <a:defRPr sz="5500" spc="-55"/>
            </a:lvl4pPr>
            <a:lvl5pPr marL="0" indent="1828800" defTabSz="825500">
              <a:buClrTx/>
              <a:buSzTx/>
              <a:buNone/>
              <a:defRPr sz="5500" spc="-5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9BB9A00-9742-026B-5072-8DFB201217DC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1E4D11-A098-49D4-816A-6ECC76CCFDA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6419398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E47B8D7-6F9F-26DD-B85F-A8740B21AB0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504A6-7A22-4BF4-B6FA-3AC7584E2992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758212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7" name="Dettagli informazione"/>
          <p:cNvSpPr txBox="1">
            <a:spLocks noGrp="1"/>
          </p:cNvSpPr>
          <p:nvPr>
            <p:ph type="body" sz="quarter" idx="2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B8BA8B3-4CD6-9692-88D3-696D5612526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CB2B4-61FD-44EF-A733-63CCE3BC3933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5051642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zione"/>
          <p:cNvSpPr txBox="1">
            <a:spLocks noGrp="1"/>
          </p:cNvSpPr>
          <p:nvPr>
            <p:ph type="body" sz="quarter" idx="2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spcBef>
                <a:spcPts val="0"/>
              </a:spcBef>
              <a:buClrTx/>
              <a:buSzTx/>
              <a:buNone/>
              <a:defRPr sz="4224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241EB26-8566-5F1B-53A5-7D8A891A109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CA1EE-EDC4-410B-AF63-3DF225E3A855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319935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Due meduse su sfondo di colore rosa"/>
          <p:cNvSpPr>
            <a:spLocks noGrp="1"/>
          </p:cNvSpPr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145" name="Due meduse che si toccano su sfondo di colore blu scuro"/>
          <p:cNvSpPr>
            <a:spLocks noGrp="1"/>
          </p:cNvSpPr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146" name="Due meduse su sfondo di colore blu"/>
          <p:cNvSpPr>
            <a:spLocks noGrp="1"/>
          </p:cNvSpPr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725A1EC-5AE9-3CD4-FDCD-3673D91DE441}"/>
              </a:ext>
            </a:extLst>
          </p:cNvPr>
          <p:cNvSpPr txBox="1">
            <a:spLocks noGrp="1" noChangeArrowheads="1"/>
          </p:cNvSpPr>
          <p:nvPr>
            <p:ph type="sldNum" sz="quarter" idx="2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D7BC1-8143-4FA8-8B1B-E6B8ECB12A8E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7266385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Due meduse che si toccano su sfondo di colore blu scuro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8556D0E-605B-4889-58A4-DDF57131F2A8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0FA11F6-ABEA-4792-8531-FF288ADC28AE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4157083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E1D9F5D0-FA00-8AB0-79BA-ADF3AA5D4A18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6E8B52-5765-4A24-ABAE-BD5E256F2300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8059793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>
            <a:extLst>
              <a:ext uri="{FF2B5EF4-FFF2-40B4-BE49-F238E27FC236}">
                <a16:creationId xmlns:a16="http://schemas.microsoft.com/office/drawing/2014/main" id="{42D55B1E-F8FF-E787-8D9B-9A4A0675F4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70000" y="812800"/>
            <a:ext cx="21844000" cy="155733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normAutofit/>
          </a:bodyPr>
          <a:lstStyle/>
          <a:p>
            <a:r>
              <a:t>Titolo</a:t>
            </a:r>
          </a:p>
        </p:txBody>
      </p:sp>
      <p:sp>
        <p:nvSpPr>
          <p:cNvPr id="1027" name="Body Level One…">
            <a:extLst>
              <a:ext uri="{FF2B5EF4-FFF2-40B4-BE49-F238E27FC236}">
                <a16:creationId xmlns:a16="http://schemas.microsoft.com/office/drawing/2014/main" id="{02039F74-6E9E-0A45-DE51-04CA37B0473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270000" y="4267200"/>
            <a:ext cx="21844000" cy="843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>
                <a:sym typeface="Graphik"/>
              </a:rPr>
              <a:t>Testo elenco puntato diapositiva</a:t>
            </a:r>
          </a:p>
          <a:p>
            <a:pPr lvl="1"/>
            <a:endParaRPr lang="it-IT" altLang="it-IT">
              <a:sym typeface="Graphik"/>
            </a:endParaRPr>
          </a:p>
          <a:p>
            <a:pPr lvl="2"/>
            <a:endParaRPr lang="it-IT" altLang="it-IT">
              <a:sym typeface="Graphik"/>
            </a:endParaRPr>
          </a:p>
          <a:p>
            <a:pPr lvl="3"/>
            <a:endParaRPr lang="it-IT" altLang="it-IT">
              <a:sym typeface="Graphik"/>
            </a:endParaRPr>
          </a:p>
          <a:p>
            <a:pPr lvl="4"/>
            <a:endParaRPr lang="it-IT" altLang="it-IT">
              <a:sym typeface="Graphik"/>
            </a:endParaRPr>
          </a:p>
        </p:txBody>
      </p:sp>
      <p:sp>
        <p:nvSpPr>
          <p:cNvPr id="1028" name="Slide Number">
            <a:extLst>
              <a:ext uri="{FF2B5EF4-FFF2-40B4-BE49-F238E27FC236}">
                <a16:creationId xmlns:a16="http://schemas.microsoft.com/office/drawing/2014/main" id="{89685303-F28B-5607-C188-C68E308BBC11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11966575" y="13065125"/>
            <a:ext cx="43815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  <a:spAutoFit/>
          </a:bodyPr>
          <a:lstStyle>
            <a:lvl1pPr algn="ctr" defTabSz="825500" eaLnBrk="1">
              <a:defRPr sz="2200"/>
            </a:lvl1pPr>
          </a:lstStyle>
          <a:p>
            <a:fld id="{DF0FD401-EBBA-4666-B49A-08E9FDF772F8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3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4" r:id="rId16"/>
    <p:sldLayoutId id="2147483682" r:id="rId17"/>
  </p:sldLayoutIdLst>
  <p:transition spd="med"/>
  <p:txStyles>
    <p:titleStyle>
      <a:lvl1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1pPr>
      <a:lvl2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2pPr>
      <a:lvl3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3pPr>
      <a:lvl4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4pPr>
      <a:lvl5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1pPr>
      <a:lvl2pPr marL="11176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2pPr>
      <a:lvl3pPr marL="16764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3pPr>
      <a:lvl4pPr marL="22352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4pPr>
      <a:lvl5pPr marL="27940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gettazione e Implementazione di un Modulo di Fault Detection per drone in Modalità HITL">
            <a:extLst>
              <a:ext uri="{FF2B5EF4-FFF2-40B4-BE49-F238E27FC236}">
                <a16:creationId xmlns:a16="http://schemas.microsoft.com/office/drawing/2014/main" id="{44781555-4B6E-81CD-98E4-9988E0FC167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47975" y="3345226"/>
            <a:ext cx="22626972" cy="3823528"/>
          </a:xfrm>
        </p:spPr>
        <p:txBody>
          <a:bodyPr/>
          <a:lstStyle>
            <a:lvl1pPr defTabSz="1731220">
              <a:defRPr sz="8236" spc="-247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200" b="1" err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Progettazione</a:t>
            </a:r>
            <a:r>
              <a:rPr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 e </a:t>
            </a:r>
            <a:r>
              <a:rPr lang="it-IT"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Implementazione</a:t>
            </a:r>
            <a:r>
              <a:rPr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 di un Modulo di Fault Detection per drone in </a:t>
            </a:r>
            <a:r>
              <a:rPr sz="8200" b="1" err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Modalità</a:t>
            </a:r>
            <a:r>
              <a:rPr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 HITL</a:t>
            </a:r>
            <a:endParaRPr lang="it-IT" sz="8200" b="1">
              <a:gradFill flip="none">
                <a:gsLst>
                  <a:gs pos="0">
                    <a:srgbClr val="1E98FD"/>
                  </a:gs>
                  <a:gs pos="100000">
                    <a:srgbClr val="FF00F7"/>
                  </a:gs>
                </a:gsLst>
                <a:lin ang="3960000" scaled="0"/>
              </a:gradFill>
            </a:endParaRPr>
          </a:p>
        </p:txBody>
      </p:sp>
      <p:sp>
        <p:nvSpPr>
          <p:cNvPr id="5123" name="Roberto Dimitri, Edoardo Palmoni, Jacopo Tarulli">
            <a:extLst>
              <a:ext uri="{FF2B5EF4-FFF2-40B4-BE49-F238E27FC236}">
                <a16:creationId xmlns:a16="http://schemas.microsoft.com/office/drawing/2014/main" id="{66C8ADE2-E0CF-E49D-A904-311F328C7E74}"/>
              </a:ext>
            </a:extLst>
          </p:cNvPr>
          <p:cNvSpPr txBox="1">
            <a:spLocks noGrp="1" noChangeArrowheads="1"/>
          </p:cNvSpPr>
          <p:nvPr>
            <p:ph type="body" idx="21"/>
          </p:nvPr>
        </p:nvSpPr>
        <p:spPr>
          <a:xfrm>
            <a:off x="1270000" y="12511088"/>
            <a:ext cx="21844000" cy="693737"/>
          </a:xfrm>
        </p:spPr>
        <p:txBody>
          <a:bodyPr/>
          <a:lstStyle/>
          <a:p>
            <a:pPr defTabSz="825500" eaLnBrk="1" hangingPunct="1">
              <a:spcBef>
                <a:spcPct val="0"/>
              </a:spcBef>
            </a:pPr>
            <a:r>
              <a:rPr lang="it-IT" altLang="it-IT" sz="2400"/>
              <a:t>Roberto Dimitri, Edoardo Palmoni, Jacopo Tarulli</a:t>
            </a:r>
          </a:p>
        </p:txBody>
      </p:sp>
      <p:sp>
        <p:nvSpPr>
          <p:cNvPr id="5124" name="Analisi di robustezza e rilevamento di guasti agli attuatori su piattaforma embedded STM32">
            <a:extLst>
              <a:ext uri="{FF2B5EF4-FFF2-40B4-BE49-F238E27FC236}">
                <a16:creationId xmlns:a16="http://schemas.microsoft.com/office/drawing/2014/main" id="{F46818F1-212F-4BA4-1EE3-DE16F019C395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1270000" y="7394575"/>
            <a:ext cx="21844000" cy="224155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it-IT" altLang="it-IT" sz="3900"/>
              <a:t>Fault Detection con architettura a tre moduli</a:t>
            </a:r>
          </a:p>
        </p:txBody>
      </p:sp>
      <p:sp>
        <p:nvSpPr>
          <p:cNvPr id="5125" name="1° revisione">
            <a:extLst>
              <a:ext uri="{FF2B5EF4-FFF2-40B4-BE49-F238E27FC236}">
                <a16:creationId xmlns:a16="http://schemas.microsoft.com/office/drawing/2014/main" id="{C77E876D-43B0-1778-6C1B-BFD24299C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384" y="584325"/>
            <a:ext cx="21844000" cy="1211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t"/>
          <a:lstStyle>
            <a:lvl1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ctr" eaLnBrk="1">
              <a:spcBef>
                <a:spcPct val="0"/>
              </a:spcBef>
            </a:pPr>
            <a:r>
              <a:rPr lang="it-IT" altLang="it-IT" sz="3600">
                <a:latin typeface="Graphik Medium"/>
                <a:ea typeface="Graphik Medium"/>
                <a:cs typeface="Graphik Medium"/>
                <a:sym typeface="Graphik Medium"/>
              </a:rPr>
              <a:t>27/05/2026 - 3° revisione</a:t>
            </a:r>
            <a:endParaRPr lang="it-IT"/>
          </a:p>
          <a:p>
            <a:pPr algn="ctr">
              <a:spcBef>
                <a:spcPct val="0"/>
              </a:spcBef>
            </a:pPr>
            <a:endParaRPr lang="it-IT" altLang="it-IT" sz="3600">
              <a:latin typeface="Graphik Medium"/>
              <a:ea typeface="Graphik Medium"/>
              <a:cs typeface="Graphik Medium"/>
            </a:endParaRPr>
          </a:p>
        </p:txBody>
      </p:sp>
      <p:sp>
        <p:nvSpPr>
          <p:cNvPr id="5126" name="Progetto di Manutenzione Preventiva per la Robotica e Automazione Intelligente">
            <a:extLst>
              <a:ext uri="{FF2B5EF4-FFF2-40B4-BE49-F238E27FC236}">
                <a16:creationId xmlns:a16="http://schemas.microsoft.com/office/drawing/2014/main" id="{4AD18FF1-E3AE-2845-243E-BC315D2C4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0" y="11899900"/>
            <a:ext cx="21844000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/>
          <a:lstStyle>
            <a:lvl1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ctr" eaLnBrk="1">
              <a:spcBef>
                <a:spcPct val="0"/>
              </a:spcBef>
            </a:pPr>
            <a:r>
              <a:rPr lang="it-IT" altLang="it-IT" sz="2400" i="1">
                <a:latin typeface="Avenir Next Regular"/>
                <a:ea typeface="Avenir Next Regular"/>
                <a:cs typeface="Avenir Next Regular"/>
                <a:sym typeface="Avenir Next Regular"/>
              </a:rPr>
              <a:t>Progetto di Manutenzione Preventiva per la Robotica e Automazione Intelligente</a:t>
            </a:r>
          </a:p>
        </p:txBody>
      </p:sp>
      <p:sp>
        <p:nvSpPr>
          <p:cNvPr id="5127" name="A.A. 2025/2026">
            <a:extLst>
              <a:ext uri="{FF2B5EF4-FFF2-40B4-BE49-F238E27FC236}">
                <a16:creationId xmlns:a16="http://schemas.microsoft.com/office/drawing/2014/main" id="{3EC82291-37E1-24E9-106F-1FA13286C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0" y="11491913"/>
            <a:ext cx="218440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/>
          <a:lstStyle>
            <a:lvl1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ctr" eaLnBrk="1">
              <a:spcBef>
                <a:spcPct val="0"/>
              </a:spcBef>
            </a:pPr>
            <a:r>
              <a:rPr lang="it-IT" altLang="it-IT" sz="2400" i="1">
                <a:latin typeface="Avenir Next Regular"/>
                <a:ea typeface="Avenir Next Regular"/>
                <a:cs typeface="Avenir Next Regular"/>
                <a:sym typeface="Avenir Next Regular"/>
              </a:rPr>
              <a:t>A.A. 2025/2026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Modello e Obiettivi">
            <a:extLst>
              <a:ext uri="{FF2B5EF4-FFF2-40B4-BE49-F238E27FC236}">
                <a16:creationId xmlns:a16="http://schemas.microsoft.com/office/drawing/2014/main" id="{7DDFBD2A-1309-124E-8511-4AA2E1D90F7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/>
              <a:t>Riepilogo</a:t>
            </a:r>
            <a:endParaRPr lang="it-IT"/>
          </a:p>
        </p:txBody>
      </p:sp>
      <p:sp>
        <p:nvSpPr>
          <p:cNvPr id="6147" name="Target Hardware: STM32 Nucleo-H723ZG…">
            <a:extLst>
              <a:ext uri="{FF2B5EF4-FFF2-40B4-BE49-F238E27FC236}">
                <a16:creationId xmlns:a16="http://schemas.microsoft.com/office/drawing/2014/main" id="{E51C1644-0648-F244-6A38-7A3688C0E66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94629" y="4629770"/>
            <a:ext cx="21793263" cy="7518569"/>
          </a:xfrm>
        </p:spPr>
        <p:txBody>
          <a:bodyPr/>
          <a:lstStyle/>
          <a:p>
            <a:r>
              <a:rPr lang="it-IT" altLang="it-IT" sz="4000" i="1">
                <a:latin typeface="Avenir Next Regular"/>
                <a:sym typeface="Avenir Next Regular"/>
              </a:rPr>
              <a:t>Simulazione Modello Base</a:t>
            </a:r>
            <a:endParaRPr lang="it-IT" sz="4000"/>
          </a:p>
          <a:p>
            <a:r>
              <a:rPr lang="it-IT" altLang="it-IT" sz="4000" i="1">
                <a:latin typeface="Avenir Next Regular"/>
                <a:sym typeface="Avenir Next Regular"/>
              </a:rPr>
              <a:t>Validazione PIL</a:t>
            </a:r>
            <a:endParaRPr lang="it-IT" sz="4000"/>
          </a:p>
          <a:p>
            <a:r>
              <a:rPr lang="it-IT" altLang="it-IT" sz="4000" i="1">
                <a:latin typeface="Avenir Next Regular"/>
                <a:cs typeface="Helvetica"/>
              </a:rPr>
              <a:t>Iniezione Guasti Moltiplicativi (Step) sui Motori </a:t>
            </a:r>
          </a:p>
          <a:p>
            <a:r>
              <a:rPr lang="it-IT" altLang="it-IT" sz="4000" i="1">
                <a:latin typeface="Avenir Next Regular"/>
                <a:cs typeface="Helvetica"/>
              </a:rPr>
              <a:t>Iniezione Guasti Additivi (Rampa) sui Sensori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7C1211-9491-76C5-5883-75DD0F27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/>
              <a:t>Struttura Faul </a:t>
            </a:r>
            <a:r>
              <a:rPr lang="it-IT" b="1" err="1"/>
              <a:t>Detection</a:t>
            </a:r>
            <a:endParaRPr lang="it-IT" b="1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172EFA2-053B-37F6-E62F-324C23797B3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70000" y="2620080"/>
            <a:ext cx="21844000" cy="1016000"/>
          </a:xfrm>
        </p:spPr>
        <p:txBody>
          <a:bodyPr/>
          <a:lstStyle/>
          <a:p>
            <a:pPr algn="l"/>
            <a:r>
              <a:rPr lang="it-IT" sz="5250" dirty="0"/>
              <a:t>Si è implementato un modulo per ogni guasto iniettato</a:t>
            </a:r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3FBC1E2-5EC4-6D5A-CB5D-F4D45568B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/>
              <a:t>Modulo FD1</a:t>
            </a:r>
            <a:r>
              <a:rPr lang="it-IT" dirty="0"/>
              <a:t> -&gt; Fault </a:t>
            </a:r>
            <a:r>
              <a:rPr lang="it-IT" dirty="0" err="1"/>
              <a:t>Detection</a:t>
            </a:r>
            <a:r>
              <a:rPr lang="it-IT" dirty="0"/>
              <a:t> Giroscopio</a:t>
            </a:r>
            <a:br>
              <a:rPr lang="it-IT" dirty="0"/>
            </a:br>
            <a:r>
              <a:rPr lang="it-IT" dirty="0"/>
              <a:t>Guasto: Additivo -&gt; Osservatore di </a:t>
            </a:r>
            <a:r>
              <a:rPr lang="it-IT" dirty="0" err="1"/>
              <a:t>Luenberger</a:t>
            </a:r>
            <a:endParaRPr lang="it-IT"/>
          </a:p>
          <a:p>
            <a:r>
              <a:rPr lang="it-IT" b="1"/>
              <a:t>Modulo FD2</a:t>
            </a:r>
            <a:r>
              <a:rPr lang="it-IT" dirty="0"/>
              <a:t> -&gt; Fault </a:t>
            </a:r>
            <a:r>
              <a:rPr lang="it-IT" dirty="0" err="1"/>
              <a:t>Detection</a:t>
            </a:r>
            <a:r>
              <a:rPr lang="it-IT" dirty="0"/>
              <a:t> Attuatori</a:t>
            </a:r>
            <a:br>
              <a:rPr lang="it-IT" dirty="0"/>
            </a:br>
            <a:r>
              <a:rPr lang="it-IT" dirty="0"/>
              <a:t>Gusto: Moltiplicativo -&gt; Equazioni di Parità</a:t>
            </a:r>
          </a:p>
          <a:p>
            <a:r>
              <a:rPr lang="it-IT" b="1"/>
              <a:t>Modulo FD3</a:t>
            </a:r>
            <a:r>
              <a:rPr lang="it-IT" dirty="0"/>
              <a:t> –&gt; Fault </a:t>
            </a:r>
            <a:r>
              <a:rPr lang="it-IT" dirty="0" err="1"/>
              <a:t>Detection</a:t>
            </a:r>
            <a:r>
              <a:rPr lang="it-IT" dirty="0"/>
              <a:t> GPS</a:t>
            </a:r>
            <a:br>
              <a:rPr lang="it-IT" dirty="0"/>
            </a:br>
            <a:r>
              <a:rPr lang="it-IT" dirty="0"/>
              <a:t>Guasto: Additivo –&gt; Osservatore con filtro complementare</a:t>
            </a:r>
          </a:p>
        </p:txBody>
      </p:sp>
    </p:spTree>
    <p:extLst>
      <p:ext uri="{BB962C8B-B14F-4D97-AF65-F5344CB8AC3E}">
        <p14:creationId xmlns:p14="http://schemas.microsoft.com/office/powerpoint/2010/main" val="19874105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imulazione del Modello di base">
            <a:extLst>
              <a:ext uri="{FF2B5EF4-FFF2-40B4-BE49-F238E27FC236}">
                <a16:creationId xmlns:a16="http://schemas.microsoft.com/office/drawing/2014/main" id="{17FDFDF6-5ABB-963A-C857-61CDD3A6B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0336" y="1317956"/>
            <a:ext cx="22488116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/>
              <a:t>Progettazione modulo di Fault Detection (Model Based)</a:t>
            </a:r>
          </a:p>
        </p:txBody>
      </p:sp>
      <p:sp>
        <p:nvSpPr>
          <p:cNvPr id="192" name="Punto 1">
            <a:extLst>
              <a:ext uri="{FF2B5EF4-FFF2-40B4-BE49-F238E27FC236}">
                <a16:creationId xmlns:a16="http://schemas.microsoft.com/office/drawing/2014/main" id="{FD7AE254-1EE5-E27B-B18B-A5DB19FB0CB0}"/>
              </a:ext>
            </a:extLst>
          </p:cNvPr>
          <p:cNvSpPr txBox="1"/>
          <p:nvPr/>
        </p:nvSpPr>
        <p:spPr>
          <a:xfrm>
            <a:off x="9021383" y="636241"/>
            <a:ext cx="6201815" cy="1376787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0"/>
              </a:spcBef>
              <a:defRPr sz="9200" spc="-276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b="1" kern="0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Punto </a:t>
            </a:r>
            <a:r>
              <a:rPr lang="it-IT" b="1" kern="0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5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938F4AB-28E1-940C-92EE-03890B4F49D2}"/>
              </a:ext>
            </a:extLst>
          </p:cNvPr>
          <p:cNvSpPr txBox="1"/>
          <p:nvPr/>
        </p:nvSpPr>
        <p:spPr>
          <a:xfrm>
            <a:off x="6702310" y="2988949"/>
            <a:ext cx="10858027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Modello matematico del Drone </a:t>
            </a:r>
            <a:r>
              <a:rPr lang="it-IT" err="1"/>
              <a:t>esacottero</a:t>
            </a:r>
            <a:endParaRPr lang="it-IT"/>
          </a:p>
        </p:txBody>
      </p:sp>
      <p:pic>
        <p:nvPicPr>
          <p:cNvPr id="2" name="Immagine 1" descr="Immagine che contiene testo, calligrafia, Carattere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1E3102CD-747D-B73A-6611-0AA7EDD29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835" y="4842313"/>
            <a:ext cx="10483118" cy="563945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49A324-486E-C357-6CDB-D3A054E9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Linearizzazione all’Hovering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2174CD1-90C6-DDBA-4836-F1654E890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7200" y="3314700"/>
            <a:ext cx="21844000" cy="8432800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Se φ e θ sono vicini a zero -&gt; il drone vola quasi in piano, senza inclinarsi molto</a:t>
            </a:r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2793E676-2355-0517-AB3F-74313B47621F}"/>
              </a:ext>
            </a:extLst>
          </p:cNvPr>
          <p:cNvSpPr/>
          <p:nvPr/>
        </p:nvSpPr>
        <p:spPr>
          <a:xfrm>
            <a:off x="9719621" y="10876127"/>
            <a:ext cx="1987826" cy="587538"/>
          </a:xfrm>
          <a:prstGeom prst="rightArrow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73607E26-2EEA-21F5-36B1-7E0744C3E8D4}"/>
              </a:ext>
            </a:extLst>
          </p:cNvPr>
          <p:cNvSpPr/>
          <p:nvPr/>
        </p:nvSpPr>
        <p:spPr>
          <a:xfrm>
            <a:off x="10235273" y="7329330"/>
            <a:ext cx="1987826" cy="587538"/>
          </a:xfrm>
          <a:prstGeom prst="rightArrow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3EADDAD-233E-428D-5746-6FF3B7C3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739" y="4600373"/>
            <a:ext cx="10058399" cy="1156837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84C488F-5056-1B1C-E826-662EB0123720}"/>
              </a:ext>
            </a:extLst>
          </p:cNvPr>
          <p:cNvSpPr txBox="1"/>
          <p:nvPr/>
        </p:nvSpPr>
        <p:spPr>
          <a:xfrm>
            <a:off x="4095750" y="9314210"/>
            <a:ext cx="1470660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4000" dirty="0"/>
              <a:t>All'hovering ω ≈ 0 -&gt; il termine non lineare -ω × </a:t>
            </a:r>
            <a:r>
              <a:rPr lang="it-IT" sz="4000" dirty="0" err="1"/>
              <a:t>Jω</a:t>
            </a:r>
            <a:r>
              <a:rPr lang="it-IT" sz="4000" dirty="0"/>
              <a:t> ≈ 0 è trascurabile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8FDF883-5430-A491-8907-1FBF244FF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739" y="6576134"/>
            <a:ext cx="7917072" cy="2075012"/>
          </a:xfrm>
          <a:prstGeom prst="rect">
            <a:avLst/>
          </a:prstGeom>
        </p:spPr>
      </p:pic>
      <p:pic>
        <p:nvPicPr>
          <p:cNvPr id="6" name="Immagine 5" descr="Immagine che contiene testo, Carattere, bianco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F4A54B79-1DAB-C6C9-7A6B-4678277EA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5105" y="6748318"/>
            <a:ext cx="5921314" cy="155922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EC712D1-9974-9B63-30EA-1B679ACFF6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619" y="10660507"/>
            <a:ext cx="5788324" cy="975504"/>
          </a:xfrm>
          <a:prstGeom prst="rect">
            <a:avLst/>
          </a:prstGeom>
        </p:spPr>
      </p:pic>
      <p:pic>
        <p:nvPicPr>
          <p:cNvPr id="12" name="Immagine 11" descr="Immagine che contiene Carattere, bianco, testo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EE7BD9CF-B262-1CF4-91FD-85E504C42F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41674" y="10446477"/>
            <a:ext cx="3022660" cy="141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70522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5638B-8C99-2C14-0EA6-A53B77F9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2C9A7860-D180-DD3C-28B3-66E9B787E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630316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/>
              <a:t>FD1 – Osservatore </a:t>
            </a:r>
            <a:r>
              <a:rPr lang="it-IT" b="1" err="1"/>
              <a:t>Luenberger</a:t>
            </a:r>
            <a:r>
              <a:rPr lang="it-IT" b="1"/>
              <a:t> Giroscopio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0D12631-5044-C6DE-AA8D-D3065811E464}"/>
              </a:ext>
            </a:extLst>
          </p:cNvPr>
          <p:cNvSpPr txBox="1"/>
          <p:nvPr/>
        </p:nvSpPr>
        <p:spPr>
          <a:xfrm>
            <a:off x="4551618" y="1594256"/>
            <a:ext cx="15227934" cy="2626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it-IT"/>
          </a:p>
          <a:p>
            <a:r>
              <a:rPr lang="it-IT"/>
              <a:t>Obiettivo: rilevare guasti additivi su ω (Roll, Pitch, Yaw).</a:t>
            </a:r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E4422B2-97FC-558A-DDEC-69B77E40483F}"/>
              </a:ext>
            </a:extLst>
          </p:cNvPr>
          <p:cNvSpPr txBox="1"/>
          <p:nvPr/>
        </p:nvSpPr>
        <p:spPr>
          <a:xfrm>
            <a:off x="859472" y="3674000"/>
            <a:ext cx="22586680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it-IT" dirty="0"/>
              <a:t>Si stima ω dagli </a:t>
            </a:r>
            <a:r>
              <a:rPr lang="it-IT" b="1" dirty="0"/>
              <a:t>angoli</a:t>
            </a:r>
            <a:r>
              <a:rPr lang="it-IT" dirty="0"/>
              <a:t> [</a:t>
            </a:r>
            <a:r>
              <a:rPr lang="it-IT" err="1"/>
              <a:t>ϕ,θ,ψ</a:t>
            </a:r>
            <a:r>
              <a:rPr lang="it-IT"/>
              <a:t>].</a:t>
            </a:r>
            <a:r>
              <a:rPr lang="it-IT" dirty="0"/>
              <a:t> Il guasto su ω non entra nella correzione dell'osservatore.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F0DC56E3-B476-DD05-B4E6-5B8F37A0F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561" y="11664813"/>
            <a:ext cx="5776585" cy="79532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C412F659-0829-25A0-A730-6512F7352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0" y="10546059"/>
            <a:ext cx="5168018" cy="625524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B811251-FE46-E7AD-C057-9EA06789F101}"/>
              </a:ext>
            </a:extLst>
          </p:cNvPr>
          <p:cNvSpPr txBox="1"/>
          <p:nvPr/>
        </p:nvSpPr>
        <p:spPr>
          <a:xfrm>
            <a:off x="12192000" y="5407361"/>
            <a:ext cx="5903843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4800" b="0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Stima dello stato</a:t>
            </a:r>
            <a:r>
              <a:rPr kumimoji="0" lang="it-IT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: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9254A22-0783-1C33-C9B2-05EBE17CAC32}"/>
              </a:ext>
            </a:extLst>
          </p:cNvPr>
          <p:cNvSpPr txBox="1"/>
          <p:nvPr/>
        </p:nvSpPr>
        <p:spPr>
          <a:xfrm>
            <a:off x="12192000" y="8775723"/>
            <a:ext cx="5300870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4800" b="0" i="0" u="sng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Scelta dei poli</a:t>
            </a:r>
            <a:r>
              <a:rPr kumimoji="0" lang="it-IT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:</a:t>
            </a:r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92D8A38C-1032-448E-0C5F-34E38136E7B0}"/>
              </a:ext>
            </a:extLst>
          </p:cNvPr>
          <p:cNvSpPr/>
          <p:nvPr/>
        </p:nvSpPr>
        <p:spPr>
          <a:xfrm>
            <a:off x="17360312" y="10658689"/>
            <a:ext cx="871345" cy="329678"/>
          </a:xfrm>
          <a:prstGeom prst="rightArrow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pic>
        <p:nvPicPr>
          <p:cNvPr id="6" name="Immagine 5" descr="Immagine che contiene testo, Carattere, bianco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092435AE-1881-2648-6E65-EC72AB80D7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5" t="569" b="29759"/>
          <a:stretch>
            <a:fillRect/>
          </a:stretch>
        </p:blipFill>
        <p:spPr>
          <a:xfrm>
            <a:off x="130718" y="6398423"/>
            <a:ext cx="6763450" cy="1145450"/>
          </a:xfrm>
          <a:prstGeom prst="rect">
            <a:avLst/>
          </a:prstGeom>
        </p:spPr>
      </p:pic>
      <p:pic>
        <p:nvPicPr>
          <p:cNvPr id="8" name="Immagine 7" descr="Immagine che contiene testo, Carattere, bianco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3F8B7AF0-0A97-24A1-DAD2-7A9822D80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37" y="7397928"/>
            <a:ext cx="6338438" cy="1510521"/>
          </a:xfrm>
          <a:prstGeom prst="rect">
            <a:avLst/>
          </a:prstGeom>
        </p:spPr>
      </p:pic>
      <p:pic>
        <p:nvPicPr>
          <p:cNvPr id="10" name="Immagine 9" descr="Immagine che contiene Carattere, testo, bianc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FDC2C3BA-75A4-56F7-0DF1-B76968793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4393" y="6543924"/>
            <a:ext cx="8882331" cy="2696832"/>
          </a:xfrm>
          <a:prstGeom prst="rect">
            <a:avLst/>
          </a:prstGeom>
        </p:spPr>
      </p:pic>
      <p:pic>
        <p:nvPicPr>
          <p:cNvPr id="12" name="Immagine 11" descr="Immagine che contiene testo, Carattere, bianco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1800F994-7F3D-18D1-C01C-501A3CF4DD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35783" y="10049373"/>
            <a:ext cx="5754537" cy="1539455"/>
          </a:xfrm>
          <a:prstGeom prst="rect">
            <a:avLst/>
          </a:prstGeom>
        </p:spPr>
      </p:pic>
      <p:pic>
        <p:nvPicPr>
          <p:cNvPr id="14" name="Immagine 13" descr="Immagine che contiene testo, Carattere, bianco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C2F82222-3D4D-2E9B-269F-B2170A3B976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096" t="5329"/>
          <a:stretch>
            <a:fillRect/>
          </a:stretch>
        </p:blipFill>
        <p:spPr>
          <a:xfrm>
            <a:off x="1117583" y="5436519"/>
            <a:ext cx="5626448" cy="1498038"/>
          </a:xfrm>
          <a:prstGeom prst="rect">
            <a:avLst/>
          </a:prstGeom>
        </p:spPr>
      </p:pic>
      <p:pic>
        <p:nvPicPr>
          <p:cNvPr id="16" name="Immagine 15" descr="Immagine che contiene Carattere, testo, diagramma, tipografia&#10;&#10;Il contenuto generato dall&amp;#39;IA potrebbe non essere corretto.">
            <a:extLst>
              <a:ext uri="{FF2B5EF4-FFF2-40B4-BE49-F238E27FC236}">
                <a16:creationId xmlns:a16="http://schemas.microsoft.com/office/drawing/2014/main" id="{3C0078DC-A9F3-BBD7-4EB1-6179531278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1047" y="8662627"/>
            <a:ext cx="7417099" cy="188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780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47D8-73BE-678C-12B8-CA54D84D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335E0BA8-7272-760A-3E7B-6BBD8C86EB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630316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/>
              <a:t>FD2 – Equazioni di Parità Attuatori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6CFAF06-F4E8-8A65-C47C-07A655C7BFA4}"/>
              </a:ext>
            </a:extLst>
          </p:cNvPr>
          <p:cNvSpPr txBox="1"/>
          <p:nvPr/>
        </p:nvSpPr>
        <p:spPr>
          <a:xfrm>
            <a:off x="6118867" y="1412775"/>
            <a:ext cx="12101781" cy="2626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it-IT"/>
          </a:p>
          <a:p>
            <a:r>
              <a:rPr lang="it-IT"/>
              <a:t>Obiettivo: rilevare perdita di potenza sui motori</a:t>
            </a:r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ACC3CF2-7732-EEAF-1FE4-A9C1DA6A67B4}"/>
              </a:ext>
            </a:extLst>
          </p:cNvPr>
          <p:cNvSpPr txBox="1"/>
          <p:nvPr/>
        </p:nvSpPr>
        <p:spPr>
          <a:xfrm>
            <a:off x="898329" y="3414577"/>
            <a:ext cx="22586680" cy="2626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Confronto diretto tra accelerazione lineare misurata e predetta dal modello (Equazione di parità).</a:t>
            </a:r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D7AFAB1-57D2-B875-91AB-FBB2DAAFCFC9}"/>
              </a:ext>
            </a:extLst>
          </p:cNvPr>
          <p:cNvSpPr txBox="1"/>
          <p:nvPr/>
        </p:nvSpPr>
        <p:spPr>
          <a:xfrm>
            <a:off x="908460" y="5171266"/>
            <a:ext cx="10158082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Dalla modellazione teorica si ha: </a:t>
            </a:r>
          </a:p>
          <a:p>
            <a:endParaRPr lang="it-IT" dirty="0"/>
          </a:p>
        </p:txBody>
      </p:sp>
      <p:pic>
        <p:nvPicPr>
          <p:cNvPr id="6" name="Immagine 5" descr="Immagine che contiene Carattere, tipografia, calligrafia, testo&#10;&#10;Il contenuto generato dall&amp;#39;IA potrebbe non essere corretto.">
            <a:extLst>
              <a:ext uri="{FF2B5EF4-FFF2-40B4-BE49-F238E27FC236}">
                <a16:creationId xmlns:a16="http://schemas.microsoft.com/office/drawing/2014/main" id="{7374C967-D4A2-C5BA-C77C-2FB278B69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837" y="4921352"/>
            <a:ext cx="8485876" cy="128982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7542F6C-2D2B-2F3F-2A7D-69EF81FE2E70}"/>
              </a:ext>
            </a:extLst>
          </p:cNvPr>
          <p:cNvSpPr txBox="1"/>
          <p:nvPr/>
        </p:nvSpPr>
        <p:spPr>
          <a:xfrm>
            <a:off x="898329" y="5944365"/>
            <a:ext cx="8986568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2400"/>
              </a:spcBef>
              <a:spcAft>
                <a:spcPts val="0"/>
              </a:spcAft>
            </a:pPr>
            <a:r>
              <a:rPr lang="it-IT" dirty="0"/>
              <a:t>Dunque in formato matriciale:</a:t>
            </a:r>
            <a:endParaRPr kumimoji="0" lang="it-IT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  <a:sym typeface="Graphik"/>
            </a:endParaRPr>
          </a:p>
        </p:txBody>
      </p:sp>
      <p:pic>
        <p:nvPicPr>
          <p:cNvPr id="9" name="Immagine 8" descr="Immagine che contiene Carattere, testo, diagramm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A9130010-4AAF-2AF6-7AF4-B5EE1DF3B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0" t="15780" r="3880" b="17835"/>
          <a:stretch>
            <a:fillRect/>
          </a:stretch>
        </p:blipFill>
        <p:spPr>
          <a:xfrm>
            <a:off x="9620250" y="6208678"/>
            <a:ext cx="12020550" cy="2118366"/>
          </a:xfrm>
          <a:prstGeom prst="rect">
            <a:avLst/>
          </a:prstGeom>
        </p:spPr>
      </p:pic>
      <p:pic>
        <p:nvPicPr>
          <p:cNvPr id="11" name="Immagine 10" descr="Immagine che contiene Carattere, testo, bianc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95123705-50AA-10DC-5038-839857983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532" y="9280974"/>
            <a:ext cx="10485418" cy="2746181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9495A67-D379-E5B6-FEA3-69D8CE7CD09A}"/>
              </a:ext>
            </a:extLst>
          </p:cNvPr>
          <p:cNvSpPr txBox="1"/>
          <p:nvPr/>
        </p:nvSpPr>
        <p:spPr>
          <a:xfrm>
            <a:off x="12782550" y="9869234"/>
            <a:ext cx="12192000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dirty="0"/>
              <a:t>Se un motore perde efficacia → ∑fi  cambia → r_act,z≠0.</a:t>
            </a:r>
          </a:p>
        </p:txBody>
      </p:sp>
    </p:spTree>
    <p:extLst>
      <p:ext uri="{BB962C8B-B14F-4D97-AF65-F5344CB8AC3E}">
        <p14:creationId xmlns:p14="http://schemas.microsoft.com/office/powerpoint/2010/main" val="239781782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A375-1893-76E1-A7C9-43EE32B0E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52006AE7-FA08-41A5-0E81-B2F1DEF6A4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630316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/>
              <a:t>FD3 – Filtro Complementare GPS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77F06DA-26E7-5ED0-7A00-2826D3F11A37}"/>
              </a:ext>
            </a:extLst>
          </p:cNvPr>
          <p:cNvSpPr txBox="1"/>
          <p:nvPr/>
        </p:nvSpPr>
        <p:spPr>
          <a:xfrm>
            <a:off x="5199170" y="1412697"/>
            <a:ext cx="13951426" cy="3365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it-IT"/>
          </a:p>
          <a:p>
            <a:r>
              <a:rPr lang="it-IT"/>
              <a:t>Obiettivo: rilevare guasti additivi su pp (posizione GPS).</a:t>
            </a:r>
          </a:p>
          <a:p>
            <a:endParaRPr lang="it-IT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4525DDD-6E6A-81EC-6CD2-D1A7F0D4435E}"/>
              </a:ext>
            </a:extLst>
          </p:cNvPr>
          <p:cNvSpPr txBox="1"/>
          <p:nvPr/>
        </p:nvSpPr>
        <p:spPr>
          <a:xfrm>
            <a:off x="678137" y="3044499"/>
            <a:ext cx="22586680" cy="6319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u="sng" dirty="0"/>
              <a:t>Problema</a:t>
            </a:r>
            <a:r>
              <a:rPr lang="it-IT" dirty="0"/>
              <a:t>: nascondere </a:t>
            </a:r>
            <a:r>
              <a:rPr lang="it-IT" dirty="0" err="1"/>
              <a:t>p_noisy</a:t>
            </a:r>
            <a:r>
              <a:rPr lang="it-IT" dirty="0"/>
              <a:t> dall'osservatore renderebbe il sistema non osservabile → impossibile il pole placement.</a:t>
            </a:r>
          </a:p>
          <a:p>
            <a:endParaRPr lang="it-IT" dirty="0"/>
          </a:p>
          <a:p>
            <a:r>
              <a:rPr lang="it-IT" u="sng" dirty="0"/>
              <a:t>Soluzione</a:t>
            </a:r>
            <a:r>
              <a:rPr lang="it-IT" dirty="0"/>
              <a:t>: filtro complementare con guadagno </a:t>
            </a:r>
            <a:r>
              <a:rPr lang="it-IT" dirty="0" err="1"/>
              <a:t>K_comp</a:t>
            </a:r>
            <a:r>
              <a:rPr lang="it-IT" dirty="0"/>
              <a:t> = 0.05⋅I molto piccolo. </a:t>
            </a:r>
          </a:p>
          <a:p>
            <a:r>
              <a:rPr lang="it-IT" dirty="0"/>
              <a:t>Si integra </a:t>
            </a:r>
            <a:r>
              <a:rPr lang="it-IT" dirty="0" err="1"/>
              <a:t>p˙noisy</a:t>
            </a:r>
            <a:r>
              <a:rPr lang="it-IT" dirty="0"/>
              <a:t> per stimare la posizione senza usare il GPS e si aggiunge una forza di richiamo al sensore per evitare la deriva dovuta all’integrazione di un segnale rumoroso.</a:t>
            </a:r>
          </a:p>
          <a:p>
            <a:endParaRPr lang="it-IT" dirty="0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 dirty="0"/>
          </a:p>
        </p:txBody>
      </p:sp>
      <p:pic>
        <p:nvPicPr>
          <p:cNvPr id="5" name="Immagine 4" descr="Immagine che contiene testo, Carattere, calligrafi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FC5FF4EC-9D13-9E25-0A2B-689D97F7E2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94" b="58292"/>
          <a:stretch>
            <a:fillRect/>
          </a:stretch>
        </p:blipFill>
        <p:spPr>
          <a:xfrm>
            <a:off x="1119183" y="8819491"/>
            <a:ext cx="10751202" cy="220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7111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6E8D-E81C-EA99-CC6F-8F041B9F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028F619D-1DDE-D68F-6B00-F97728CA5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630316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/>
              <a:t>FD3 – Filtro Complementare GPS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0975197-3EE6-2A39-32BA-D023685B1099}"/>
              </a:ext>
            </a:extLst>
          </p:cNvPr>
          <p:cNvSpPr txBox="1"/>
          <p:nvPr/>
        </p:nvSpPr>
        <p:spPr>
          <a:xfrm>
            <a:off x="5199170" y="1412697"/>
            <a:ext cx="13951426" cy="3365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it-IT" dirty="0"/>
          </a:p>
          <a:p>
            <a:r>
              <a:rPr lang="it-IT" dirty="0"/>
              <a:t>Obiettivo: rilevare guasti additivi su pp (posizione GPS).</a:t>
            </a:r>
          </a:p>
          <a:p>
            <a:endParaRPr lang="it-IT" dirty="0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7A064B6-90AE-E06F-44F1-001358389104}"/>
              </a:ext>
            </a:extLst>
          </p:cNvPr>
          <p:cNvSpPr txBox="1"/>
          <p:nvPr/>
        </p:nvSpPr>
        <p:spPr>
          <a:xfrm>
            <a:off x="8885581" y="3183456"/>
            <a:ext cx="11231220" cy="11661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 Nell’equazione del filtro si sostituisce la x:</a:t>
            </a:r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AC50F892-127C-722F-92E5-2777FF211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50" y="9924256"/>
            <a:ext cx="5778019" cy="967360"/>
          </a:xfrm>
          <a:prstGeom prst="rect">
            <a:avLst/>
          </a:prstGeom>
        </p:spPr>
      </p:pic>
      <p:sp>
        <p:nvSpPr>
          <p:cNvPr id="37" name="Freccia a destra 36">
            <a:extLst>
              <a:ext uri="{FF2B5EF4-FFF2-40B4-BE49-F238E27FC236}">
                <a16:creationId xmlns:a16="http://schemas.microsoft.com/office/drawing/2014/main" id="{15540038-B165-82B8-9FFB-541B774E8F75}"/>
              </a:ext>
            </a:extLst>
          </p:cNvPr>
          <p:cNvSpPr/>
          <p:nvPr/>
        </p:nvSpPr>
        <p:spPr>
          <a:xfrm>
            <a:off x="7872618" y="10114167"/>
            <a:ext cx="1987826" cy="587538"/>
          </a:xfrm>
          <a:prstGeom prst="rightArrow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BD750E9-FFAF-D03D-FA9D-844DE8071D22}"/>
              </a:ext>
            </a:extLst>
          </p:cNvPr>
          <p:cNvSpPr txBox="1"/>
          <p:nvPr/>
        </p:nvSpPr>
        <p:spPr>
          <a:xfrm>
            <a:off x="10329116" y="9552672"/>
            <a:ext cx="11231220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Soluzione a regime (con Guasto a rampa)</a:t>
            </a: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EA40AFCB-FE04-9863-3FAE-F142E2089D51}"/>
              </a:ext>
            </a:extLst>
          </p:cNvPr>
          <p:cNvGrpSpPr/>
          <p:nvPr/>
        </p:nvGrpSpPr>
        <p:grpSpPr>
          <a:xfrm>
            <a:off x="907717" y="3298301"/>
            <a:ext cx="6540661" cy="5368727"/>
            <a:chOff x="1906991" y="3076022"/>
            <a:chExt cx="6540661" cy="5368727"/>
          </a:xfrm>
        </p:grpSpPr>
        <p:pic>
          <p:nvPicPr>
            <p:cNvPr id="8" name="Immagine 7" descr="Immagine che contiene testo, Carattere, schizzo, calligrafi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400FD140-F8BD-FECB-5F60-07BC1A378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6991" y="3076022"/>
              <a:ext cx="5986550" cy="2581095"/>
            </a:xfrm>
            <a:prstGeom prst="rect">
              <a:avLst/>
            </a:prstGeom>
          </p:spPr>
        </p:pic>
        <p:pic>
          <p:nvPicPr>
            <p:cNvPr id="11" name="Immagine 10" descr="Immagine che contiene Carattere, testo, bianco, diagramm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255480A8-C625-7DCD-31E7-FD11C9559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6776" y="5394751"/>
              <a:ext cx="6440876" cy="1500097"/>
            </a:xfrm>
            <a:prstGeom prst="rect">
              <a:avLst/>
            </a:prstGeom>
          </p:spPr>
        </p:pic>
        <p:pic>
          <p:nvPicPr>
            <p:cNvPr id="13" name="Immagine 12" descr="Immagine che contiene Carattere, testo, bianco, tipografi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6B2CE7B6-6B28-3CB6-2816-418DAC06F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5573" y="6876539"/>
              <a:ext cx="5028840" cy="1568210"/>
            </a:xfrm>
            <a:prstGeom prst="rect">
              <a:avLst/>
            </a:prstGeom>
          </p:spPr>
        </p:pic>
      </p:grpSp>
      <p:pic>
        <p:nvPicPr>
          <p:cNvPr id="16" name="Immagine 15" descr="Immagine che contiene testo, Carattere, bian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2666556B-A245-2D5F-4348-BF05F0786E2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72" t="22341" r="14059" b="25154"/>
          <a:stretch>
            <a:fillRect/>
          </a:stretch>
        </p:blipFill>
        <p:spPr>
          <a:xfrm>
            <a:off x="9067786" y="4597540"/>
            <a:ext cx="7826881" cy="1184483"/>
          </a:xfrm>
          <a:prstGeom prst="rect">
            <a:avLst/>
          </a:prstGeom>
        </p:spPr>
      </p:pic>
      <p:pic>
        <p:nvPicPr>
          <p:cNvPr id="18" name="Immagine 17" descr="Immagine che contiene testo, Carattere, bianc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18A140D5-3CA2-F2A8-1C92-1CCEADE44F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8515" y="5931647"/>
            <a:ext cx="5475437" cy="1490752"/>
          </a:xfrm>
          <a:prstGeom prst="rect">
            <a:avLst/>
          </a:prstGeom>
        </p:spPr>
      </p:pic>
      <p:pic>
        <p:nvPicPr>
          <p:cNvPr id="21" name="Immagine 20" descr="Immagine che contiene testo, Carattere, numero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3E09D23E-F430-061B-C9FE-C7CB60CE5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24217" y="5852466"/>
            <a:ext cx="6036512" cy="1557425"/>
          </a:xfrm>
          <a:prstGeom prst="rect">
            <a:avLst/>
          </a:prstGeom>
        </p:spPr>
      </p:pic>
      <p:pic>
        <p:nvPicPr>
          <p:cNvPr id="23" name="Immagine 22" descr="Immagine che contiene Carattere, Rettangolo, numer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DF52042E-D7AF-2A3E-BBF1-3F8C53CAE2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7786" y="7201049"/>
            <a:ext cx="3040105" cy="2030494"/>
          </a:xfrm>
          <a:prstGeom prst="rect">
            <a:avLst/>
          </a:prstGeom>
        </p:spPr>
      </p:pic>
      <p:pic>
        <p:nvPicPr>
          <p:cNvPr id="27" name="Immagine 26" descr="Immagine che contiene testo, Carattere, bianco, logo&#10;&#10;Il contenuto generato dall&amp;#39;IA potrebbe non essere corretto.">
            <a:extLst>
              <a:ext uri="{FF2B5EF4-FFF2-40B4-BE49-F238E27FC236}">
                <a16:creationId xmlns:a16="http://schemas.microsoft.com/office/drawing/2014/main" id="{BD2CEE7D-595E-9B79-CE67-4D7F286457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24217" y="7036812"/>
            <a:ext cx="3546714" cy="1577375"/>
          </a:xfrm>
          <a:prstGeom prst="rect">
            <a:avLst/>
          </a:prstGeom>
        </p:spPr>
      </p:pic>
      <p:pic>
        <p:nvPicPr>
          <p:cNvPr id="29" name="Immagine 28" descr="Immagine che contiene testo, Carattere, bianc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5E6C73E4-4173-3A62-5FA8-A4F9B7BB72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9116" y="10891616"/>
            <a:ext cx="6377734" cy="19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7866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20B74-0225-EF2F-E0F7-CAD374B9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52D328A6-8517-9746-3956-35EB1B6B32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630316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Architettura </a:t>
            </a:r>
            <a:r>
              <a:rPr lang="it-IT" b="1" err="1">
                <a:ea typeface="+mn-lt"/>
                <a:cs typeface="+mn-lt"/>
              </a:rPr>
              <a:t>Simulink</a:t>
            </a:r>
            <a:r>
              <a:rPr lang="it-IT" b="1">
                <a:ea typeface="+mn-lt"/>
                <a:cs typeface="+mn-lt"/>
              </a:rPr>
              <a:t> del Modulo FD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51BC1FA-B606-E909-31B0-09EB14AA15DC}"/>
              </a:ext>
            </a:extLst>
          </p:cNvPr>
          <p:cNvSpPr txBox="1"/>
          <p:nvPr/>
        </p:nvSpPr>
        <p:spPr>
          <a:xfrm>
            <a:off x="1879565" y="2175343"/>
            <a:ext cx="20594497" cy="2626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Implementazione Simulink — Modulo Fault Detection</a:t>
            </a:r>
          </a:p>
          <a:p>
            <a:pPr algn="ctr"/>
            <a:endParaRPr lang="it-IT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/>
          </a:p>
        </p:txBody>
      </p:sp>
      <p:pic>
        <p:nvPicPr>
          <p:cNvPr id="2" name="Immagine 1" descr="Immagine che contiene testo, diagramma,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B71BC7D2-7E99-74DD-E1A7-CFBC83953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269" b="4148"/>
          <a:stretch>
            <a:fillRect/>
          </a:stretch>
        </p:blipFill>
        <p:spPr>
          <a:xfrm>
            <a:off x="1881022" y="3637501"/>
            <a:ext cx="10113157" cy="842689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32EEF1-3F1D-4AFA-DCA5-9AF831207268}"/>
              </a:ext>
            </a:extLst>
          </p:cNvPr>
          <p:cNvSpPr txBox="1"/>
          <p:nvPr/>
        </p:nvSpPr>
        <p:spPr>
          <a:xfrm>
            <a:off x="12514318" y="3857050"/>
            <a:ext cx="10425485" cy="79871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/>
              <a:t>Uscite (4 residui):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r_gyro</a:t>
            </a:r>
            <a:r>
              <a:rPr lang="it-IT"/>
              <a:t> — residuo osservatore giroscopio (FD1)</a:t>
            </a:r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r_act</a:t>
            </a:r>
            <a:r>
              <a:rPr lang="it-IT"/>
              <a:t> — residuo equazione di parità attuatori, vettore 3D (FD2)</a:t>
            </a:r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r_act_z</a:t>
            </a:r>
            <a:r>
              <a:rPr lang="it-IT"/>
              <a:t> — componente Z del residuo attuatori (FD2 specifico)</a:t>
            </a:r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r_gps</a:t>
            </a:r>
            <a:r>
              <a:rPr lang="it-IT"/>
              <a:t> — residuo filtro complementare GPS (FD3)</a:t>
            </a:r>
          </a:p>
          <a:p>
            <a:pPr marL="0" marR="0" indent="0" algn="l" defTabSz="243840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it-IT" sz="4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</p:txBody>
      </p:sp>
    </p:spTree>
    <p:extLst>
      <p:ext uri="{BB962C8B-B14F-4D97-AF65-F5344CB8AC3E}">
        <p14:creationId xmlns:p14="http://schemas.microsoft.com/office/powerpoint/2010/main" val="134052684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84AD-17FE-D88F-5E9A-BC0DF4B19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diagramma, testo, Piano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69FA7508-18F6-C8BE-42E4-D535414E0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295" y="2191036"/>
            <a:ext cx="20984552" cy="9216699"/>
          </a:xfrm>
          <a:prstGeom prst="rect">
            <a:avLst/>
          </a:prstGeom>
        </p:spPr>
      </p:pic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70883FA7-8742-B1C0-40C8-3FB546097F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630316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Interno del blocco Fault Detection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13C3B6A-6017-0AF7-1182-0BB6FA2073C0}"/>
              </a:ext>
            </a:extLst>
          </p:cNvPr>
          <p:cNvSpPr txBox="1"/>
          <p:nvPr/>
        </p:nvSpPr>
        <p:spPr>
          <a:xfrm>
            <a:off x="1879565" y="2175343"/>
            <a:ext cx="20594497" cy="2626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Architettura interna: 3 canali in parallelo</a:t>
            </a:r>
          </a:p>
          <a:p>
            <a:pPr algn="ctr"/>
            <a:endParaRPr lang="it-IT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83B551-035A-CD37-8230-2C087431FA4A}"/>
              </a:ext>
            </a:extLst>
          </p:cNvPr>
          <p:cNvSpPr txBox="1"/>
          <p:nvPr/>
        </p:nvSpPr>
        <p:spPr>
          <a:xfrm>
            <a:off x="2220851" y="11232305"/>
            <a:ext cx="1996025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L'interno del blocco FD realizza fisicamente i tre principi di ridondanza analitica descritti nelle slide precedenti.</a:t>
            </a:r>
            <a:endParaRPr lang="it-IT" sz="4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</p:txBody>
      </p:sp>
    </p:spTree>
    <p:extLst>
      <p:ext uri="{BB962C8B-B14F-4D97-AF65-F5344CB8AC3E}">
        <p14:creationId xmlns:p14="http://schemas.microsoft.com/office/powerpoint/2010/main" val="207599174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6D01-EB32-08B1-5409-0956555D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diagramma, linea, Disegno tecnico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FF8619A4-AF8F-4B96-A5C6-47F1E6D8C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95" y="1289630"/>
            <a:ext cx="23017528" cy="556308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B92D539-71F0-1CB1-ACEA-C1D7BE09B6F8}"/>
              </a:ext>
            </a:extLst>
          </p:cNvPr>
          <p:cNvSpPr txBox="1"/>
          <p:nvPr/>
        </p:nvSpPr>
        <p:spPr>
          <a:xfrm>
            <a:off x="2195020" y="7512709"/>
            <a:ext cx="19960254" cy="52732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/>
              <a:t>Canale FD1: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Blocco </a:t>
            </a:r>
            <a:r>
              <a:rPr lang="it-IT" err="1">
                <a:latin typeface="Consolas"/>
              </a:rPr>
              <a:t>Cal_Tau</a:t>
            </a:r>
            <a:r>
              <a:rPr lang="it-IT"/>
              <a:t> (F2*u) calcola la coppia τ dai 6 comandi motore</a:t>
            </a:r>
          </a:p>
          <a:p>
            <a:pPr marL="285750" indent="-285750">
              <a:buFont typeface="Arial"/>
              <a:buChar char="•"/>
            </a:pPr>
            <a:r>
              <a:rPr lang="it-IT" err="1"/>
              <a:t>Mux</a:t>
            </a:r>
            <a:r>
              <a:rPr lang="it-IT"/>
              <a:t> unisce [τ; </a:t>
            </a:r>
            <a:r>
              <a:rPr lang="it-IT" err="1"/>
              <a:t>Rpnoisy</a:t>
            </a:r>
            <a:r>
              <a:rPr lang="it-IT"/>
              <a:t>] come ingresso al blocco State-Space (LTI System) dell'osservatore di </a:t>
            </a:r>
            <a:r>
              <a:rPr lang="it-IT" err="1"/>
              <a:t>Luenberger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Extract_omega</a:t>
            </a:r>
            <a:r>
              <a:rPr lang="it-IT"/>
              <a:t> estrae le componenti [</a:t>
            </a:r>
            <a:r>
              <a:rPr lang="it-IT" err="1"/>
              <a:t>ωx</a:t>
            </a:r>
            <a:r>
              <a:rPr lang="it-IT"/>
              <a:t>, </a:t>
            </a:r>
            <a:r>
              <a:rPr lang="it-IT" err="1"/>
              <a:t>ωy</a:t>
            </a:r>
            <a:r>
              <a:rPr lang="it-IT"/>
              <a:t>, </a:t>
            </a:r>
            <a:r>
              <a:rPr lang="it-IT" err="1"/>
              <a:t>ωz</a:t>
            </a:r>
            <a:r>
              <a:rPr lang="it-IT"/>
              <a:t>] dallo stato stimato</a:t>
            </a:r>
          </a:p>
          <a:p>
            <a:pPr marL="285750" indent="-285750">
              <a:buFont typeface="Arial"/>
              <a:buChar char="•"/>
            </a:pPr>
            <a:r>
              <a:rPr lang="it-IT"/>
              <a:t>Somma differenza: </a:t>
            </a:r>
            <a:r>
              <a:rPr lang="it-IT" err="1">
                <a:latin typeface="Consolas"/>
              </a:rPr>
              <a:t>r_gyro</a:t>
            </a:r>
            <a:r>
              <a:rPr lang="it-IT">
                <a:latin typeface="Consolas"/>
              </a:rPr>
              <a:t> = </a:t>
            </a:r>
            <a:r>
              <a:rPr lang="it-IT" err="1">
                <a:latin typeface="Consolas"/>
              </a:rPr>
              <a:t>omeganoisy</a:t>
            </a:r>
            <a:r>
              <a:rPr lang="it-IT">
                <a:latin typeface="Consolas"/>
              </a:rPr>
              <a:t> − ω̂</a:t>
            </a:r>
            <a:endParaRPr lang="it-IT"/>
          </a:p>
          <a:p>
            <a:endParaRPr lang="it-IT" sz="480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</p:txBody>
      </p:sp>
    </p:spTree>
    <p:extLst>
      <p:ext uri="{BB962C8B-B14F-4D97-AF65-F5344CB8AC3E}">
        <p14:creationId xmlns:p14="http://schemas.microsoft.com/office/powerpoint/2010/main" val="382509304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6C41-4CA7-A340-8A36-0BEFA37B6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5DB68070-86F5-A1B5-1EEA-54925632F318}"/>
              </a:ext>
            </a:extLst>
          </p:cNvPr>
          <p:cNvSpPr txBox="1"/>
          <p:nvPr/>
        </p:nvSpPr>
        <p:spPr>
          <a:xfrm>
            <a:off x="2195020" y="7422301"/>
            <a:ext cx="19960254" cy="52732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/>
              <a:t>Canale FD2: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>
                <a:latin typeface="Consolas"/>
              </a:rPr>
              <a:t>Cal_F1u_su_m</a:t>
            </a:r>
            <a:r>
              <a:rPr lang="it-IT"/>
              <a:t> (</a:t>
            </a:r>
            <a:r>
              <a:rPr lang="it-IT" err="1"/>
              <a:t>B_parity</a:t>
            </a:r>
            <a:r>
              <a:rPr lang="it-IT"/>
              <a:t>*u) calcola F1·u/m</a:t>
            </a:r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Gravity_vec</a:t>
            </a:r>
            <a:r>
              <a:rPr lang="it-IT"/>
              <a:t> fornisce g·e3</a:t>
            </a:r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Acc_predetta</a:t>
            </a:r>
            <a:r>
              <a:rPr lang="it-IT">
                <a:latin typeface="Consolas"/>
              </a:rPr>
              <a:t> = g·e3 + F1·u/m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Somma differenza: </a:t>
            </a:r>
            <a:r>
              <a:rPr lang="it-IT" err="1">
                <a:latin typeface="Consolas"/>
              </a:rPr>
              <a:t>r_act</a:t>
            </a:r>
            <a:r>
              <a:rPr lang="it-IT">
                <a:latin typeface="Consolas"/>
              </a:rPr>
              <a:t> = </a:t>
            </a:r>
            <a:r>
              <a:rPr lang="it-IT" err="1">
                <a:latin typeface="Consolas"/>
              </a:rPr>
              <a:t>vdotnoisy</a:t>
            </a:r>
            <a:r>
              <a:rPr lang="it-IT">
                <a:latin typeface="Consolas"/>
              </a:rPr>
              <a:t> − </a:t>
            </a:r>
            <a:r>
              <a:rPr lang="it-IT" err="1">
                <a:latin typeface="Consolas"/>
              </a:rPr>
              <a:t>Acc_predetta</a:t>
            </a:r>
            <a:endParaRPr lang="it-IT" err="1"/>
          </a:p>
          <a:p>
            <a:pPr marL="285750" indent="-285750">
              <a:buFont typeface="Arial"/>
              <a:buChar char="•"/>
            </a:pPr>
            <a:r>
              <a:rPr lang="it-IT" err="1">
                <a:latin typeface="Consolas"/>
              </a:rPr>
              <a:t>Extract_rz</a:t>
            </a:r>
            <a:r>
              <a:rPr lang="it-IT"/>
              <a:t> isola la componente Z (la più diagnostica per perdita di spinta)</a:t>
            </a:r>
          </a:p>
          <a:p>
            <a:endParaRPr lang="it-IT" sz="4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</p:txBody>
      </p:sp>
      <p:pic>
        <p:nvPicPr>
          <p:cNvPr id="3" name="Immagine 2" descr="Immagine che contiene diagramma, linea, testo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3C36510E-FFD8-2BE7-7E7A-A1B567861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11" y="964907"/>
            <a:ext cx="21454451" cy="581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2615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3115-7C9B-7D9F-56AB-C4C0EF15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47EEBE-646D-B670-477C-EE3DE48AECF4}"/>
              </a:ext>
            </a:extLst>
          </p:cNvPr>
          <p:cNvSpPr txBox="1"/>
          <p:nvPr/>
        </p:nvSpPr>
        <p:spPr>
          <a:xfrm>
            <a:off x="2195020" y="7430005"/>
            <a:ext cx="19960254" cy="45345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/>
              <a:t>Canale FD3:</a:t>
            </a: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 err="1"/>
              <a:t>Mux</a:t>
            </a:r>
            <a:r>
              <a:rPr lang="it-IT"/>
              <a:t> unisce [</a:t>
            </a:r>
            <a:r>
              <a:rPr lang="it-IT" err="1"/>
              <a:t>pdotnoisy</a:t>
            </a:r>
            <a:r>
              <a:rPr lang="it-IT"/>
              <a:t>; </a:t>
            </a:r>
            <a:r>
              <a:rPr lang="it-IT" err="1"/>
              <a:t>pnoisy</a:t>
            </a:r>
            <a:r>
              <a:rPr lang="it-IT"/>
              <a:t>] come ingresso al secondo State-Space (filtro complementare)</a:t>
            </a:r>
          </a:p>
          <a:p>
            <a:pPr marL="285750" indent="-285750">
              <a:buFont typeface="Arial"/>
              <a:buChar char="•"/>
            </a:pPr>
            <a:r>
              <a:rPr lang="it-IT"/>
              <a:t>Uscita </a:t>
            </a:r>
            <a:r>
              <a:rPr lang="it-IT" err="1">
                <a:latin typeface="Consolas"/>
              </a:rPr>
              <a:t>p_predetta</a:t>
            </a:r>
            <a:r>
              <a:rPr lang="it-IT"/>
              <a:t> confrontata con </a:t>
            </a:r>
            <a:r>
              <a:rPr lang="it-IT" err="1">
                <a:latin typeface="Consolas"/>
              </a:rPr>
              <a:t>pnoisy</a:t>
            </a:r>
            <a:endParaRPr lang="it-IT" err="1"/>
          </a:p>
          <a:p>
            <a:pPr marL="285750" indent="-285750">
              <a:buFont typeface="Arial"/>
              <a:buChar char="•"/>
            </a:pPr>
            <a:r>
              <a:rPr lang="it-IT"/>
              <a:t>Somma differenza: </a:t>
            </a:r>
            <a:r>
              <a:rPr lang="it-IT" err="1">
                <a:latin typeface="Consolas"/>
              </a:rPr>
              <a:t>r_gps</a:t>
            </a:r>
            <a:r>
              <a:rPr lang="it-IT">
                <a:latin typeface="Consolas"/>
              </a:rPr>
              <a:t> = </a:t>
            </a:r>
            <a:r>
              <a:rPr lang="it-IT" err="1">
                <a:latin typeface="Consolas"/>
              </a:rPr>
              <a:t>pnoisy</a:t>
            </a:r>
            <a:r>
              <a:rPr lang="it-IT">
                <a:latin typeface="Consolas"/>
              </a:rPr>
              <a:t> − p̂</a:t>
            </a:r>
            <a:endParaRPr lang="it-IT"/>
          </a:p>
          <a:p>
            <a:endParaRPr lang="it-IT" sz="4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</a:endParaRPr>
          </a:p>
        </p:txBody>
      </p:sp>
      <p:pic>
        <p:nvPicPr>
          <p:cNvPr id="2" name="Immagine 1" descr="Immagine che contiene diagramma, linea, testo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F57B5466-8A67-C037-93CC-EC58EC7FB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77" y="1876445"/>
            <a:ext cx="23039508" cy="465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08507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49DE5-EF12-4F9B-9012-0710D7D4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3072D26D-6507-C996-28D5-221691AF57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100" y="471478"/>
            <a:ext cx="22858008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dirty="0">
                <a:ea typeface="+mn-lt"/>
                <a:cs typeface="+mn-lt"/>
              </a:rPr>
              <a:t>Comportamento FD1</a:t>
            </a:r>
            <a:endParaRPr lang="it-IT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1FBCB04-2A9C-BC0B-0641-94890172A28B}"/>
              </a:ext>
            </a:extLst>
          </p:cNvPr>
          <p:cNvSpPr txBox="1"/>
          <p:nvPr/>
        </p:nvSpPr>
        <p:spPr>
          <a:xfrm>
            <a:off x="1812088" y="2193782"/>
            <a:ext cx="2075080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Effetto del guasto sul giroscopio: instabilità del controllo</a:t>
            </a:r>
          </a:p>
          <a:p>
            <a:pPr algn="ctr"/>
            <a:endParaRPr lang="it-IT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5FBC7648-2E89-5C94-1221-4D30347092D6}"/>
              </a:ext>
            </a:extLst>
          </p:cNvPr>
          <p:cNvSpPr>
            <a:spLocks noGrp="1"/>
          </p:cNvSpPr>
          <p:nvPr/>
        </p:nvSpPr>
        <p:spPr bwMode="auto">
          <a:xfrm>
            <a:off x="16914490" y="5366211"/>
            <a:ext cx="7069459" cy="271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>
              <a:buNone/>
            </a:pPr>
            <a:r>
              <a:rPr lang="en-US" sz="3600" u="sng" dirty="0" err="1">
                <a:cs typeface="Segoe UI"/>
              </a:rPr>
              <a:t>Confronto</a:t>
            </a:r>
            <a:r>
              <a:rPr lang="en-US" sz="3600" dirty="0">
                <a:cs typeface="Segoe UI"/>
              </a:rPr>
              <a:t>:</a:t>
            </a:r>
          </a:p>
          <a:p>
            <a:pPr>
              <a:buNone/>
            </a:pPr>
            <a:r>
              <a:rPr lang="en-US" sz="3600" dirty="0">
                <a:cs typeface="Segoe UI"/>
              </a:rPr>
              <a:t>omega </a:t>
            </a:r>
            <a:r>
              <a:rPr lang="en-US" sz="3600" dirty="0" err="1">
                <a:cs typeface="Segoe UI"/>
              </a:rPr>
              <a:t>misurato</a:t>
            </a:r>
            <a:r>
              <a:rPr lang="en-US" sz="3600" dirty="0">
                <a:cs typeface="Segoe UI"/>
              </a:rPr>
              <a:t> vs omega </a:t>
            </a:r>
            <a:r>
              <a:rPr lang="en-US" sz="3600" dirty="0" err="1">
                <a:cs typeface="Segoe UI"/>
              </a:rPr>
              <a:t>stimato</a:t>
            </a:r>
            <a:r>
              <a:rPr lang="en-US" sz="3600" dirty="0">
                <a:cs typeface="Segoe UI"/>
              </a:rPr>
              <a:t> </a:t>
            </a:r>
          </a:p>
        </p:txBody>
      </p:sp>
      <p:pic>
        <p:nvPicPr>
          <p:cNvPr id="2" name="Immagine 1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81E762AB-1D8F-8D2E-9E49-7E7776C52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94" y="3421185"/>
            <a:ext cx="15569060" cy="94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7707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90EC8-47C3-02AE-08CE-1907B62FE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4E4BA9F4-5C04-1B61-9D36-4039A1A0E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Confronto Fault-Free vs Fault: FD1 (Roll)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688E49D-C84C-B8F7-70EC-4AB18C6C919B}"/>
              </a:ext>
            </a:extLst>
          </p:cNvPr>
          <p:cNvSpPr txBox="1"/>
          <p:nvPr/>
        </p:nvSpPr>
        <p:spPr>
          <a:xfrm>
            <a:off x="1812088" y="2193783"/>
            <a:ext cx="2075080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FD1 — Rilevamento guasto sensore Roll</a:t>
            </a:r>
          </a:p>
          <a:p>
            <a:pPr algn="ctr"/>
            <a:endParaRPr lang="it-IT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641805ED-5576-F361-30D0-B564462ABF16}"/>
              </a:ext>
            </a:extLst>
          </p:cNvPr>
          <p:cNvSpPr>
            <a:spLocks noGrp="1"/>
          </p:cNvSpPr>
          <p:nvPr/>
        </p:nvSpPr>
        <p:spPr bwMode="auto">
          <a:xfrm>
            <a:off x="17343684" y="5990495"/>
            <a:ext cx="6382565" cy="2636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>
              <a:buNone/>
            </a:pPr>
            <a:r>
              <a:rPr lang="en-US" sz="3600" dirty="0" err="1">
                <a:cs typeface="Segoe UI"/>
              </a:rPr>
              <a:t>Iniezione</a:t>
            </a:r>
            <a:r>
              <a:rPr lang="en-US" sz="3600" dirty="0">
                <a:cs typeface="Segoe UI"/>
              </a:rPr>
              <a:t> di un </a:t>
            </a:r>
            <a:r>
              <a:rPr lang="en-US" sz="3600" dirty="0" err="1">
                <a:cs typeface="Segoe UI"/>
              </a:rPr>
              <a:t>guasto</a:t>
            </a:r>
            <a:r>
              <a:rPr lang="en-US" sz="3600" dirty="0">
                <a:cs typeface="Segoe UI"/>
              </a:rPr>
              <a:t> a rampa </a:t>
            </a:r>
            <a:r>
              <a:rPr lang="en-US" sz="3600" dirty="0" err="1">
                <a:cs typeface="Segoe UI"/>
              </a:rPr>
              <a:t>sul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sensore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giroscopico</a:t>
            </a:r>
            <a:r>
              <a:rPr lang="en-US" sz="3600" dirty="0">
                <a:cs typeface="Segoe UI"/>
              </a:rPr>
              <a:t> di Roll a </a:t>
            </a:r>
            <a:r>
              <a:rPr lang="en-US" sz="3600" dirty="0" err="1">
                <a:cs typeface="Segoe UI"/>
              </a:rPr>
              <a:t>partire</a:t>
            </a:r>
            <a:r>
              <a:rPr lang="en-US" sz="3600" dirty="0">
                <a:cs typeface="Segoe UI"/>
              </a:rPr>
              <a:t> da t=20s.</a:t>
            </a:r>
            <a:endParaRPr lang="it-IT" dirty="0"/>
          </a:p>
        </p:txBody>
      </p:sp>
      <p:pic>
        <p:nvPicPr>
          <p:cNvPr id="2" name="Immagine 1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FEE5F7DE-0B8C-773E-5273-A97EF579D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54" y="2983730"/>
            <a:ext cx="16464328" cy="997438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B7D86E6-B2FB-0EC9-D9E3-6581E50B6616}"/>
              </a:ext>
            </a:extLst>
          </p:cNvPr>
          <p:cNvSpPr txBox="1"/>
          <p:nvPr/>
        </p:nvSpPr>
        <p:spPr>
          <a:xfrm>
            <a:off x="17316450" y="9501325"/>
            <a:ext cx="7067550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3600" dirty="0">
                <a:cs typeface="Arial"/>
              </a:rPr>
              <a:t>Il guasto a rampa è correttamente rilevato dal residuo FD1 con separazione netta dal caso fault-free. 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19441907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D617-A05E-D7C4-1804-F004B6CDB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613B7456-E0F4-A02A-DBAB-CC493D7DD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Confronto Fault-Free vs Fault: FD1 (Pitch)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0690234-0D93-00BC-C8CB-58918FE598E9}"/>
              </a:ext>
            </a:extLst>
          </p:cNvPr>
          <p:cNvSpPr txBox="1"/>
          <p:nvPr/>
        </p:nvSpPr>
        <p:spPr>
          <a:xfrm>
            <a:off x="1812088" y="2188617"/>
            <a:ext cx="20750804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Rilevamento guasto sensore Pitch</a:t>
            </a:r>
          </a:p>
          <a:p>
            <a:pPr algn="ctr"/>
            <a:endParaRPr lang="it-IT"/>
          </a:p>
          <a:p>
            <a:pPr algn="ctr"/>
            <a:endParaRPr lang="it-IT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FCF4421D-275D-E9F4-7264-C97977EA836A}"/>
              </a:ext>
            </a:extLst>
          </p:cNvPr>
          <p:cNvSpPr>
            <a:spLocks noGrp="1"/>
          </p:cNvSpPr>
          <p:nvPr/>
        </p:nvSpPr>
        <p:spPr bwMode="auto">
          <a:xfrm>
            <a:off x="17057555" y="4831578"/>
            <a:ext cx="6382565" cy="181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>
              <a:buNone/>
            </a:pPr>
            <a:r>
              <a:rPr lang="en-US" sz="3600" dirty="0" err="1">
                <a:cs typeface="Segoe UI"/>
              </a:rPr>
              <a:t>Iniezione</a:t>
            </a:r>
            <a:r>
              <a:rPr lang="en-US" sz="3600" dirty="0">
                <a:cs typeface="Segoe UI"/>
              </a:rPr>
              <a:t> di un </a:t>
            </a:r>
            <a:r>
              <a:rPr lang="en-US" sz="3600" dirty="0" err="1">
                <a:cs typeface="Segoe UI"/>
              </a:rPr>
              <a:t>guasto</a:t>
            </a:r>
            <a:r>
              <a:rPr lang="en-US" sz="3600" dirty="0">
                <a:cs typeface="Segoe UI"/>
              </a:rPr>
              <a:t> a rampa </a:t>
            </a:r>
            <a:r>
              <a:rPr lang="en-US" sz="3600" dirty="0" err="1">
                <a:cs typeface="Segoe UI"/>
              </a:rPr>
              <a:t>sul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sensore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giroscopico</a:t>
            </a:r>
            <a:r>
              <a:rPr lang="en-US" sz="3600" dirty="0">
                <a:cs typeface="Segoe UI"/>
              </a:rPr>
              <a:t> di Pitch a </a:t>
            </a:r>
            <a:r>
              <a:rPr lang="en-US" sz="3600" dirty="0" err="1">
                <a:cs typeface="Segoe UI"/>
              </a:rPr>
              <a:t>partire</a:t>
            </a:r>
            <a:r>
              <a:rPr lang="en-US" sz="3600" dirty="0">
                <a:cs typeface="Segoe UI"/>
              </a:rPr>
              <a:t> da t=20s.</a:t>
            </a:r>
          </a:p>
        </p:txBody>
      </p:sp>
      <p:pic>
        <p:nvPicPr>
          <p:cNvPr id="4" name="Immagine 3" descr="Immagine che contiene testo, line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D6EF0982-555C-E8D5-EF78-216346A34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0" y="3139860"/>
            <a:ext cx="15930277" cy="968782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A5687E1-4C4E-B717-D5D0-7684D5ED8AE1}"/>
              </a:ext>
            </a:extLst>
          </p:cNvPr>
          <p:cNvSpPr txBox="1"/>
          <p:nvPr/>
        </p:nvSpPr>
        <p:spPr>
          <a:xfrm>
            <a:off x="17057555" y="9463225"/>
            <a:ext cx="7067550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3600" dirty="0">
                <a:cs typeface="Arial"/>
              </a:rPr>
              <a:t>Il guasto a rampa è correttamente rilevato dal residuo FD1 con separazione netta dal caso fault-free. 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73607183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2D66A-DDEF-0B4B-1875-F43D1F68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D807E1EC-376D-2912-3E68-DB646E423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100" y="471478"/>
            <a:ext cx="22858008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dirty="0">
                <a:ea typeface="+mn-lt"/>
                <a:cs typeface="+mn-lt"/>
              </a:rPr>
              <a:t>Comportamento FD2</a:t>
            </a:r>
            <a:endParaRPr lang="it-IT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67BBCCF-D2C2-E7A5-B90B-F912662C5FD7}"/>
              </a:ext>
            </a:extLst>
          </p:cNvPr>
          <p:cNvSpPr txBox="1"/>
          <p:nvPr/>
        </p:nvSpPr>
        <p:spPr>
          <a:xfrm>
            <a:off x="1812088" y="2193782"/>
            <a:ext cx="2075080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dirty="0"/>
              <a:t>Effetto del guasto sul </a:t>
            </a:r>
            <a:r>
              <a:rPr lang="it-IT" dirty="0" err="1"/>
              <a:t>gps</a:t>
            </a:r>
            <a:endParaRPr lang="it-IT" dirty="0"/>
          </a:p>
          <a:p>
            <a:pPr algn="ctr"/>
            <a:endParaRPr lang="it-IT" dirty="0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7918AF1A-E656-B589-F263-D84C89AB36F4}"/>
              </a:ext>
            </a:extLst>
          </p:cNvPr>
          <p:cNvSpPr>
            <a:spLocks noGrp="1"/>
          </p:cNvSpPr>
          <p:nvPr/>
        </p:nvSpPr>
        <p:spPr bwMode="auto">
          <a:xfrm>
            <a:off x="14439901" y="5502505"/>
            <a:ext cx="8122992" cy="271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>
              <a:buNone/>
            </a:pPr>
            <a:r>
              <a:rPr lang="en-US" sz="3600" u="sng" dirty="0" err="1">
                <a:cs typeface="Segoe UI"/>
              </a:rPr>
              <a:t>Confronto</a:t>
            </a:r>
            <a:r>
              <a:rPr lang="en-US" sz="3600" dirty="0">
                <a:cs typeface="Segoe UI"/>
              </a:rPr>
              <a:t>:</a:t>
            </a:r>
          </a:p>
          <a:p>
            <a:pPr>
              <a:buNone/>
            </a:pP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accelerazione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misurata</a:t>
            </a:r>
            <a:r>
              <a:rPr lang="en-US" sz="3600" dirty="0">
                <a:cs typeface="Segoe UI"/>
              </a:rPr>
              <a:t> vs </a:t>
            </a:r>
            <a:r>
              <a:rPr lang="en-US" sz="3600" dirty="0" err="1">
                <a:cs typeface="Segoe UI"/>
              </a:rPr>
              <a:t>accelerazione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stimata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dall'osservatore</a:t>
            </a:r>
            <a:r>
              <a:rPr lang="en-US" sz="3600" dirty="0">
                <a:cs typeface="Segoe UI"/>
              </a:rPr>
              <a:t>  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4B841E5-0A72-DD06-4228-D311BC327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231" y="3325802"/>
            <a:ext cx="11847419" cy="888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5168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800A-4F06-E73C-2BCE-582C4B7FC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2A7D7C90-7503-283A-AE39-0E7704C09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Confronto Fault-Free vs Fault: FD2 (Motore f1)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82D9F2-B306-8F17-4256-D97FBB0A1A01}"/>
              </a:ext>
            </a:extLst>
          </p:cNvPr>
          <p:cNvSpPr txBox="1"/>
          <p:nvPr/>
        </p:nvSpPr>
        <p:spPr>
          <a:xfrm>
            <a:off x="1812088" y="2196456"/>
            <a:ext cx="20750804" cy="30572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FD2 — Rilevamento guasto motore f1</a:t>
            </a:r>
          </a:p>
          <a:p>
            <a:pPr algn="ctr"/>
            <a:endParaRPr lang="it-IT"/>
          </a:p>
          <a:p>
            <a:pPr algn="ctr"/>
            <a:endParaRPr lang="it-IT"/>
          </a:p>
          <a:p>
            <a:pPr algn="ctr"/>
            <a:endParaRPr lang="it-IT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CBF421E1-870B-D56B-10D1-F90778983895}"/>
              </a:ext>
            </a:extLst>
          </p:cNvPr>
          <p:cNvSpPr>
            <a:spLocks noGrp="1"/>
          </p:cNvSpPr>
          <p:nvPr/>
        </p:nvSpPr>
        <p:spPr bwMode="auto">
          <a:xfrm>
            <a:off x="16962305" y="5262506"/>
            <a:ext cx="6382565" cy="2068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>
              <a:buNone/>
            </a:pPr>
            <a:r>
              <a:rPr lang="en-US" sz="3600" dirty="0" err="1">
                <a:cs typeface="Segoe UI"/>
              </a:rPr>
              <a:t>Iniezione</a:t>
            </a:r>
            <a:r>
              <a:rPr lang="en-US" sz="3600" dirty="0">
                <a:cs typeface="Segoe UI"/>
              </a:rPr>
              <a:t> di un </a:t>
            </a:r>
            <a:r>
              <a:rPr lang="en-US" sz="3600" dirty="0" err="1">
                <a:cs typeface="Segoe UI"/>
              </a:rPr>
              <a:t>guasto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moltiplicativo</a:t>
            </a:r>
            <a:r>
              <a:rPr lang="en-US" sz="3600" dirty="0">
                <a:cs typeface="Segoe UI"/>
              </a:rPr>
              <a:t> a step </a:t>
            </a:r>
            <a:r>
              <a:rPr lang="en-US" sz="3600" dirty="0" err="1">
                <a:cs typeface="Segoe UI"/>
              </a:rPr>
              <a:t>sul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motore</a:t>
            </a:r>
            <a:r>
              <a:rPr lang="en-US" sz="3600" dirty="0">
                <a:cs typeface="Segoe UI"/>
              </a:rPr>
              <a:t> f1 a </a:t>
            </a:r>
            <a:r>
              <a:rPr lang="en-US" sz="3600" dirty="0" err="1">
                <a:cs typeface="Segoe UI"/>
              </a:rPr>
              <a:t>partire</a:t>
            </a:r>
            <a:r>
              <a:rPr lang="en-US" sz="3600" dirty="0">
                <a:cs typeface="Segoe UI"/>
              </a:rPr>
              <a:t> da t=20s.</a:t>
            </a:r>
            <a:endParaRPr lang="it-IT" dirty="0"/>
          </a:p>
          <a:p>
            <a:pPr>
              <a:buNone/>
            </a:pPr>
            <a:endParaRPr lang="it-IT" dirty="0"/>
          </a:p>
        </p:txBody>
      </p:sp>
      <p:pic>
        <p:nvPicPr>
          <p:cNvPr id="2" name="Immagine 1" descr="Immagine che contiene testo, Diagramma, line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67770C74-DEFB-32B4-90EF-52D156CA6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046" y="3178819"/>
            <a:ext cx="15516957" cy="955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6340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CA23-CA17-9D9E-0DA4-34F64B4E9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80BD1D1C-1F64-C2C4-BBF3-44A81712D5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dirty="0">
                <a:ea typeface="+mn-lt"/>
                <a:cs typeface="+mn-lt"/>
              </a:rPr>
              <a:t>Comportamento FD3</a:t>
            </a:r>
            <a:endParaRPr lang="it-IT" b="1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6C2B02-DF72-7855-A37C-76D5473A3617}"/>
              </a:ext>
            </a:extLst>
          </p:cNvPr>
          <p:cNvSpPr txBox="1"/>
          <p:nvPr/>
        </p:nvSpPr>
        <p:spPr>
          <a:xfrm>
            <a:off x="1812088" y="2188616"/>
            <a:ext cx="20750804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dirty="0"/>
              <a:t>FD3 — Validazione del filtro complementare GPS</a:t>
            </a:r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788BF43D-091F-2113-79FF-FBD5D9D27CCE}"/>
              </a:ext>
            </a:extLst>
          </p:cNvPr>
          <p:cNvGrpSpPr/>
          <p:nvPr/>
        </p:nvGrpSpPr>
        <p:grpSpPr>
          <a:xfrm>
            <a:off x="4209194" y="3347906"/>
            <a:ext cx="11659458" cy="9737778"/>
            <a:chOff x="3580544" y="3347906"/>
            <a:chExt cx="11659458" cy="9737778"/>
          </a:xfrm>
        </p:grpSpPr>
        <p:pic>
          <p:nvPicPr>
            <p:cNvPr id="4" name="Immagine 3" descr="Immagine che contiene testo, schermata, Policromia, Diagramm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08CDBC6C-9354-0391-2BB4-BBCDB2F27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0792" t="202"/>
            <a:stretch>
              <a:fillRect/>
            </a:stretch>
          </p:blipFill>
          <p:spPr>
            <a:xfrm>
              <a:off x="3580544" y="3347906"/>
              <a:ext cx="5563456" cy="9669642"/>
            </a:xfrm>
            <a:prstGeom prst="rect">
              <a:avLst/>
            </a:prstGeom>
          </p:spPr>
        </p:pic>
        <p:pic>
          <p:nvPicPr>
            <p:cNvPr id="5" name="Immagine 4" descr="Immagine che contiene testo, Diagramma, schermata, Policromi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386B96A1-91EC-4103-108E-2F86C62DF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054"/>
            <a:stretch>
              <a:fillRect/>
            </a:stretch>
          </p:blipFill>
          <p:spPr>
            <a:xfrm>
              <a:off x="9144000" y="3353547"/>
              <a:ext cx="6096002" cy="9732137"/>
            </a:xfrm>
            <a:prstGeom prst="rect">
              <a:avLst/>
            </a:prstGeom>
          </p:spPr>
        </p:pic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4E6E419-EC33-FA68-8682-43BA61A05934}"/>
              </a:ext>
            </a:extLst>
          </p:cNvPr>
          <p:cNvSpPr txBox="1"/>
          <p:nvPr/>
        </p:nvSpPr>
        <p:spPr>
          <a:xfrm>
            <a:off x="4520857" y="2705253"/>
            <a:ext cx="3369512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4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Free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AE3067B-91D3-A4EF-81D0-5C2C86CF5073}"/>
              </a:ext>
            </a:extLst>
          </p:cNvPr>
          <p:cNvSpPr txBox="1"/>
          <p:nvPr/>
        </p:nvSpPr>
        <p:spPr>
          <a:xfrm>
            <a:off x="10084313" y="2776210"/>
            <a:ext cx="3369512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4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Graphik"/>
                <a:ea typeface="Graphik"/>
                <a:cs typeface="Graphik"/>
                <a:sym typeface="Graphik"/>
              </a:rPr>
              <a:t>Fault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9858633F-D423-1E40-A5DF-5D44788B09BC}"/>
              </a:ext>
            </a:extLst>
          </p:cNvPr>
          <p:cNvSpPr>
            <a:spLocks noGrp="1"/>
          </p:cNvSpPr>
          <p:nvPr/>
        </p:nvSpPr>
        <p:spPr bwMode="auto">
          <a:xfrm>
            <a:off x="16211451" y="5471738"/>
            <a:ext cx="7926710" cy="2710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>
              <a:buNone/>
            </a:pPr>
            <a:r>
              <a:rPr lang="en-US" sz="3600" u="sng" dirty="0" err="1">
                <a:cs typeface="Segoe UI"/>
              </a:rPr>
              <a:t>Confronto</a:t>
            </a:r>
            <a:r>
              <a:rPr lang="en-US" sz="3600" dirty="0">
                <a:cs typeface="Segoe UI"/>
              </a:rPr>
              <a:t>:</a:t>
            </a:r>
          </a:p>
          <a:p>
            <a:pPr>
              <a:buNone/>
            </a:pP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posizione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misurata</a:t>
            </a:r>
            <a:r>
              <a:rPr lang="en-US" sz="3600" dirty="0">
                <a:cs typeface="Segoe UI"/>
              </a:rPr>
              <a:t> vs </a:t>
            </a:r>
            <a:r>
              <a:rPr lang="en-US" sz="3600" dirty="0" err="1">
                <a:cs typeface="Segoe UI"/>
              </a:rPr>
              <a:t>posizione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stimata</a:t>
            </a:r>
            <a:r>
              <a:rPr lang="en-US" sz="3600" dirty="0">
                <a:cs typeface="Segoe UI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0840188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3FCA3-BE63-6394-8C41-DA44533A7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94A3F348-E1D6-A0CC-9748-48534F4113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Confronto Fault-Free vs Fault: FD3 (Asse X)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4BDEFF0-82D2-F4F2-7D11-71AE47874E5F}"/>
              </a:ext>
            </a:extLst>
          </p:cNvPr>
          <p:cNvSpPr txBox="1"/>
          <p:nvPr/>
        </p:nvSpPr>
        <p:spPr>
          <a:xfrm>
            <a:off x="1812088" y="2193782"/>
            <a:ext cx="2075080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FD3 — Rilevamento guasto GPS asse X</a:t>
            </a:r>
          </a:p>
          <a:p>
            <a:pPr algn="ctr"/>
            <a:endParaRPr lang="it-IT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4593C488-3ECA-80DA-596B-8AF51A2A959F}"/>
              </a:ext>
            </a:extLst>
          </p:cNvPr>
          <p:cNvSpPr>
            <a:spLocks noGrp="1"/>
          </p:cNvSpPr>
          <p:nvPr/>
        </p:nvSpPr>
        <p:spPr bwMode="auto">
          <a:xfrm>
            <a:off x="17038505" y="4761097"/>
            <a:ext cx="6382565" cy="2445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>
            <a:lvl1pPr marL="5588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marL="11176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marL="16764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marL="22352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marL="2794000" indent="-558800" algn="l" defTabSz="2438400" rtl="0" eaLnBrk="0" fontAlgn="base" hangingPunct="0">
              <a:spcBef>
                <a:spcPts val="2400"/>
              </a:spcBef>
              <a:spcAft>
                <a:spcPct val="0"/>
              </a:spcAft>
              <a:buClr>
                <a:srgbClr val="000000"/>
              </a:buClr>
              <a:buSzPct val="100000"/>
              <a:buChar char="•"/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33528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6pPr>
            <a:lvl7pPr marL="39116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7pPr>
            <a:lvl8pPr marL="44704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8pPr>
            <a:lvl9pPr marL="5029200" marR="0" indent="-558800" algn="l" defTabSz="24384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>
              <a:buNone/>
            </a:pPr>
            <a:r>
              <a:rPr lang="en-US" sz="3600" dirty="0" err="1">
                <a:cs typeface="Segoe UI"/>
              </a:rPr>
              <a:t>Iniezione</a:t>
            </a:r>
            <a:r>
              <a:rPr lang="en-US" sz="3600" dirty="0">
                <a:cs typeface="Segoe UI"/>
              </a:rPr>
              <a:t> di un </a:t>
            </a:r>
            <a:r>
              <a:rPr lang="en-US" sz="3600" dirty="0" err="1">
                <a:cs typeface="Segoe UI"/>
              </a:rPr>
              <a:t>guasto</a:t>
            </a:r>
            <a:r>
              <a:rPr lang="en-US" sz="3600" dirty="0">
                <a:cs typeface="Segoe UI"/>
              </a:rPr>
              <a:t> a rampa </a:t>
            </a:r>
            <a:r>
              <a:rPr lang="en-US" sz="3600" dirty="0" err="1">
                <a:cs typeface="Segoe UI"/>
              </a:rPr>
              <a:t>sul</a:t>
            </a:r>
            <a:r>
              <a:rPr lang="en-US" sz="3600" dirty="0">
                <a:cs typeface="Segoe UI"/>
              </a:rPr>
              <a:t> </a:t>
            </a:r>
            <a:r>
              <a:rPr lang="en-US" sz="3600" dirty="0" err="1">
                <a:cs typeface="Segoe UI"/>
              </a:rPr>
              <a:t>sensore</a:t>
            </a:r>
            <a:r>
              <a:rPr lang="en-US" sz="3600" dirty="0">
                <a:cs typeface="Segoe UI"/>
              </a:rPr>
              <a:t> GPS asse X a </a:t>
            </a:r>
            <a:r>
              <a:rPr lang="en-US" sz="3600" dirty="0" err="1">
                <a:cs typeface="Segoe UI"/>
              </a:rPr>
              <a:t>partire</a:t>
            </a:r>
            <a:r>
              <a:rPr lang="en-US" sz="3600" dirty="0">
                <a:cs typeface="Segoe UI"/>
              </a:rPr>
              <a:t> da t=20s, con </a:t>
            </a:r>
            <a:r>
              <a:rPr lang="en-US" sz="3600" dirty="0" err="1">
                <a:cs typeface="Segoe UI"/>
              </a:rPr>
              <a:t>rientro</a:t>
            </a:r>
            <a:r>
              <a:rPr lang="en-US" sz="3600" dirty="0">
                <a:cs typeface="Segoe UI"/>
              </a:rPr>
              <a:t> del </a:t>
            </a:r>
            <a:r>
              <a:rPr lang="en-US" sz="3600" dirty="0" err="1">
                <a:cs typeface="Segoe UI"/>
              </a:rPr>
              <a:t>guasto</a:t>
            </a:r>
            <a:r>
              <a:rPr lang="en-US" sz="3600" dirty="0">
                <a:cs typeface="Segoe UI"/>
              </a:rPr>
              <a:t> verso t=270s.</a:t>
            </a:r>
            <a:endParaRPr lang="it-IT" dirty="0"/>
          </a:p>
          <a:p>
            <a:pPr>
              <a:buNone/>
            </a:pPr>
            <a:endParaRPr lang="it-IT" dirty="0"/>
          </a:p>
        </p:txBody>
      </p:sp>
      <p:pic>
        <p:nvPicPr>
          <p:cNvPr id="4" name="Immagine 3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E056A421-A4B0-EC65-039E-58B357A6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40" y="3347659"/>
            <a:ext cx="16129162" cy="973739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57D14C2-1B8D-5EA4-907D-C275829DD21A}"/>
              </a:ext>
            </a:extLst>
          </p:cNvPr>
          <p:cNvSpPr txBox="1"/>
          <p:nvPr/>
        </p:nvSpPr>
        <p:spPr>
          <a:xfrm>
            <a:off x="16808753" y="9633471"/>
            <a:ext cx="6842068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3600" dirty="0">
                <a:cs typeface="Arial"/>
              </a:rPr>
              <a:t>Crescita esponenziale che si satura a ~0.4 m (dinamica del filtro complementare con </a:t>
            </a:r>
            <a:r>
              <a:rPr lang="it-IT" sz="3600" dirty="0" err="1">
                <a:cs typeface="Arial"/>
              </a:rPr>
              <a:t>K_comp</a:t>
            </a:r>
            <a:r>
              <a:rPr lang="it-IT" sz="3600" dirty="0">
                <a:cs typeface="Arial"/>
              </a:rPr>
              <a:t>=0.05), poi rientro esponenziale dopo la fine del guasto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262517280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C69FC-4E8A-3A50-513A-36F467BA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diagramma, schermat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20040A2B-2DD1-C7F0-ECEF-7C308722A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42" y="5569226"/>
            <a:ext cx="15982808" cy="7749906"/>
          </a:xfrm>
          <a:prstGeom prst="rect">
            <a:avLst/>
          </a:prstGeom>
        </p:spPr>
      </p:pic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D410B8D7-21B1-D716-19E1-F8FD3CD0BC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dirty="0">
                <a:ea typeface="+mn-lt"/>
                <a:cs typeface="+mn-lt"/>
              </a:rPr>
              <a:t>Architettura Blocco </a:t>
            </a:r>
            <a:r>
              <a:rPr lang="it-IT" b="1" dirty="0" err="1">
                <a:ea typeface="+mn-lt"/>
                <a:cs typeface="+mn-lt"/>
              </a:rPr>
              <a:t>Evaluator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D9F4A6-8E5E-C9D2-0BB1-B948E2A90A54}"/>
              </a:ext>
            </a:extLst>
          </p:cNvPr>
          <p:cNvSpPr txBox="1"/>
          <p:nvPr/>
        </p:nvSpPr>
        <p:spPr>
          <a:xfrm>
            <a:off x="1812088" y="2196455"/>
            <a:ext cx="20750804" cy="30572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dirty="0"/>
              <a:t>Logica di valutazione e </a:t>
            </a:r>
            <a:r>
              <a:rPr lang="it-IT" dirty="0" err="1"/>
              <a:t>debouncing</a:t>
            </a:r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8AF8D6D-C35A-2517-85B4-9D82F1B24634}"/>
              </a:ext>
            </a:extLst>
          </p:cNvPr>
          <p:cNvSpPr txBox="1"/>
          <p:nvPr/>
        </p:nvSpPr>
        <p:spPr>
          <a:xfrm>
            <a:off x="914542" y="2698615"/>
            <a:ext cx="6350133" cy="26263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2400"/>
              </a:spcBef>
              <a:spcAft>
                <a:spcPts val="0"/>
              </a:spcAft>
            </a:pPr>
            <a:r>
              <a:rPr lang="it-IT" sz="3600" dirty="0"/>
              <a:t>Il blocco </a:t>
            </a:r>
            <a:r>
              <a:rPr lang="it-IT" sz="3600" b="1" dirty="0" err="1"/>
              <a:t>Evaluator</a:t>
            </a:r>
            <a:r>
              <a:rPr lang="it-IT" sz="3600" dirty="0"/>
              <a:t> trasforma i tre residui vettoriali in un segnale di allarme binario robusto ai falsi positivi.</a:t>
            </a:r>
          </a:p>
        </p:txBody>
      </p:sp>
      <p:pic>
        <p:nvPicPr>
          <p:cNvPr id="4" name="Immagine 3" descr="Immagine che contiene testo, Carattere, bianco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B3BABF21-C6EB-AD60-57AA-EF80020B2C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49" t="31145" r="15247" b="26273"/>
          <a:stretch>
            <a:fillRect/>
          </a:stretch>
        </p:blipFill>
        <p:spPr>
          <a:xfrm>
            <a:off x="15868649" y="4389608"/>
            <a:ext cx="4267200" cy="120677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232BA08-18C6-FF31-23B8-42AA0F1BE606}"/>
              </a:ext>
            </a:extLst>
          </p:cNvPr>
          <p:cNvSpPr txBox="1"/>
          <p:nvPr/>
        </p:nvSpPr>
        <p:spPr>
          <a:xfrm>
            <a:off x="16030938" y="3725078"/>
            <a:ext cx="725805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4000" dirty="0">
                <a:cs typeface="Arial"/>
              </a:rPr>
              <a:t>Regola statistica del 3-Sigma</a:t>
            </a:r>
            <a:endParaRPr lang="it-IT" sz="4000" dirty="0"/>
          </a:p>
        </p:txBody>
      </p:sp>
      <p:cxnSp>
        <p:nvCxnSpPr>
          <p:cNvPr id="12" name="Connettore a gomito 11">
            <a:extLst>
              <a:ext uri="{FF2B5EF4-FFF2-40B4-BE49-F238E27FC236}">
                <a16:creationId xmlns:a16="http://schemas.microsoft.com/office/drawing/2014/main" id="{94B6E10D-EFAD-DBDE-B0FF-5D22D812A048}"/>
              </a:ext>
            </a:extLst>
          </p:cNvPr>
          <p:cNvCxnSpPr>
            <a:cxnSpLocks/>
            <a:stCxn id="18" idx="0"/>
          </p:cNvCxnSpPr>
          <p:nvPr/>
        </p:nvCxnSpPr>
        <p:spPr>
          <a:xfrm rot="5400000" flipH="1" flipV="1">
            <a:off x="11118072" y="818649"/>
            <a:ext cx="576230" cy="8924924"/>
          </a:xfrm>
          <a:prstGeom prst="bentConnector2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997AA10A-755E-C096-4D67-E5847E20C743}"/>
              </a:ext>
            </a:extLst>
          </p:cNvPr>
          <p:cNvSpPr/>
          <p:nvPr/>
        </p:nvSpPr>
        <p:spPr>
          <a:xfrm>
            <a:off x="6248400" y="5569226"/>
            <a:ext cx="1390650" cy="1498324"/>
          </a:xfrm>
          <a:prstGeom prst="ellipse">
            <a:avLst/>
          </a:prstGeom>
          <a:noFill/>
          <a:ln w="12700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23EEC50-3779-53F7-4CBE-E184878EC25B}"/>
              </a:ext>
            </a:extLst>
          </p:cNvPr>
          <p:cNvSpPr txBox="1"/>
          <p:nvPr/>
        </p:nvSpPr>
        <p:spPr>
          <a:xfrm>
            <a:off x="16059150" y="6169582"/>
            <a:ext cx="8324850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it-IT" sz="4000" dirty="0">
                <a:cs typeface="Arial"/>
              </a:rPr>
              <a:t>conferma l'allarme solo se il superamento di soglia persiste per </a:t>
            </a:r>
            <a:r>
              <a:rPr lang="it-IT" sz="4000" dirty="0" err="1">
                <a:latin typeface="Consolas"/>
                <a:cs typeface="Arial"/>
              </a:rPr>
              <a:t>T_debounce</a:t>
            </a:r>
            <a:r>
              <a:rPr lang="it-IT" sz="4000" dirty="0">
                <a:latin typeface="Consolas"/>
                <a:cs typeface="Arial"/>
              </a:rPr>
              <a:t> </a:t>
            </a:r>
            <a:r>
              <a:rPr lang="it-IT" sz="4000" dirty="0">
                <a:cs typeface="Arial"/>
              </a:rPr>
              <a:t>secondi consecutivi (</a:t>
            </a:r>
            <a:r>
              <a:rPr lang="it-IT" sz="4000" dirty="0" err="1">
                <a:cs typeface="Arial"/>
              </a:rPr>
              <a:t>T_debounce</a:t>
            </a:r>
            <a:r>
              <a:rPr lang="it-IT" sz="4000" dirty="0">
                <a:cs typeface="Arial"/>
              </a:rPr>
              <a:t> = 1 s)</a:t>
            </a:r>
            <a:endParaRPr lang="it-IT" sz="4000" dirty="0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C59EA34E-A2ED-24C0-2061-251557FA67FE}"/>
              </a:ext>
            </a:extLst>
          </p:cNvPr>
          <p:cNvCxnSpPr>
            <a:cxnSpLocks/>
          </p:cNvCxnSpPr>
          <p:nvPr/>
        </p:nvCxnSpPr>
        <p:spPr>
          <a:xfrm>
            <a:off x="13068300" y="6591300"/>
            <a:ext cx="2800349" cy="0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Ovale 24">
            <a:extLst>
              <a:ext uri="{FF2B5EF4-FFF2-40B4-BE49-F238E27FC236}">
                <a16:creationId xmlns:a16="http://schemas.microsoft.com/office/drawing/2014/main" id="{21DF7880-0738-144A-34DC-78216A9D22AE}"/>
              </a:ext>
            </a:extLst>
          </p:cNvPr>
          <p:cNvSpPr/>
          <p:nvPr/>
        </p:nvSpPr>
        <p:spPr>
          <a:xfrm>
            <a:off x="8934450" y="5596384"/>
            <a:ext cx="4133850" cy="2453859"/>
          </a:xfrm>
          <a:prstGeom prst="ellipse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Graphik Medium"/>
              <a:ea typeface="Graphik Medium"/>
              <a:cs typeface="Graphik Medium"/>
              <a:sym typeface="Graphik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5525971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0CE9F-48B5-2AC7-A3D7-A7B6CDA5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F81D0F30-A1C6-9D3D-E2CF-88FEF9197C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Allarmi in condizioni Fault-Free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64E7AA2-6BCA-B3BB-D175-290D28532C55}"/>
              </a:ext>
            </a:extLst>
          </p:cNvPr>
          <p:cNvSpPr txBox="1"/>
          <p:nvPr/>
        </p:nvSpPr>
        <p:spPr>
          <a:xfrm>
            <a:off x="1812088" y="2193781"/>
            <a:ext cx="2075080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Validazione robustezza — Assenza di allarmi spuri in fault-free</a:t>
            </a:r>
          </a:p>
          <a:p>
            <a:pPr algn="ctr"/>
            <a:endParaRPr lang="it-IT"/>
          </a:p>
        </p:txBody>
      </p:sp>
      <p:pic>
        <p:nvPicPr>
          <p:cNvPr id="4" name="Immagine 3" descr="Immagine che contiene schermata, testo&#10;&#10;Il contenuto generato dall&amp;#39;IA potrebbe non essere corretto.">
            <a:extLst>
              <a:ext uri="{FF2B5EF4-FFF2-40B4-BE49-F238E27FC236}">
                <a16:creationId xmlns:a16="http://schemas.microsoft.com/office/drawing/2014/main" id="{E3D85D3D-15EB-EA7F-C70C-4F215BF3E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55" y="4019459"/>
            <a:ext cx="14524267" cy="70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4747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4053B-0101-E17D-8928-C4A458151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EC46C009-A7E1-0945-3545-46E0F94CA4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Allarme su Guasto Motore (FD2 - Step su F1)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0B5DCC0-8100-656E-9389-E73E861B47DD}"/>
              </a:ext>
            </a:extLst>
          </p:cNvPr>
          <p:cNvSpPr txBox="1"/>
          <p:nvPr/>
        </p:nvSpPr>
        <p:spPr>
          <a:xfrm>
            <a:off x="1812088" y="2193781"/>
            <a:ext cx="2075080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dirty="0"/>
              <a:t>FD2 — Rilevamento guasto motore </a:t>
            </a:r>
          </a:p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8648BC2-E932-AEDD-043A-165848A3B51A}"/>
              </a:ext>
            </a:extLst>
          </p:cNvPr>
          <p:cNvSpPr txBox="1"/>
          <p:nvPr/>
        </p:nvSpPr>
        <p:spPr>
          <a:xfrm>
            <a:off x="4989367" y="3234581"/>
            <a:ext cx="13584383" cy="1703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/>
              <a:t>Iniezione di un guasto a step sul motore 1 (perdita di spinta) a t ≈ 20s.</a:t>
            </a:r>
            <a:endParaRPr lang="it-IT" dirty="0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5E67D53-F33A-306B-7EA2-E8E2059EF3D9}"/>
              </a:ext>
            </a:extLst>
          </p:cNvPr>
          <p:cNvSpPr txBox="1"/>
          <p:nvPr/>
        </p:nvSpPr>
        <p:spPr>
          <a:xfrm>
            <a:off x="14118868" y="5066269"/>
            <a:ext cx="10015490" cy="55194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b="1" dirty="0">
                <a:latin typeface="Segoe UI"/>
                <a:cs typeface="Segoe UI"/>
              </a:rPr>
              <a:t>Analisi temporale:</a:t>
            </a:r>
            <a:endParaRPr lang="it-IT" sz="3200" dirty="0">
              <a:latin typeface="Segoe UI"/>
              <a:cs typeface="Segoe UI"/>
            </a:endParaRPr>
          </a:p>
          <a:p>
            <a:pPr lvl="1">
              <a:buFont typeface="Arial"/>
              <a:buChar char="•"/>
            </a:pPr>
            <a:r>
              <a:rPr lang="it-IT" sz="3200" b="1" dirty="0">
                <a:latin typeface="Segoe UI"/>
                <a:cs typeface="Segoe UI"/>
              </a:rPr>
              <a:t>t ∈ [0, 20s):</a:t>
            </a:r>
            <a:r>
              <a:rPr lang="it-IT" sz="3200" dirty="0">
                <a:latin typeface="Segoe UI"/>
                <a:cs typeface="Segoe UI"/>
              </a:rPr>
              <a:t> tutti gli allarmi a 0 (fault-free)</a:t>
            </a:r>
          </a:p>
          <a:p>
            <a:pPr lvl="1">
              <a:buFont typeface="Arial"/>
              <a:buChar char="•"/>
            </a:pPr>
            <a:r>
              <a:rPr lang="it-IT" sz="3200" b="1" dirty="0">
                <a:latin typeface="Segoe UI"/>
                <a:cs typeface="Segoe UI"/>
              </a:rPr>
              <a:t>t ≈ 20s:</a:t>
            </a:r>
            <a:r>
              <a:rPr lang="it-IT" sz="3200" dirty="0">
                <a:latin typeface="Segoe UI"/>
                <a:cs typeface="Segoe UI"/>
              </a:rPr>
              <a:t> </a:t>
            </a:r>
            <a:r>
              <a:rPr lang="it-IT" sz="3200" b="1" dirty="0" err="1">
                <a:latin typeface="Segoe UI"/>
                <a:cs typeface="Segoe UI"/>
              </a:rPr>
              <a:t>Evaluator</a:t>
            </a:r>
            <a:r>
              <a:rPr lang="it-IT" sz="3200" b="1" dirty="0">
                <a:latin typeface="Segoe UI"/>
                <a:cs typeface="Segoe UI"/>
              </a:rPr>
              <a:t> 1 — FD1 giroscopio (giallo)</a:t>
            </a:r>
            <a:r>
              <a:rPr lang="it-IT" sz="3200" dirty="0">
                <a:latin typeface="Segoe UI"/>
                <a:cs typeface="Segoe UI"/>
              </a:rPr>
              <a:t> scatta per primo e rimane alto fino a t≈80s</a:t>
            </a:r>
          </a:p>
          <a:p>
            <a:pPr lvl="1">
              <a:buFont typeface="Arial"/>
              <a:buChar char="•"/>
            </a:pPr>
            <a:r>
              <a:rPr lang="it-IT" sz="3200" b="1" dirty="0">
                <a:latin typeface="Segoe UI"/>
                <a:cs typeface="Segoe UI"/>
              </a:rPr>
              <a:t>t ≈ 95s:</a:t>
            </a:r>
            <a:r>
              <a:rPr lang="it-IT" sz="3200" dirty="0">
                <a:latin typeface="Segoe UI"/>
                <a:cs typeface="Segoe UI"/>
              </a:rPr>
              <a:t> </a:t>
            </a:r>
            <a:r>
              <a:rPr lang="it-IT" sz="3200" b="1" dirty="0" err="1">
                <a:latin typeface="Segoe UI"/>
                <a:cs typeface="Segoe UI"/>
              </a:rPr>
              <a:t>Evaluator</a:t>
            </a:r>
            <a:r>
              <a:rPr lang="it-IT" sz="3200" b="1" dirty="0">
                <a:latin typeface="Segoe UI"/>
                <a:cs typeface="Segoe UI"/>
              </a:rPr>
              <a:t> 3 — FD2 attuatori (arancione)</a:t>
            </a:r>
            <a:r>
              <a:rPr lang="it-IT" sz="3200" dirty="0">
                <a:latin typeface="Segoe UI"/>
                <a:cs typeface="Segoe UI"/>
              </a:rPr>
              <a:t> si attiva brevemente (~5s), poi rientra</a:t>
            </a:r>
          </a:p>
          <a:p>
            <a:pPr lvl="1">
              <a:buFont typeface="Arial"/>
              <a:buChar char="•"/>
            </a:pPr>
            <a:r>
              <a:rPr lang="it-IT" sz="3200" b="1" dirty="0">
                <a:latin typeface="Segoe UI"/>
                <a:cs typeface="Segoe UI"/>
              </a:rPr>
              <a:t>t ∈ [150s, 300s]:</a:t>
            </a:r>
            <a:r>
              <a:rPr lang="it-IT" sz="3200" dirty="0">
                <a:latin typeface="Segoe UI"/>
                <a:cs typeface="Segoe UI"/>
              </a:rPr>
              <a:t> entrambi i canali FD1 e FD2 si attivano con pattern intermittente ad alta frequenza, sempre più frequente verso la fine della simulazione</a:t>
            </a:r>
          </a:p>
          <a:p>
            <a:pPr marL="285750" indent="-285750">
              <a:buFont typeface="Arial"/>
              <a:buChar char="•"/>
            </a:pPr>
            <a:r>
              <a:rPr lang="it-IT" sz="3200" b="1" dirty="0" err="1">
                <a:latin typeface="Segoe UI"/>
                <a:cs typeface="Segoe UI"/>
              </a:rPr>
              <a:t>Evaluator</a:t>
            </a:r>
            <a:r>
              <a:rPr lang="it-IT" sz="3200" b="1" dirty="0">
                <a:latin typeface="Segoe UI"/>
                <a:cs typeface="Segoe UI"/>
              </a:rPr>
              <a:t> 2 — FD3 GPS (blu):</a:t>
            </a:r>
            <a:r>
              <a:rPr lang="it-IT" sz="3200" dirty="0">
                <a:latin typeface="Segoe UI"/>
                <a:cs typeface="Segoe UI"/>
              </a:rPr>
              <a:t> resta a 0 per tutta la durata </a:t>
            </a:r>
          </a:p>
        </p:txBody>
      </p:sp>
      <p:pic>
        <p:nvPicPr>
          <p:cNvPr id="2" name="Immagine 1" descr="Immagine che contiene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678BAA97-C943-F088-E4EE-C02C7E82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17" y="4336298"/>
            <a:ext cx="13188951" cy="718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4126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35EF-FA11-D8E2-C878-692139D8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DBB1C6A8-1196-4BF1-2C3C-0DAA06A14B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Allarme su Guasto Giroscopico Roll (FD1 – Rampa)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0CF705B-19A2-1487-B453-C7F224529A56}"/>
              </a:ext>
            </a:extLst>
          </p:cNvPr>
          <p:cNvSpPr txBox="1"/>
          <p:nvPr/>
        </p:nvSpPr>
        <p:spPr>
          <a:xfrm>
            <a:off x="1812088" y="2185942"/>
            <a:ext cx="2075080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dirty="0"/>
              <a:t>FD1 — Rilevamento guasto sensore giroscopio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49DEB34-B3C5-33D8-6252-6860CDE75952}"/>
              </a:ext>
            </a:extLst>
          </p:cNvPr>
          <p:cNvSpPr txBox="1"/>
          <p:nvPr/>
        </p:nvSpPr>
        <p:spPr>
          <a:xfrm>
            <a:off x="5101888" y="3032785"/>
            <a:ext cx="17461004" cy="2441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/>
              <a:t>Iniezione di un guasto a rampa sul sensore giroscopico Roll a t ≈ 20s.</a:t>
            </a:r>
            <a:endParaRPr lang="it-IT" dirty="0"/>
          </a:p>
          <a:p>
            <a:endParaRPr lang="it-IT" dirty="0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6D92167-DAB2-9799-AE20-55C61E6096DD}"/>
              </a:ext>
            </a:extLst>
          </p:cNvPr>
          <p:cNvSpPr txBox="1"/>
          <p:nvPr/>
        </p:nvSpPr>
        <p:spPr>
          <a:xfrm>
            <a:off x="1017268" y="9966311"/>
            <a:ext cx="22783874" cy="24416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b="1" dirty="0"/>
              <a:t>Analisi temporale: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4000" b="1" dirty="0"/>
              <a:t>t ≈ 240s:</a:t>
            </a:r>
            <a:r>
              <a:rPr lang="it-IT" sz="4000" dirty="0"/>
              <a:t> </a:t>
            </a:r>
            <a:r>
              <a:rPr lang="it-IT" sz="4000" b="1" dirty="0" err="1">
                <a:latin typeface="+mn-lt"/>
                <a:cs typeface="Segoe UI"/>
              </a:rPr>
              <a:t>Evaluator</a:t>
            </a:r>
            <a:r>
              <a:rPr lang="it-IT" sz="4000" b="1" dirty="0">
                <a:latin typeface="+mn-lt"/>
                <a:cs typeface="Segoe UI"/>
              </a:rPr>
              <a:t> 3 — FD2 attuatori</a:t>
            </a:r>
            <a:r>
              <a:rPr lang="it-IT" sz="4000" dirty="0">
                <a:latin typeface="+mn-lt"/>
              </a:rPr>
              <a:t> </a:t>
            </a:r>
            <a:r>
              <a:rPr lang="it-IT" sz="4000" dirty="0"/>
              <a:t>si attiva per la prima volta (forte ritardo)</a:t>
            </a:r>
          </a:p>
          <a:p>
            <a:pPr marL="285750" indent="-285750">
              <a:buFont typeface="Arial"/>
              <a:buChar char="•"/>
            </a:pPr>
            <a:r>
              <a:rPr lang="it-IT" sz="4000" b="1" dirty="0"/>
              <a:t>t ∈ [240s, 300s]:</a:t>
            </a:r>
            <a:r>
              <a:rPr lang="it-IT" sz="4000" dirty="0"/>
              <a:t> allarme FD3 = 1 in modo persistente</a:t>
            </a:r>
          </a:p>
          <a:p>
            <a:endParaRPr lang="it-IT" sz="3600" b="1" i="0" u="none" strike="noStrike" cap="none" spc="0" normalizeH="0" baseline="0" dirty="0">
              <a:ln>
                <a:noFill/>
              </a:ln>
              <a:effectLst/>
              <a:uFillTx/>
              <a:latin typeface="Graphik"/>
              <a:ea typeface="Graphik"/>
              <a:cs typeface="Graphik"/>
            </a:endParaRPr>
          </a:p>
        </p:txBody>
      </p:sp>
      <p:pic>
        <p:nvPicPr>
          <p:cNvPr id="4" name="Immagine 3" descr="Immagine che contiene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53B4613B-BBF5-6AFB-45D9-2D3FDD9EC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68" y="4391264"/>
            <a:ext cx="18490881" cy="493347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E9C93C6-7D0B-A7CE-BAF8-0C8DC9668F1C}"/>
              </a:ext>
            </a:extLst>
          </p:cNvPr>
          <p:cNvSpPr txBox="1"/>
          <p:nvPr/>
        </p:nvSpPr>
        <p:spPr>
          <a:xfrm>
            <a:off x="1017268" y="11900548"/>
            <a:ext cx="15220950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fontAlgn="auto">
              <a:spcBef>
                <a:spcPts val="2400"/>
              </a:spcBef>
              <a:spcAft>
                <a:spcPts val="0"/>
              </a:spcAft>
            </a:pPr>
            <a:r>
              <a:rPr lang="it-IT" b="1" dirty="0" err="1">
                <a:cs typeface="Segoe UI"/>
              </a:rPr>
              <a:t>Evaluator</a:t>
            </a:r>
            <a:r>
              <a:rPr lang="it-IT" b="1" dirty="0">
                <a:cs typeface="Segoe UI"/>
              </a:rPr>
              <a:t> 1 — FD1 </a:t>
            </a:r>
            <a:r>
              <a:rPr lang="it-IT" dirty="0">
                <a:cs typeface="Segoe UI"/>
              </a:rPr>
              <a:t>non rileva correttamente il guasto </a:t>
            </a:r>
            <a:endParaRPr kumimoji="0" lang="it-IT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"/>
              <a:ea typeface="Graphik"/>
              <a:cs typeface="Graphik"/>
              <a:sym typeface="Graphik"/>
            </a:endParaRPr>
          </a:p>
        </p:txBody>
      </p:sp>
    </p:spTree>
    <p:extLst>
      <p:ext uri="{BB962C8B-B14F-4D97-AF65-F5344CB8AC3E}">
        <p14:creationId xmlns:p14="http://schemas.microsoft.com/office/powerpoint/2010/main" val="197943930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B8EA-C417-DAB9-8AD9-B6C5D6F1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DC954994-C6B5-B06C-1685-D424F0C39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Allarme su Guasto GPS Asse X (FD3 – Rampa)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A6FE174-F85E-84FA-5D40-C20D5A5F8288}"/>
              </a:ext>
            </a:extLst>
          </p:cNvPr>
          <p:cNvSpPr txBox="1"/>
          <p:nvPr/>
        </p:nvSpPr>
        <p:spPr>
          <a:xfrm>
            <a:off x="1812088" y="2193782"/>
            <a:ext cx="2075080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dirty="0"/>
              <a:t>FD3 — Rilevamento guasto sensore GPS </a:t>
            </a:r>
          </a:p>
          <a:p>
            <a:pPr algn="ctr"/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E7A9F65-8BB4-4A6D-828D-1F1953B645B6}"/>
              </a:ext>
            </a:extLst>
          </p:cNvPr>
          <p:cNvSpPr txBox="1"/>
          <p:nvPr/>
        </p:nvSpPr>
        <p:spPr>
          <a:xfrm>
            <a:off x="2306098" y="3415854"/>
            <a:ext cx="19087051" cy="31803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/>
              <a:t>Iniezione di un guasto a rampa sul sensore GPS asse X a t ≈ 40s, con rientro del guasto a t ≈ 260s.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pPr>
              <a:spcBef>
                <a:spcPts val="2400"/>
              </a:spcBef>
              <a:spcAft>
                <a:spcPts val="0"/>
              </a:spcAft>
            </a:pP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A580BF8-F6AF-CFF5-B2ED-51080F2041D6}"/>
              </a:ext>
            </a:extLst>
          </p:cNvPr>
          <p:cNvSpPr txBox="1"/>
          <p:nvPr/>
        </p:nvSpPr>
        <p:spPr>
          <a:xfrm>
            <a:off x="13452679" y="5010163"/>
            <a:ext cx="10409516" cy="56425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b="1" dirty="0"/>
              <a:t>Analisi temporale: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3600" b="1" dirty="0"/>
              <a:t>t ∈ [0, 40s):</a:t>
            </a:r>
            <a:r>
              <a:rPr lang="it-IT" sz="3600" dirty="0"/>
              <a:t> FD3 (</a:t>
            </a:r>
            <a:r>
              <a:rPr lang="it-IT" sz="3600" dirty="0" err="1"/>
              <a:t>Evaluator</a:t>
            </a:r>
            <a:r>
              <a:rPr lang="it-IT" sz="3600" dirty="0"/>
              <a:t> 3, linea blu) = 0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3600" b="1" dirty="0"/>
              <a:t>t ≈ 40s:</a:t>
            </a:r>
            <a:r>
              <a:rPr lang="it-IT" sz="3600" dirty="0"/>
              <a:t> FD3 </a:t>
            </a:r>
            <a:r>
              <a:rPr lang="it-IT" sz="3600" b="1" dirty="0"/>
              <a:t>scatta rapidamente</a:t>
            </a:r>
            <a:r>
              <a:rPr lang="it-IT" sz="3600" dirty="0"/>
              <a:t> (latenza ~10-20 secondi) → allarme = 1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3600" b="1" dirty="0"/>
              <a:t>t ∈ [40s, 260s]:</a:t>
            </a:r>
            <a:r>
              <a:rPr lang="it-IT" sz="3600" dirty="0"/>
              <a:t> FD3 rimane attivo in modo persistente 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3600" b="1" dirty="0"/>
              <a:t>t ≈ 260s:</a:t>
            </a:r>
            <a:r>
              <a:rPr lang="it-IT" sz="3600" dirty="0"/>
              <a:t> il guasto rientra (fine della rampa) → </a:t>
            </a:r>
            <a:r>
              <a:rPr lang="it-IT" sz="3600" b="1" dirty="0"/>
              <a:t>FD3 si disattiva immediatamente</a:t>
            </a:r>
            <a:r>
              <a:rPr lang="it-IT" sz="3600" dirty="0"/>
              <a:t> (latenza ~5 secondi)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3600" b="1" dirty="0"/>
              <a:t>t ∈ [260s, 300s]:</a:t>
            </a:r>
            <a:r>
              <a:rPr lang="it-IT" sz="3600" dirty="0"/>
              <a:t> FD3 = 0</a:t>
            </a:r>
            <a:endParaRPr lang="it-IT" dirty="0"/>
          </a:p>
          <a:p>
            <a:endParaRPr lang="it-IT" sz="3600" b="1" i="0" u="none" strike="noStrike" cap="none" spc="0" normalizeH="0" baseline="0" dirty="0">
              <a:ln>
                <a:noFill/>
              </a:ln>
              <a:effectLst/>
              <a:uFillTx/>
              <a:latin typeface="Graphik"/>
              <a:ea typeface="Graphik"/>
              <a:cs typeface="Graphik"/>
            </a:endParaRPr>
          </a:p>
        </p:txBody>
      </p:sp>
      <p:pic>
        <p:nvPicPr>
          <p:cNvPr id="2" name="Immagine 1" descr="Immagine che contiene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104C31AC-DF4A-C40F-81EE-FD98B8B42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5" y="5010163"/>
            <a:ext cx="12746079" cy="613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8264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A7E5F-9D9A-65B2-1554-8731FB54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185FC4B6-436F-528F-EFB0-19597BBBC9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21" y="630316"/>
            <a:ext cx="23895537" cy="1557337"/>
          </a:xfrm>
        </p:spPr>
        <p:txBody>
          <a:bodyPr>
            <a:normAutofit/>
          </a:bodyPr>
          <a:lstStyle>
            <a:lvl1pPr>
              <a:defRPr sz="7000" spc="-209"/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>
                <a:ea typeface="+mn-lt"/>
                <a:cs typeface="+mn-lt"/>
              </a:rPr>
              <a:t>Allarmi su Guasti Multipli (Roll + Pich + Yaw - Rampe)</a:t>
            </a:r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5655E85-0DDF-840F-B7FE-8316D9D938FD}"/>
              </a:ext>
            </a:extLst>
          </p:cNvPr>
          <p:cNvSpPr txBox="1"/>
          <p:nvPr/>
        </p:nvSpPr>
        <p:spPr>
          <a:xfrm>
            <a:off x="1812088" y="2193782"/>
            <a:ext cx="20750804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Robustezza multi-fault — Tre guasti simultanei su giroscopio</a:t>
            </a:r>
          </a:p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F5152E7-85F8-36B3-CC38-9B1A2231C75F}"/>
              </a:ext>
            </a:extLst>
          </p:cNvPr>
          <p:cNvSpPr txBox="1"/>
          <p:nvPr/>
        </p:nvSpPr>
        <p:spPr>
          <a:xfrm>
            <a:off x="3249264" y="3159614"/>
            <a:ext cx="17362836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dirty="0"/>
              <a:t>Iniezione simultanea di tre guasti a rampa su tutti gli assi giroscopici (Roll, Pitch, Yaw) </a:t>
            </a:r>
          </a:p>
          <a:p>
            <a:r>
              <a:rPr lang="it-IT" sz="3600" dirty="0"/>
              <a:t>a t ≈ 320s (oltre la finestra di 300s mostrata nelle slide precedenti, simulazione estesa).</a:t>
            </a:r>
            <a:endParaRPr lang="it-IT" dirty="0"/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AFF9377-1E43-5E5A-367F-26E68ABFAA05}"/>
              </a:ext>
            </a:extLst>
          </p:cNvPr>
          <p:cNvSpPr txBox="1"/>
          <p:nvPr/>
        </p:nvSpPr>
        <p:spPr>
          <a:xfrm>
            <a:off x="14726589" y="5108866"/>
            <a:ext cx="8989722" cy="67505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600" b="1" dirty="0"/>
              <a:t>Analisi Temporale: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3600" b="1" dirty="0"/>
              <a:t>t ∈ [0, 320s):</a:t>
            </a:r>
            <a:r>
              <a:rPr lang="it-IT" sz="3600" dirty="0"/>
              <a:t> FD1 = 0 (condizione di hovering nominale, prima dell'iniezione)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3600" b="1" dirty="0"/>
              <a:t>t ≈ 320s:</a:t>
            </a:r>
            <a:r>
              <a:rPr lang="it-IT" sz="3600" dirty="0"/>
              <a:t> tre rampe simultanee sui tre assi → accumulo rapido del vettore residuo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3600" b="1" dirty="0"/>
              <a:t>t ∈ [320s, 350s]:</a:t>
            </a:r>
            <a:r>
              <a:rPr lang="it-IT" sz="3600" dirty="0"/>
              <a:t> latenza di ~30 secondi prima dell'attivazione di FD1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sz="3600" b="1" dirty="0"/>
              <a:t>t &gt; 350s:</a:t>
            </a:r>
            <a:r>
              <a:rPr lang="it-IT" sz="3600" dirty="0"/>
              <a:t> FD1 rimane attivo in modo persistente ad alta frequenza (oscillazioni </a:t>
            </a:r>
            <a:r>
              <a:rPr lang="it-IT" sz="3600" dirty="0" err="1"/>
              <a:t>stochastiche</a:t>
            </a:r>
            <a:r>
              <a:rPr lang="it-IT" sz="3600" dirty="0"/>
              <a:t> dovute all'amplificazione dei guasti multipli nel controllore)</a:t>
            </a:r>
            <a:endParaRPr lang="it-IT" dirty="0"/>
          </a:p>
          <a:p>
            <a:endParaRPr lang="it-IT" sz="3600" b="1" i="0" u="none" strike="noStrike" cap="none" spc="0" normalizeH="0" baseline="0" dirty="0">
              <a:ln>
                <a:noFill/>
              </a:ln>
              <a:effectLst/>
              <a:uFillTx/>
              <a:latin typeface="Graphik"/>
              <a:ea typeface="Graphik"/>
              <a:cs typeface="Graphik"/>
            </a:endParaRPr>
          </a:p>
        </p:txBody>
      </p:sp>
      <p:pic>
        <p:nvPicPr>
          <p:cNvPr id="4" name="Immagine 3" descr="Immagine che contiene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797342B4-A9C5-4EA1-0D9D-E7C95E460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89" y="5320315"/>
            <a:ext cx="13654373" cy="653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2029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1476</Words>
  <Application>Microsoft Office PowerPoint</Application>
  <PresentationFormat>Personalizzato</PresentationFormat>
  <Paragraphs>145</Paragraphs>
  <Slides>27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6" baseType="lpstr">
      <vt:lpstr>Arial</vt:lpstr>
      <vt:lpstr>Avenir Next Regular</vt:lpstr>
      <vt:lpstr>Consolas</vt:lpstr>
      <vt:lpstr>Graphik</vt:lpstr>
      <vt:lpstr>Graphik Medium</vt:lpstr>
      <vt:lpstr>Graphik Semibold</vt:lpstr>
      <vt:lpstr>Helvetica Neue</vt:lpstr>
      <vt:lpstr>Segoe UI</vt:lpstr>
      <vt:lpstr>31_ColorGradientLight</vt:lpstr>
      <vt:lpstr>Progettazione e Implementazione di un Modulo di Fault Detection per drone in Modalità HITL</vt:lpstr>
      <vt:lpstr>Riepilogo</vt:lpstr>
      <vt:lpstr>Struttura Faul Detection</vt:lpstr>
      <vt:lpstr>Progettazione modulo di Fault Detection (Model Based)</vt:lpstr>
      <vt:lpstr>Linearizzazione all’Hovering</vt:lpstr>
      <vt:lpstr>FD1 – Osservatore Luenberger Giroscopio</vt:lpstr>
      <vt:lpstr>FD2 – Equazioni di Parità Attuatori</vt:lpstr>
      <vt:lpstr>FD3 – Filtro Complementare GPS</vt:lpstr>
      <vt:lpstr>FD3 – Filtro Complementare GPS</vt:lpstr>
      <vt:lpstr>Architettura Simulink del Modulo FD</vt:lpstr>
      <vt:lpstr>Interno del blocco Fault Detection</vt:lpstr>
      <vt:lpstr>Presentazione standard di PowerPoint</vt:lpstr>
      <vt:lpstr>Presentazione standard di PowerPoint</vt:lpstr>
      <vt:lpstr>Presentazione standard di PowerPoint</vt:lpstr>
      <vt:lpstr>Comportamento FD1</vt:lpstr>
      <vt:lpstr>Confronto Fault-Free vs Fault: FD1 (Roll)</vt:lpstr>
      <vt:lpstr>Confronto Fault-Free vs Fault: FD1 (Pitch)</vt:lpstr>
      <vt:lpstr>Comportamento FD2</vt:lpstr>
      <vt:lpstr>Confronto Fault-Free vs Fault: FD2 (Motore f1)</vt:lpstr>
      <vt:lpstr>Comportamento FD3</vt:lpstr>
      <vt:lpstr>Confronto Fault-Free vs Fault: FD3 (Asse X)</vt:lpstr>
      <vt:lpstr>Architettura Blocco Evaluator</vt:lpstr>
      <vt:lpstr>Allarmi in condizioni Fault-Free</vt:lpstr>
      <vt:lpstr>Allarme su Guasto Motore (FD2 - Step su F1)</vt:lpstr>
      <vt:lpstr>Allarme su Guasto Giroscopico Roll (FD1 – Rampa)</vt:lpstr>
      <vt:lpstr>Allarme su Guasto GPS Asse X (FD3 – Rampa)</vt:lpstr>
      <vt:lpstr>Allarmi su Guasti Multipli (Roll + Pich + Yaw - Rampe)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Progettazione e Implementazione di un Modulo di Fault Detection per drone in Modalità HITL</dc:title>
  <dc:creator>Roberto Dimitri</dc:creator>
  <cp:lastModifiedBy>DIMITRI ROBERTO</cp:lastModifiedBy>
  <cp:revision>2</cp:revision>
  <dcterms:modified xsi:type="dcterms:W3CDTF">2026-05-26T11:16:33Z</dcterms:modified>
</cp:coreProperties>
</file>